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2.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16345a0-fd2d-ed05-79a3-568b0321f59b}">
          <p14:sldIdLst>
            <p14:sldId id="256"/>
            <p14:sldId id="257"/>
            <p14:sldId id="258"/>
          </p14:sldIdLst>
        </p14:section>
        <p14:section name="Roles &amp; structure" id="{25b0a5d5-41a9-eed3-83aa-158073307831}">
          <p14:sldIdLst>
            <p14:sldId id="259"/>
            <p14:sldId id="260"/>
            <p14:sldId id="261"/>
            <p14:sldId id="262"/>
          </p14:sldIdLst>
        </p14:section>
        <p14:section name="Module deep dives" id="{889ee228-c52e-4646-1feb-677695a70367}">
          <p14:sldIdLst>
            <p14:sldId id="263"/>
            <p14:sldId id="264"/>
            <p14:sldId id="265"/>
            <p14:sldId id="266"/>
            <p14:sldId id="267"/>
            <p14:sldId id="268"/>
            <p14:sldId id="269"/>
            <p14:sldId id="270"/>
            <p14:sldId id="271"/>
            <p14:sldId id="272"/>
            <p14:sldId id="273"/>
            <p14:sldId id="274"/>
            <p14:sldId id="275"/>
            <p14:sldId id="276"/>
            <p14:sldId id="277"/>
            <p14:sldId id="278"/>
            <p14:sldId id="279"/>
          </p14:sldIdLst>
        </p14:section>
        <p14:section name="Across the platform" id="{5f90e1e1-a3cc-e35c-7859-fbbefc05e208}">
          <p14:sldIdLst>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135"/>
                </a:solidFill>
                <a:latin typeface="+mn-lt"/>
              </a:defRPr>
            </a:pPr>
            <a:r>
              <a:rPr sz="1300" b="0" i="0" u="none" strike="noStrike">
                <a:solidFill>
                  <a:srgbClr val="0B2135"/>
                </a:solidFill>
                <a:latin typeface="+mn-lt"/>
              </a:rPr>
              <a:t>Where the demo money went (₹)</a:t>
            </a:r>
          </a:p>
        </c:rich>
      </c:tx>
      <c:layout/>
      <c:overlay val="0"/>
    </c:title>
    <c:autoTitleDeleted val="0"/>
    <c:plotArea>
      <c:layout/>
      <c:barChart>
        <c:barDir val="bar"/>
        <c:grouping val="clustered"/>
        <c:varyColors val="0"/>
        <c:ser>
          <c:idx val="0"/>
          <c:order val="0"/>
          <c:tx>
            <c:strRef>
              <c:f>Sheet1!$B$1</c:f>
              <c:strCache>
                <c:ptCount val="1"/>
                <c:pt idx="0">
                  <c:v>Expenses (₹)</c:v>
                </c:pt>
              </c:strCache>
            </c:strRef>
          </c:tx>
          <c:spPr>
            <a:solidFill>
              <a:srgbClr val="13A89E"/>
            </a:solidFill>
            <a:effectLst/>
          </c:spPr>
          <c:invertIfNegative val="0"/>
          <c:dLbls>
            <c:numFmt formatCode="#,##0" sourceLinked="0"/>
            <c:txPr>
              <a:bodyPr/>
              <a:lstStyle/>
              <a:p>
                <a:pPr>
                  <a:defRPr b="0" i="0" strike="noStrike" sz="1100" u="none">
                    <a:solidFill>
                      <a:srgbClr val="0B2135"/>
                    </a:solidFill>
                    <a:latin typeface="+mn-lt"/>
                  </a:defRPr>
                </a:pPr>
              </a:p>
            </c:txPr>
            <c:showLegendKey val="0"/>
            <c:showVal val="1"/>
            <c:showCatName val="0"/>
            <c:showSerName val="0"/>
            <c:showPercent val="0"/>
            <c:showBubbleSize val="0"/>
            <c:showLeaderLines val="0"/>
          </c:dLbls>
          <c:cat>
            <c:multiLvlStrRef>
              <c:f>Sheet1!$A$2:$A$4</c:f>
              <c:multiLvlStrCache>
                <c:ptCount val="3"/>
                <c:lvl>
                  <c:pt idx="0">
                    <c:v>Staff Diwali bonus</c:v>
                  </c:pt>
                  <c:pt idx="1">
                    <c:v>Gardening services</c:v>
                  </c:pt>
                  <c:pt idx="2">
                    <c:v>Gate repair</c:v>
                  </c:pt>
                </c:lvl>
              </c:multiLvlStrCache>
            </c:multiLvlStrRef>
          </c:cat>
          <c:val>
            <c:numRef>
              <c:f>Sheet1!$B$2:$B$4</c:f>
              <c:numCache>
                <c:formatCode>General</c:formatCode>
                <c:ptCount val="3"/>
                <c:pt idx="0">
                  <c:v>25000</c:v>
                </c:pt>
                <c:pt idx="1">
                  <c:v>15000</c:v>
                </c:pt>
                <c:pt idx="2">
                  <c:v>4500</c:v>
                </c:pt>
              </c:numCache>
            </c:numRef>
          </c:val>
        </c:ser>
        <c:dLbls>
          <c:numFmt formatCode="#,##0" sourceLinked="0"/>
          <c:txPr>
            <a:bodyPr/>
            <a:lstStyle/>
            <a:p>
              <a:pPr>
                <a:defRPr b="0" i="0" strike="noStrike" sz="1100" u="none">
                  <a:solidFill>
                    <a:srgbClr val="0B2135"/>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B213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135"/>
                </a:solidFill>
                <a:latin typeface="+mn-lt"/>
              </a:defRPr>
            </a:pPr>
            <a:r>
              <a:rPr sz="1300" b="0" i="0" u="none" strike="noStrike">
                <a:solidFill>
                  <a:srgbClr val="0B2135"/>
                </a:solidFill>
                <a:latin typeface="+mn-lt"/>
              </a:rPr>
              <a:t>Sample layout in the prototype</a:t>
            </a:r>
          </a:p>
        </c:rich>
      </c:tx>
      <c:layout/>
      <c:overlay val="0"/>
    </c:title>
    <c:autoTitleDeleted val="0"/>
    <c:plotArea>
      <c:layout/>
      <c:barChart>
        <c:barDir val="col"/>
        <c:grouping val="clustered"/>
        <c:varyColors val="0"/>
        <c:ser>
          <c:idx val="0"/>
          <c:order val="0"/>
          <c:tx>
            <c:strRef>
              <c:f>Sheet1!$B$1</c:f>
              <c:strCache>
                <c:ptCount val="1"/>
                <c:pt idx="0">
                  <c:v>Houses</c:v>
                </c:pt>
              </c:strCache>
            </c:strRef>
          </c:tx>
          <c:spPr>
            <a:solidFill>
              <a:srgbClr val="16384F"/>
            </a:solidFill>
            <a:effectLst/>
          </c:spPr>
          <c:invertIfNegative val="0"/>
          <c:dLbls>
            <c:numFmt formatCode="#,##0" sourceLinked="0"/>
            <c:txPr>
              <a:bodyPr/>
              <a:lstStyle/>
              <a:p>
                <a:pPr>
                  <a:defRPr b="0" i="0" strike="noStrike" sz="1000" u="none">
                    <a:solidFill>
                      <a:srgbClr val="0B2135"/>
                    </a:solidFill>
                    <a:latin typeface="+mn-lt"/>
                  </a:defRPr>
                </a:pPr>
              </a:p>
            </c:txPr>
            <c:showLegendKey val="0"/>
            <c:showVal val="1"/>
            <c:showCatName val="0"/>
            <c:showSerName val="0"/>
            <c:showPercent val="0"/>
            <c:showBubbleSize val="0"/>
            <c:showLeaderLines val="0"/>
          </c:dLbls>
          <c:cat>
            <c:multiLvlStrRef>
              <c:f>Sheet1!$A$2:$A$7</c:f>
              <c:multiLvlStrCache>
                <c:ptCount val="6"/>
                <c:lvl>
                  <c:pt idx="0">
                    <c:v>Phase 1</c:v>
                  </c:pt>
                  <c:pt idx="1">
                    <c:v>Phase 2</c:v>
                  </c:pt>
                  <c:pt idx="2">
                    <c:v>Phase 3</c:v>
                  </c:pt>
                  <c:pt idx="3">
                    <c:v>Phase 4</c:v>
                  </c:pt>
                  <c:pt idx="4">
                    <c:v>Phase 5</c:v>
                  </c:pt>
                  <c:pt idx="5">
                    <c:v>Phase 6</c:v>
                  </c:pt>
                </c:lvl>
              </c:multiLvlStrCache>
            </c:multiLvlStrRef>
          </c:cat>
          <c:val>
            <c:numRef>
              <c:f>Sheet1!$B$2:$B$7</c:f>
              <c:numCache>
                <c:formatCode>General</c:formatCode>
                <c:ptCount val="6"/>
                <c:pt idx="0">
                  <c:v>120</c:v>
                </c:pt>
                <c:pt idx="1">
                  <c:v>85</c:v>
                </c:pt>
                <c:pt idx="2">
                  <c:v>200</c:v>
                </c:pt>
                <c:pt idx="3">
                  <c:v>150</c:v>
                </c:pt>
                <c:pt idx="4">
                  <c:v>110</c:v>
                </c:pt>
                <c:pt idx="5">
                  <c:v>90</c:v>
                </c:pt>
              </c:numCache>
            </c:numRef>
          </c:val>
        </c:ser>
        <c:ser>
          <c:idx val="1"/>
          <c:order val="1"/>
          <c:tx>
            <c:strRef>
              <c:f>Sheet1!$C$1</c:f>
              <c:strCache>
                <c:ptCount val="1"/>
                <c:pt idx="0">
                  <c:v>Residents</c:v>
                </c:pt>
              </c:strCache>
            </c:strRef>
          </c:tx>
          <c:spPr>
            <a:solidFill>
              <a:srgbClr val="13A89E"/>
            </a:solidFill>
            <a:effectLst/>
          </c:spPr>
          <c:invertIfNegative val="0"/>
          <c:dLbls>
            <c:numFmt formatCode="#,##0" sourceLinked="0"/>
            <c:txPr>
              <a:bodyPr/>
              <a:lstStyle/>
              <a:p>
                <a:pPr>
                  <a:defRPr b="0" i="0" strike="noStrike" sz="1000" u="none">
                    <a:solidFill>
                      <a:srgbClr val="0B2135"/>
                    </a:solidFill>
                    <a:latin typeface="+mn-lt"/>
                  </a:defRPr>
                </a:pPr>
              </a:p>
            </c:txPr>
            <c:showLegendKey val="0"/>
            <c:showVal val="1"/>
            <c:showCatName val="0"/>
            <c:showSerName val="0"/>
            <c:showPercent val="0"/>
            <c:showBubbleSize val="0"/>
            <c:showLeaderLines val="0"/>
          </c:dLbls>
          <c:cat>
            <c:multiLvlStrRef>
              <c:f>Sheet1!$A$2:$A$7</c:f>
              <c:multiLvlStrCache>
                <c:ptCount val="6"/>
                <c:lvl>
                  <c:pt idx="0">
                    <c:v>Phase 1</c:v>
                  </c:pt>
                  <c:pt idx="1">
                    <c:v>Phase 2</c:v>
                  </c:pt>
                  <c:pt idx="2">
                    <c:v>Phase 3</c:v>
                  </c:pt>
                  <c:pt idx="3">
                    <c:v>Phase 4</c:v>
                  </c:pt>
                  <c:pt idx="4">
                    <c:v>Phase 5</c:v>
                  </c:pt>
                  <c:pt idx="5">
                    <c:v>Phase 6</c:v>
                  </c:pt>
                </c:lvl>
              </c:multiLvlStrCache>
            </c:multiLvlStrRef>
          </c:cat>
          <c:val>
            <c:numRef>
              <c:f>Sheet1!$C$2:$C$7</c:f>
              <c:numCache>
                <c:formatCode>General</c:formatCode>
                <c:ptCount val="6"/>
                <c:pt idx="0">
                  <c:v>340</c:v>
                </c:pt>
                <c:pt idx="1">
                  <c:v>210</c:v>
                </c:pt>
                <c:pt idx="2">
                  <c:v>600</c:v>
                </c:pt>
                <c:pt idx="3">
                  <c:v>450</c:v>
                </c:pt>
                <c:pt idx="4">
                  <c:v>320</c:v>
                </c:pt>
                <c:pt idx="5">
                  <c:v>250</c:v>
                </c:pt>
              </c:numCache>
            </c:numRef>
          </c:val>
        </c:ser>
        <c:dLbls>
          <c:numFmt formatCode="#,##0" sourceLinked="0"/>
          <c:txPr>
            <a:bodyPr/>
            <a:lstStyle/>
            <a:p>
              <a:pPr>
                <a:defRPr b="0" i="0" strike="noStrike" sz="1000" u="none">
                  <a:solidFill>
                    <a:srgbClr val="0B2135"/>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B2135"/>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0B213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every module of the SecureComm prototype in detail: what it is for, who uses it, what it records and how records move from one status to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everyday questions residents ask that today have no clear answer. The root cause is the same: information is held by a few people and shared informally.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ideas drive the product: make information visible, make every action accountable, and let residents take part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four roles. In the prototype a 'Demo' switcher in the header lets you change role live, so you can show how the sidebar and permissions change for each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comes straight from the role list on each sidebar item. A tick means the module appears in that role's menu. Inside a module, residents still get view-only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agenda for the deep dive. The groups follow how a community actually runs: keep it safe, control the gate, account for money, keep people informed, and administer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module page follows the same six-part pattern, which makes the app easy to learn for non-technical residents and volunteers.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Savings is calculated as total paid collections minus total paid expenses. When an admin or volunteer picks a phase, every tile recalculates for that phase only. Residents and guards always see the whole community.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Residents can press Report Issue, but only admins, volunteers and guards can change the status or delete an issue. Search works on category and description; filters work on status and priority.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Admins and volunteers add cameras and switch status from a dropdown in each row. Residents see the same list and counts, without the action column. Demo data: 40 cameras, 35 working, 5 faulty.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assets start as Working. Admins and volunteers flip status to Faulty when a complaint comes in and back to Working after repair. The dashboard's Street Lights tile links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Guards log a round as soon as they finish it. Missed rounds are shown in red, which makes gaps in coverage obvious during committee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Gates in the prototype: Main gate, 4th phase entry gate, 3rd phase entry gate, and two sector gates. The guard presses Mark Exit when the visitor leaves, which records the exit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Pre-approval removes waiting at the gate for expected guests, while still leaving a complete record. The visitor log can be searched by name or house and filtered by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directory shows owner, house, plate and type, with a count of registered vehicles for the selected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Payment history can be searched by house or name and filtered by Paid or Unpaid. Residents can see the list, which is what makes collections transparent.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expense register can be searched by title or vendor. Paid expenses feed the dashboard's Total Expenses tile and the savings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amounts are prototype demo data. Only records marked Paid count towards collections and expenses; pending items are shown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admins and volunteers see the New Broadcast button. Guards and residents read the noticeboard and can search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data has Ravi Verma as President for Phase 1 and Sneha Rao as Secretary for Phase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Admins and volunteers add or remove providers; everyone else sees the directory. Settings can auto-approve known service providers at the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Reports turn the day-to-day records into documents the committee can share. Download buttons currently show a demo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shift field only appears when the role is Guard. A confirmation message appears when a user is added or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Settings are a demo in the prototype (saving shows a confirmation). They show how gate rules would be controlled centrally.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phase data from the prototype. Phase-level filtering lets each phase's volunteers focus on their own area while the Super Admin sees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prototype the activity panel uses the demo data for everyone; with real logins it would filter to the signed-in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scenario shows how the modules connect: a single street-light complaint moves through Security Issues, Street Lights and Expenses, and ends up visible to everyone on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core message and offer a live demo using the role switcher.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SecureComm  ·  Community transparency platform</a:t>
            </a:r>
            <a:endParaRPr lang="en-US" sz="1000" dirty="0"/>
          </a:p>
        </p:txBody>
      </p:sp>
      <p:sp>
        <p:nvSpPr>
          <p:cNvPr id="3" name="Text 1"/>
          <p:cNvSpPr/>
          <p:nvPr>
            <p:ph idx="101" type="title" hasCustomPrompt="1"/>
          </p:nvPr>
        </p:nvSpPr>
        <p:spPr>
          <a:xfrm>
            <a:off x="548640" y="457200"/>
            <a:ext cx="11064240" cy="685800"/>
          </a:xfrm>
          <a:prstGeom prst="rect">
            <a:avLst/>
          </a:prstGeom>
          <a:noFill/>
          <a:ln/>
        </p:spPr>
        <p:txBody>
          <a:bodyPr wrap="square" rtlCol="0"/>
          <a:lstStyle>
            <a:lvl1pPr algn="l" indent="0" marL="0">
              <a:buNone/>
              <a:defRPr lang="en-US" sz="3000" b="1" dirty="0">
                <a:solidFill>
                  <a:schemeClr val="tx1"/>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2135"/>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8FA8B8"/>
                </a:solidFill>
              </a:rPr>
              <a:t>SecureComm  ·  Community transparency platform</a:t>
            </a:r>
            <a:endParaRPr lang="en-US" sz="1000" dirty="0"/>
          </a:p>
        </p:txBody>
      </p:sp>
      <p:sp>
        <p:nvSpPr>
          <p:cNvPr id="3" name="Text 1"/>
          <p:cNvSpPr/>
          <p:nvPr>
            <p:ph idx="101" type="title" hasCustomPrompt="1"/>
          </p:nvPr>
        </p:nvSpPr>
        <p:spPr>
          <a:xfrm>
            <a:off x="548640" y="457200"/>
            <a:ext cx="11064240" cy="685800"/>
          </a:xfrm>
          <a:prstGeom prst="rect">
            <a:avLst/>
          </a:prstGeom>
          <a:noFill/>
          <a:ln/>
        </p:spPr>
        <p:txBody>
          <a:bodyPr wrap="square" rtlCol="0"/>
          <a:lstStyle>
            <a:lvl1pPr algn="l" indent="0" marL="0">
              <a:buNone/>
              <a:defRPr lang="en-US" sz="3000" b="1" dirty="0">
                <a:solidFill>
                  <a:schemeClr val="bg1"/>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8B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0B2135"/>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2.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slideLayout" Target="../slideLayouts/slideLayout2.xml"/><Relationship Id="rId1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8-1.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2.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2.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2.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2.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2.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2.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3.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hero-panel"/>
          <p:cNvSpPr/>
          <p:nvPr/>
        </p:nvSpPr>
        <p:spPr>
          <a:xfrm>
            <a:off x="6400800" y="0"/>
            <a:ext cx="5790895" cy="6858000"/>
          </a:xfrm>
          <a:prstGeom prst="rect">
            <a:avLst/>
          </a:prstGeom>
          <a:solidFill>
            <a:srgbClr val="E6F4F2"/>
          </a:solidFill>
          <a:ln w="12700">
            <a:solidFill>
              <a:srgbClr val="E6F4F2"/>
            </a:solidFill>
            <a:prstDash val="solid"/>
          </a:ln>
        </p:spPr>
      </p:sp>
      <p:pic>
        <p:nvPicPr>
          <p:cNvPr id="3" name="hero" descr="img/hero.png">    </p:cNvPr>
          <p:cNvPicPr>
            <a:picLocks noChangeAspect="1"/>
          </p:cNvPicPr>
          <p:nvPr/>
        </p:nvPicPr>
        <p:blipFill>
          <a:blip r:embed="rId1"/>
          <a:stretch>
            <a:fillRect/>
          </a:stretch>
        </p:blipFill>
        <p:spPr>
          <a:xfrm>
            <a:off x="6583680" y="1691640"/>
            <a:ext cx="5440680" cy="4760595"/>
          </a:xfrm>
          <a:prstGeom prst="rect">
            <a:avLst/>
          </a:prstGeom>
        </p:spPr>
      </p:pic>
      <p:sp>
        <p:nvSpPr>
          <p:cNvPr id="4" name="icon-bg"/>
          <p:cNvSpPr/>
          <p:nvPr/>
        </p:nvSpPr>
        <p:spPr>
          <a:xfrm>
            <a:off x="640080" y="685800"/>
            <a:ext cx="548640" cy="548640"/>
          </a:xfrm>
          <a:prstGeom prst="ellipse">
            <a:avLst/>
          </a:prstGeom>
          <a:solidFill>
            <a:srgbClr val="13A89E"/>
          </a:solidFill>
          <a:ln w="12700">
            <a:solidFill>
              <a:srgbClr val="13A89E"/>
            </a:solidFill>
            <a:prstDash val="solid"/>
          </a:ln>
        </p:spPr>
      </p:sp>
      <p:pic>
        <p:nvPicPr>
          <p:cNvPr id="5" name="icon" descr="preencoded.png">    </p:cNvPr>
          <p:cNvPicPr>
            <a:picLocks noChangeAspect="1"/>
          </p:cNvPicPr>
          <p:nvPr/>
        </p:nvPicPr>
        <p:blipFill>
          <a:blip r:embed="rId2"/>
          <a:stretch>
            <a:fillRect/>
          </a:stretch>
        </p:blipFill>
        <p:spPr>
          <a:xfrm>
            <a:off x="771754" y="817474"/>
            <a:ext cx="285293" cy="285293"/>
          </a:xfrm>
          <a:prstGeom prst="rect">
            <a:avLst/>
          </a:prstGeom>
        </p:spPr>
      </p:pic>
      <p:sp>
        <p:nvSpPr>
          <p:cNvPr id="6" name="Text 2"/>
          <p:cNvSpPr txBox="1"/>
          <p:nvPr/>
        </p:nvSpPr>
        <p:spPr>
          <a:xfrm>
            <a:off x="1325880" y="749808"/>
            <a:ext cx="36576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SecureComm</a:t>
            </a:r>
            <a:endParaRPr lang="en-US" sz="2000" dirty="0"/>
          </a:p>
        </p:txBody>
      </p:sp>
      <p:sp>
        <p:nvSpPr>
          <p:cNvPr id="7" name="Text 3"/>
          <p:cNvSpPr txBox="1"/>
          <p:nvPr/>
        </p:nvSpPr>
        <p:spPr>
          <a:xfrm>
            <a:off x="640080" y="1828800"/>
            <a:ext cx="5486400" cy="2103120"/>
          </a:xfrm>
          <a:prstGeom prst="rect">
            <a:avLst/>
          </a:prstGeom>
          <a:noFill/>
          <a:ln/>
        </p:spPr>
        <p:txBody>
          <a:bodyPr wrap="square" lIns="0" tIns="0" rIns="0" bIns="0" rtlCol="0" anchor="b"/>
          <a:lstStyle/>
          <a:p>
            <a:pPr indent="0" marL="0">
              <a:buNone/>
            </a:pPr>
            <a:r>
              <a:rPr lang="en-US" sz="3800" b="1" dirty="0">
                <a:solidFill>
                  <a:srgbClr val="FFFFFF"/>
                </a:solidFill>
                <a:latin typeface="Arial" pitchFamily="34" charset="0"/>
                <a:ea typeface="Arial" pitchFamily="34" charset="-122"/>
                <a:cs typeface="Arial" pitchFamily="34" charset="-120"/>
              </a:rPr>
              <a:t>One transparent window into your residential community</a:t>
            </a:r>
            <a:endParaRPr lang="en-US" sz="3800" dirty="0"/>
          </a:p>
        </p:txBody>
      </p:sp>
      <p:sp>
        <p:nvSpPr>
          <p:cNvPr id="8" name="Text 4"/>
          <p:cNvSpPr txBox="1"/>
          <p:nvPr/>
        </p:nvSpPr>
        <p:spPr>
          <a:xfrm>
            <a:off x="640080" y="4114800"/>
            <a:ext cx="5303520" cy="1097280"/>
          </a:xfrm>
          <a:prstGeom prst="rect">
            <a:avLst/>
          </a:prstGeom>
          <a:noFill/>
          <a:ln/>
        </p:spPr>
        <p:txBody>
          <a:bodyPr wrap="square" lIns="0" tIns="0" rIns="0" bIns="0" rtlCol="0" anchor="t"/>
          <a:lstStyle/>
          <a:p>
            <a:pPr indent="0" marL="0">
              <a:buNone/>
            </a:pPr>
            <a:r>
              <a:rPr lang="en-US" sz="1600" dirty="0">
                <a:solidFill>
                  <a:srgbClr val="C5D6DF"/>
                </a:solidFill>
                <a:latin typeface="Calibri" pitchFamily="34" charset="0"/>
                <a:ea typeface="Calibri" pitchFamily="34" charset="-122"/>
                <a:cs typeface="Calibri" pitchFamily="34" charset="-120"/>
              </a:rPr>
              <a:t>A detailed, module-by-module walkthrough of how residents, volunteers, security guards and the super admin share one source of truth.</a:t>
            </a:r>
            <a:endParaRPr lang="en-US" sz="1600" dirty="0"/>
          </a:p>
        </p:txBody>
      </p:sp>
      <p:sp>
        <p:nvSpPr>
          <p:cNvPr id="9" name="Text 5"/>
          <p:cNvSpPr txBox="1"/>
          <p:nvPr/>
        </p:nvSpPr>
        <p:spPr>
          <a:xfrm>
            <a:off x="640080" y="6035040"/>
            <a:ext cx="5486400" cy="320040"/>
          </a:xfrm>
          <a:prstGeom prst="rect">
            <a:avLst/>
          </a:prstGeom>
          <a:noFill/>
          <a:ln/>
        </p:spPr>
        <p:txBody>
          <a:bodyPr wrap="square" lIns="0" tIns="0" rIns="0" bIns="0" rtlCol="0" anchor="t"/>
          <a:lstStyle/>
          <a:p>
            <a:pPr indent="0" marL="0">
              <a:buNone/>
            </a:pPr>
            <a:r>
              <a:rPr lang="en-US" sz="1200" b="1" dirty="0">
                <a:solidFill>
                  <a:srgbClr val="F4B942"/>
                </a:solidFill>
                <a:latin typeface="Calibri" pitchFamily="34" charset="0"/>
                <a:ea typeface="Calibri" pitchFamily="34" charset="-122"/>
                <a:cs typeface="Calibri" pitchFamily="34" charset="-120"/>
              </a:rPr>
              <a:t>Prototype walkthrough  ·  Sudeep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t"/>
          <a:lstStyle/>
          <a:p>
            <a:pPr indent="0" marL="0">
              <a:buNone/>
            </a:pPr>
            <a:r>
              <a:rPr lang="en-US" sz="1100" b="1" spc="300" kern="0" dirty="0">
                <a:solidFill>
                  <a:srgbClr val="0E7C76"/>
                </a:solidFill>
                <a:latin typeface="Calibri" pitchFamily="34" charset="0"/>
                <a:ea typeface="Calibri" pitchFamily="34" charset="-122"/>
                <a:cs typeface="Calibri" pitchFamily="34" charset="-120"/>
              </a:rPr>
              <a:t>THE PROBLEM</a:t>
            </a:r>
            <a:endParaRPr lang="en-US" sz="1100" dirty="0"/>
          </a:p>
        </p:txBody>
      </p:sp>
      <p:sp>
        <p:nvSpPr>
          <p:cNvPr id="3" name="Text 1"/>
          <p:cNvSpPr/>
          <p:nvPr>
            <p:ph idx="101" type="title" hasCustomPrompt="1"/>
          </p:nvPr>
        </p:nvSpPr>
        <p:spPr>
          <a:xfrm>
            <a:off x="548640" y="457200"/>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Residents are often the last to know</a:t>
            </a:r>
            <a:endParaRPr lang="en-US" sz="3000" dirty="0"/>
          </a:p>
        </p:txBody>
      </p:sp>
      <p:sp>
        <p:nvSpPr>
          <p:cNvPr id="4" name="card"/>
          <p:cNvSpPr/>
          <p:nvPr/>
        </p:nvSpPr>
        <p:spPr>
          <a:xfrm>
            <a:off x="548640" y="1463040"/>
            <a:ext cx="3520440" cy="2103120"/>
          </a:xfrm>
          <a:prstGeom prst="roundRect">
            <a:avLst>
              <a:gd name="adj" fmla="val 5217"/>
            </a:avLst>
          </a:prstGeom>
          <a:solidFill>
            <a:srgbClr val="FFFFFF"/>
          </a:solidFill>
          <a:ln w="9525">
            <a:solidFill>
              <a:srgbClr val="D5E3E3"/>
            </a:solidFill>
            <a:prstDash val="solid"/>
          </a:ln>
          <a:effectLst>
            <a:outerShdw sx="100000" sy="100000" kx="0" ky="0" algn="bl" rotWithShape="0" blurRad="152400" dist="38100" dir="5400000">
              <a:srgbClr val="0B2135">
                <a:alpha val="16000"/>
              </a:srgbClr>
            </a:outerShdw>
          </a:effectLst>
        </p:spPr>
      </p:sp>
      <p:sp>
        <p:nvSpPr>
          <p:cNvPr id="5" name="icon-bg"/>
          <p:cNvSpPr/>
          <p:nvPr/>
        </p:nvSpPr>
        <p:spPr>
          <a:xfrm>
            <a:off x="822960" y="1737360"/>
            <a:ext cx="594360" cy="594360"/>
          </a:xfrm>
          <a:prstGeom prst="ellipse">
            <a:avLst/>
          </a:prstGeom>
          <a:solidFill>
            <a:srgbClr val="FDECEC"/>
          </a:solidFill>
          <a:ln w="12700">
            <a:solidFill>
              <a:srgbClr val="FDECEC"/>
            </a:solidFill>
            <a:prstDash val="solid"/>
          </a:ln>
        </p:spPr>
      </p:sp>
      <p:pic>
        <p:nvPicPr>
          <p:cNvPr id="6" name="icon" descr="preencoded.png">    </p:cNvPr>
          <p:cNvPicPr>
            <a:picLocks noChangeAspect="1"/>
          </p:cNvPicPr>
          <p:nvPr/>
        </p:nvPicPr>
        <p:blipFill>
          <a:blip r:embed="rId1"/>
          <a:stretch>
            <a:fillRect/>
          </a:stretch>
        </p:blipFill>
        <p:spPr>
          <a:xfrm>
            <a:off x="965606" y="1880006"/>
            <a:ext cx="309067" cy="309067"/>
          </a:xfrm>
          <a:prstGeom prst="rect">
            <a:avLst/>
          </a:prstGeom>
        </p:spPr>
      </p:pic>
      <p:sp>
        <p:nvSpPr>
          <p:cNvPr id="7" name="Text 4"/>
          <p:cNvSpPr txBox="1"/>
          <p:nvPr/>
        </p:nvSpPr>
        <p:spPr>
          <a:xfrm>
            <a:off x="822960" y="2468880"/>
            <a:ext cx="3017520" cy="45720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Where does my maintenance money go?</a:t>
            </a:r>
            <a:endParaRPr lang="en-US" sz="1600" dirty="0"/>
          </a:p>
        </p:txBody>
      </p:sp>
      <p:sp>
        <p:nvSpPr>
          <p:cNvPr id="8" name="Text 5"/>
          <p:cNvSpPr txBox="1"/>
          <p:nvPr/>
        </p:nvSpPr>
        <p:spPr>
          <a:xfrm>
            <a:off x="822960" y="2944368"/>
            <a:ext cx="3017520" cy="548640"/>
          </a:xfrm>
          <a:prstGeom prst="rect">
            <a:avLst/>
          </a:prstGeom>
          <a:noFill/>
          <a:ln/>
        </p:spPr>
        <p:txBody>
          <a:bodyPr wrap="square" lIns="0" tIns="0" rIns="0" bIns="0" rtlCol="0" anchor="t"/>
          <a:lstStyle/>
          <a:p>
            <a:pPr indent="0" marL="0">
              <a:buNone/>
            </a:pPr>
            <a:r>
              <a:rPr lang="en-US" sz="1300" dirty="0">
                <a:solidFill>
                  <a:srgbClr val="5B6B78"/>
                </a:solidFill>
                <a:latin typeface="Calibri" pitchFamily="34" charset="0"/>
                <a:ea typeface="Calibri" pitchFamily="34" charset="-122"/>
                <a:cs typeface="Calibri" pitchFamily="34" charset="-120"/>
              </a:rPr>
              <a:t>Collections and expenses are shared once a year, if at all.</a:t>
            </a:r>
            <a:endParaRPr lang="en-US" sz="1300" dirty="0"/>
          </a:p>
        </p:txBody>
      </p:sp>
      <p:sp>
        <p:nvSpPr>
          <p:cNvPr id="9" name="card"/>
          <p:cNvSpPr/>
          <p:nvPr/>
        </p:nvSpPr>
        <p:spPr>
          <a:xfrm>
            <a:off x="4343400" y="1463040"/>
            <a:ext cx="3520440" cy="2103120"/>
          </a:xfrm>
          <a:prstGeom prst="roundRect">
            <a:avLst>
              <a:gd name="adj" fmla="val 5217"/>
            </a:avLst>
          </a:prstGeom>
          <a:solidFill>
            <a:srgbClr val="FFFFFF"/>
          </a:solidFill>
          <a:ln w="9525">
            <a:solidFill>
              <a:srgbClr val="D5E3E3"/>
            </a:solidFill>
            <a:prstDash val="solid"/>
          </a:ln>
          <a:effectLst>
            <a:outerShdw sx="100000" sy="100000" kx="0" ky="0" algn="bl" rotWithShape="0" blurRad="152400" dist="38100" dir="5400000">
              <a:srgbClr val="0B2135">
                <a:alpha val="16000"/>
              </a:srgbClr>
            </a:outerShdw>
          </a:effectLst>
        </p:spPr>
      </p:sp>
      <p:sp>
        <p:nvSpPr>
          <p:cNvPr id="10" name="icon-bg"/>
          <p:cNvSpPr/>
          <p:nvPr/>
        </p:nvSpPr>
        <p:spPr>
          <a:xfrm>
            <a:off x="4617720" y="1737360"/>
            <a:ext cx="594360" cy="594360"/>
          </a:xfrm>
          <a:prstGeom prst="ellipse">
            <a:avLst/>
          </a:prstGeom>
          <a:solidFill>
            <a:srgbClr val="FDECEC"/>
          </a:solidFill>
          <a:ln w="12700">
            <a:solidFill>
              <a:srgbClr val="FDECEC"/>
            </a:solidFill>
            <a:prstDash val="solid"/>
          </a:ln>
        </p:spPr>
      </p:sp>
      <p:pic>
        <p:nvPicPr>
          <p:cNvPr id="11" name="icon" descr="preencoded.png">    </p:cNvPr>
          <p:cNvPicPr>
            <a:picLocks noChangeAspect="1"/>
          </p:cNvPicPr>
          <p:nvPr/>
        </p:nvPicPr>
        <p:blipFill>
          <a:blip r:embed="rId2"/>
          <a:stretch>
            <a:fillRect/>
          </a:stretch>
        </p:blipFill>
        <p:spPr>
          <a:xfrm>
            <a:off x="4760366" y="1880006"/>
            <a:ext cx="309067" cy="309067"/>
          </a:xfrm>
          <a:prstGeom prst="rect">
            <a:avLst/>
          </a:prstGeom>
        </p:spPr>
      </p:pic>
      <p:sp>
        <p:nvSpPr>
          <p:cNvPr id="12" name="Text 8"/>
          <p:cNvSpPr txBox="1"/>
          <p:nvPr/>
        </p:nvSpPr>
        <p:spPr>
          <a:xfrm>
            <a:off x="4617720" y="2468880"/>
            <a:ext cx="3017520" cy="45720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Did anyone act on my complaint?</a:t>
            </a:r>
            <a:endParaRPr lang="en-US" sz="1600" dirty="0"/>
          </a:p>
        </p:txBody>
      </p:sp>
      <p:sp>
        <p:nvSpPr>
          <p:cNvPr id="13" name="Text 9"/>
          <p:cNvSpPr txBox="1"/>
          <p:nvPr/>
        </p:nvSpPr>
        <p:spPr>
          <a:xfrm>
            <a:off x="4617720" y="2944368"/>
            <a:ext cx="3017520" cy="548640"/>
          </a:xfrm>
          <a:prstGeom prst="rect">
            <a:avLst/>
          </a:prstGeom>
          <a:noFill/>
          <a:ln/>
        </p:spPr>
        <p:txBody>
          <a:bodyPr wrap="square" lIns="0" tIns="0" rIns="0" bIns="0" rtlCol="0" anchor="t"/>
          <a:lstStyle/>
          <a:p>
            <a:pPr indent="0" marL="0">
              <a:buNone/>
            </a:pPr>
            <a:r>
              <a:rPr lang="en-US" sz="1300" dirty="0">
                <a:solidFill>
                  <a:srgbClr val="5B6B78"/>
                </a:solidFill>
                <a:latin typeface="Calibri" pitchFamily="34" charset="0"/>
                <a:ea typeface="Calibri" pitchFamily="34" charset="-122"/>
                <a:cs typeface="Calibri" pitchFamily="34" charset="-120"/>
              </a:rPr>
              <a:t>Issues get lost in WhatsApp groups with no owner or status.</a:t>
            </a:r>
            <a:endParaRPr lang="en-US" sz="1300" dirty="0"/>
          </a:p>
        </p:txBody>
      </p:sp>
      <p:sp>
        <p:nvSpPr>
          <p:cNvPr id="14" name="card"/>
          <p:cNvSpPr/>
          <p:nvPr/>
        </p:nvSpPr>
        <p:spPr>
          <a:xfrm>
            <a:off x="548640" y="3840480"/>
            <a:ext cx="3520440" cy="2103120"/>
          </a:xfrm>
          <a:prstGeom prst="roundRect">
            <a:avLst>
              <a:gd name="adj" fmla="val 5217"/>
            </a:avLst>
          </a:prstGeom>
          <a:solidFill>
            <a:srgbClr val="FFFFFF"/>
          </a:solidFill>
          <a:ln w="9525">
            <a:solidFill>
              <a:srgbClr val="D5E3E3"/>
            </a:solidFill>
            <a:prstDash val="solid"/>
          </a:ln>
          <a:effectLst>
            <a:outerShdw sx="100000" sy="100000" kx="0" ky="0" algn="bl" rotWithShape="0" blurRad="152400" dist="38100" dir="5400000">
              <a:srgbClr val="0B2135">
                <a:alpha val="16000"/>
              </a:srgbClr>
            </a:outerShdw>
          </a:effectLst>
        </p:spPr>
      </p:sp>
      <p:sp>
        <p:nvSpPr>
          <p:cNvPr id="15" name="icon-bg"/>
          <p:cNvSpPr/>
          <p:nvPr/>
        </p:nvSpPr>
        <p:spPr>
          <a:xfrm>
            <a:off x="822960" y="4114800"/>
            <a:ext cx="594360" cy="594360"/>
          </a:xfrm>
          <a:prstGeom prst="ellipse">
            <a:avLst/>
          </a:prstGeom>
          <a:solidFill>
            <a:srgbClr val="FDECEC"/>
          </a:solidFill>
          <a:ln w="12700">
            <a:solidFill>
              <a:srgbClr val="FDECEC"/>
            </a:solidFill>
            <a:prstDash val="solid"/>
          </a:ln>
        </p:spPr>
      </p:sp>
      <p:pic>
        <p:nvPicPr>
          <p:cNvPr id="16" name="icon" descr="preencoded.png">    </p:cNvPr>
          <p:cNvPicPr>
            <a:picLocks noChangeAspect="1"/>
          </p:cNvPicPr>
          <p:nvPr/>
        </p:nvPicPr>
        <p:blipFill>
          <a:blip r:embed="rId3"/>
          <a:stretch>
            <a:fillRect/>
          </a:stretch>
        </p:blipFill>
        <p:spPr>
          <a:xfrm>
            <a:off x="965606" y="4257446"/>
            <a:ext cx="309067" cy="309067"/>
          </a:xfrm>
          <a:prstGeom prst="rect">
            <a:avLst/>
          </a:prstGeom>
        </p:spPr>
      </p:pic>
      <p:sp>
        <p:nvSpPr>
          <p:cNvPr id="17" name="Text 12"/>
          <p:cNvSpPr txBox="1"/>
          <p:nvPr/>
        </p:nvSpPr>
        <p:spPr>
          <a:xfrm>
            <a:off x="822960" y="4846320"/>
            <a:ext cx="3017520" cy="45720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Are the cameras and lights working?</a:t>
            </a:r>
            <a:endParaRPr lang="en-US" sz="1600" dirty="0"/>
          </a:p>
        </p:txBody>
      </p:sp>
      <p:sp>
        <p:nvSpPr>
          <p:cNvPr id="18" name="Text 13"/>
          <p:cNvSpPr txBox="1"/>
          <p:nvPr/>
        </p:nvSpPr>
        <p:spPr>
          <a:xfrm>
            <a:off x="822960" y="5321808"/>
            <a:ext cx="3017520" cy="548640"/>
          </a:xfrm>
          <a:prstGeom prst="rect">
            <a:avLst/>
          </a:prstGeom>
          <a:noFill/>
          <a:ln/>
        </p:spPr>
        <p:txBody>
          <a:bodyPr wrap="square" lIns="0" tIns="0" rIns="0" bIns="0" rtlCol="0" anchor="t"/>
          <a:lstStyle/>
          <a:p>
            <a:pPr indent="0" marL="0">
              <a:buNone/>
            </a:pPr>
            <a:r>
              <a:rPr lang="en-US" sz="1300" dirty="0">
                <a:solidFill>
                  <a:srgbClr val="5B6B78"/>
                </a:solidFill>
                <a:latin typeface="Calibri" pitchFamily="34" charset="0"/>
                <a:ea typeface="Calibri" pitchFamily="34" charset="-122"/>
                <a:cs typeface="Calibri" pitchFamily="34" charset="-120"/>
              </a:rPr>
              <a:t>Nobody knows how many CCTVs or street lights are faulty.</a:t>
            </a:r>
            <a:endParaRPr lang="en-US" sz="1300" dirty="0"/>
          </a:p>
        </p:txBody>
      </p:sp>
      <p:sp>
        <p:nvSpPr>
          <p:cNvPr id="19" name="card"/>
          <p:cNvSpPr/>
          <p:nvPr/>
        </p:nvSpPr>
        <p:spPr>
          <a:xfrm>
            <a:off x="4343400" y="3840480"/>
            <a:ext cx="3520440" cy="2103120"/>
          </a:xfrm>
          <a:prstGeom prst="roundRect">
            <a:avLst>
              <a:gd name="adj" fmla="val 5217"/>
            </a:avLst>
          </a:prstGeom>
          <a:solidFill>
            <a:srgbClr val="FFFFFF"/>
          </a:solidFill>
          <a:ln w="9525">
            <a:solidFill>
              <a:srgbClr val="D5E3E3"/>
            </a:solidFill>
            <a:prstDash val="solid"/>
          </a:ln>
          <a:effectLst>
            <a:outerShdw sx="100000" sy="100000" kx="0" ky="0" algn="bl" rotWithShape="0" blurRad="152400" dist="38100" dir="5400000">
              <a:srgbClr val="0B2135">
                <a:alpha val="16000"/>
              </a:srgbClr>
            </a:outerShdw>
          </a:effectLst>
        </p:spPr>
      </p:sp>
      <p:sp>
        <p:nvSpPr>
          <p:cNvPr id="20" name="icon-bg"/>
          <p:cNvSpPr/>
          <p:nvPr/>
        </p:nvSpPr>
        <p:spPr>
          <a:xfrm>
            <a:off x="4617720" y="4114800"/>
            <a:ext cx="594360" cy="594360"/>
          </a:xfrm>
          <a:prstGeom prst="ellipse">
            <a:avLst/>
          </a:prstGeom>
          <a:solidFill>
            <a:srgbClr val="FDECEC"/>
          </a:solidFill>
          <a:ln w="12700">
            <a:solidFill>
              <a:srgbClr val="FDECEC"/>
            </a:solidFill>
            <a:prstDash val="solid"/>
          </a:ln>
        </p:spPr>
      </p:sp>
      <p:pic>
        <p:nvPicPr>
          <p:cNvPr id="21" name="icon" descr="preencoded.png">    </p:cNvPr>
          <p:cNvPicPr>
            <a:picLocks noChangeAspect="1"/>
          </p:cNvPicPr>
          <p:nvPr/>
        </p:nvPicPr>
        <p:blipFill>
          <a:blip r:embed="rId4"/>
          <a:stretch>
            <a:fillRect/>
          </a:stretch>
        </p:blipFill>
        <p:spPr>
          <a:xfrm>
            <a:off x="4760366" y="4257446"/>
            <a:ext cx="309067" cy="309067"/>
          </a:xfrm>
          <a:prstGeom prst="rect">
            <a:avLst/>
          </a:prstGeom>
        </p:spPr>
      </p:pic>
      <p:sp>
        <p:nvSpPr>
          <p:cNvPr id="22" name="Text 16"/>
          <p:cNvSpPr txBox="1"/>
          <p:nvPr/>
        </p:nvSpPr>
        <p:spPr>
          <a:xfrm>
            <a:off x="4617720" y="4846320"/>
            <a:ext cx="3017520" cy="45720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Who came through the gate today?</a:t>
            </a:r>
            <a:endParaRPr lang="en-US" sz="1600" dirty="0"/>
          </a:p>
        </p:txBody>
      </p:sp>
      <p:sp>
        <p:nvSpPr>
          <p:cNvPr id="23" name="Text 17"/>
          <p:cNvSpPr txBox="1"/>
          <p:nvPr/>
        </p:nvSpPr>
        <p:spPr>
          <a:xfrm>
            <a:off x="4617720" y="5321808"/>
            <a:ext cx="3017520" cy="548640"/>
          </a:xfrm>
          <a:prstGeom prst="rect">
            <a:avLst/>
          </a:prstGeom>
          <a:noFill/>
          <a:ln/>
        </p:spPr>
        <p:txBody>
          <a:bodyPr wrap="square" lIns="0" tIns="0" rIns="0" bIns="0" rtlCol="0" anchor="t"/>
          <a:lstStyle/>
          <a:p>
            <a:pPr indent="0" marL="0">
              <a:buNone/>
            </a:pPr>
            <a:r>
              <a:rPr lang="en-US" sz="1300" dirty="0">
                <a:solidFill>
                  <a:srgbClr val="5B6B78"/>
                </a:solidFill>
                <a:latin typeface="Calibri" pitchFamily="34" charset="0"/>
                <a:ea typeface="Calibri" pitchFamily="34" charset="-122"/>
                <a:cs typeface="Calibri" pitchFamily="34" charset="-120"/>
              </a:rPr>
              <a:t>Paper registers at the gate are hard to check or audit.</a:t>
            </a:r>
            <a:endParaRPr lang="en-US" sz="1300" dirty="0"/>
          </a:p>
        </p:txBody>
      </p:sp>
      <p:sp>
        <p:nvSpPr>
          <p:cNvPr id="24" name="quote-panel"/>
          <p:cNvSpPr/>
          <p:nvPr/>
        </p:nvSpPr>
        <p:spPr>
          <a:xfrm>
            <a:off x="8229600" y="1463040"/>
            <a:ext cx="3410712" cy="4480560"/>
          </a:xfrm>
          <a:prstGeom prst="roundRect">
            <a:avLst>
              <a:gd name="adj" fmla="val 4021"/>
            </a:avLst>
          </a:prstGeom>
          <a:solidFill>
            <a:srgbClr val="0B2135"/>
          </a:solidFill>
          <a:ln w="12700">
            <a:solidFill>
              <a:srgbClr val="0B2135"/>
            </a:solidFill>
            <a:prstDash val="solid"/>
          </a:ln>
        </p:spPr>
      </p:sp>
      <p:sp>
        <p:nvSpPr>
          <p:cNvPr id="25" name="Text 19"/>
          <p:cNvSpPr txBox="1"/>
          <p:nvPr/>
        </p:nvSpPr>
        <p:spPr>
          <a:xfrm>
            <a:off x="8549640" y="1600200"/>
            <a:ext cx="914400" cy="914400"/>
          </a:xfrm>
          <a:prstGeom prst="rect">
            <a:avLst/>
          </a:prstGeom>
          <a:noFill/>
          <a:ln/>
        </p:spPr>
        <p:txBody>
          <a:bodyPr wrap="square" lIns="0" tIns="0" rIns="0" bIns="0" rtlCol="0" anchor="t"/>
          <a:lstStyle/>
          <a:p>
            <a:pPr indent="0" marL="0">
              <a:buNone/>
            </a:pPr>
            <a:r>
              <a:rPr lang="en-US" sz="7200" b="1" dirty="0">
                <a:solidFill>
                  <a:srgbClr val="F4B942"/>
                </a:solidFill>
                <a:latin typeface="Cambria" pitchFamily="34" charset="0"/>
                <a:ea typeface="Cambria" pitchFamily="34" charset="-122"/>
                <a:cs typeface="Cambria" pitchFamily="34" charset="-120"/>
              </a:rPr>
              <a:t>“</a:t>
            </a:r>
            <a:endParaRPr lang="en-US" sz="7200" dirty="0"/>
          </a:p>
        </p:txBody>
      </p:sp>
      <p:sp>
        <p:nvSpPr>
          <p:cNvPr id="26" name="Text 20"/>
          <p:cNvSpPr txBox="1"/>
          <p:nvPr/>
        </p:nvSpPr>
        <p:spPr>
          <a:xfrm>
            <a:off x="8549640" y="2560320"/>
            <a:ext cx="2834640" cy="201168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Trust breaks down when information sits with only a few people.</a:t>
            </a:r>
            <a:endParaRPr lang="en-US" sz="2200" dirty="0"/>
          </a:p>
        </p:txBody>
      </p:sp>
      <p:sp>
        <p:nvSpPr>
          <p:cNvPr id="27" name="Text 21"/>
          <p:cNvSpPr txBox="1"/>
          <p:nvPr/>
        </p:nvSpPr>
        <p:spPr>
          <a:xfrm>
            <a:off x="8549640" y="4846320"/>
            <a:ext cx="2834640" cy="822960"/>
          </a:xfrm>
          <a:prstGeom prst="rect">
            <a:avLst/>
          </a:prstGeom>
          <a:noFill/>
          <a:ln/>
        </p:spPr>
        <p:txBody>
          <a:bodyPr wrap="square" lIns="0" tIns="0" rIns="0" bIns="0" rtlCol="0" anchor="t"/>
          <a:lstStyle/>
          <a:p>
            <a:pPr indent="0" marL="0">
              <a:buNone/>
            </a:pPr>
            <a:r>
              <a:rPr lang="en-US" sz="1300" dirty="0">
                <a:solidFill>
                  <a:srgbClr val="C5D6DF"/>
                </a:solidFill>
                <a:latin typeface="Calibri" pitchFamily="34" charset="0"/>
                <a:ea typeface="Calibri" pitchFamily="34" charset="-122"/>
                <a:cs typeface="Calibri" pitchFamily="34" charset="-120"/>
              </a:rPr>
              <a:t>SecureComm puts the same facts in front of every role.</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t"/>
          <a:lstStyle/>
          <a:p>
            <a:pPr indent="0" marL="0">
              <a:buNone/>
            </a:pPr>
            <a:r>
              <a:rPr lang="en-US" sz="1100" b="1" spc="300" kern="0" dirty="0">
                <a:solidFill>
                  <a:srgbClr val="0E7C76"/>
                </a:solidFill>
                <a:latin typeface="Calibri" pitchFamily="34" charset="0"/>
                <a:ea typeface="Calibri" pitchFamily="34" charset="-122"/>
                <a:cs typeface="Calibri" pitchFamily="34" charset="-120"/>
              </a:rPr>
              <a:t>THE SOLUTION</a:t>
            </a:r>
            <a:endParaRPr lang="en-US" sz="1100" dirty="0"/>
          </a:p>
        </p:txBody>
      </p:sp>
      <p:sp>
        <p:nvSpPr>
          <p:cNvPr id="3" name="Text 1"/>
          <p:cNvSpPr/>
          <p:nvPr>
            <p:ph idx="101" type="title" hasCustomPrompt="1"/>
          </p:nvPr>
        </p:nvSpPr>
        <p:spPr>
          <a:xfrm>
            <a:off x="548640" y="457200"/>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One shared source of truth</a:t>
            </a:r>
            <a:endParaRPr lang="en-US" sz="3000" dirty="0"/>
          </a:p>
        </p:txBody>
      </p:sp>
      <p:sp>
        <p:nvSpPr>
          <p:cNvPr id="4" name="icon-bg"/>
          <p:cNvSpPr/>
          <p:nvPr/>
        </p:nvSpPr>
        <p:spPr>
          <a:xfrm>
            <a:off x="548640" y="1508760"/>
            <a:ext cx="731520" cy="731520"/>
          </a:xfrm>
          <a:prstGeom prst="ellipse">
            <a:avLst/>
          </a:prstGeom>
          <a:solidFill>
            <a:srgbClr val="13A89E"/>
          </a:solidFill>
          <a:ln w="12700">
            <a:solidFill>
              <a:srgbClr val="13A89E"/>
            </a:solidFill>
            <a:prstDash val="solid"/>
          </a:ln>
        </p:spPr>
      </p:sp>
      <p:pic>
        <p:nvPicPr>
          <p:cNvPr id="5" name="icon" descr="preencoded.png">    </p:cNvPr>
          <p:cNvPicPr>
            <a:picLocks noChangeAspect="1"/>
          </p:cNvPicPr>
          <p:nvPr/>
        </p:nvPicPr>
        <p:blipFill>
          <a:blip r:embed="rId1"/>
          <a:stretch>
            <a:fillRect/>
          </a:stretch>
        </p:blipFill>
        <p:spPr>
          <a:xfrm>
            <a:off x="724205" y="1684325"/>
            <a:ext cx="380390" cy="380390"/>
          </a:xfrm>
          <a:prstGeom prst="rect">
            <a:avLst/>
          </a:prstGeom>
        </p:spPr>
      </p:pic>
      <p:sp>
        <p:nvSpPr>
          <p:cNvPr id="6" name="Text 3"/>
          <p:cNvSpPr txBox="1"/>
          <p:nvPr/>
        </p:nvSpPr>
        <p:spPr>
          <a:xfrm>
            <a:off x="1508760" y="1490472"/>
            <a:ext cx="347472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See it</a:t>
            </a:r>
            <a:endParaRPr lang="en-US" sz="2000" dirty="0"/>
          </a:p>
        </p:txBody>
      </p:sp>
      <p:sp>
        <p:nvSpPr>
          <p:cNvPr id="7" name="Text 4"/>
          <p:cNvSpPr txBox="1"/>
          <p:nvPr/>
        </p:nvSpPr>
        <p:spPr>
          <a:xfrm>
            <a:off x="1508760" y="1920240"/>
            <a:ext cx="3383280" cy="868680"/>
          </a:xfrm>
          <a:prstGeom prst="rect">
            <a:avLst/>
          </a:prstGeom>
          <a:noFill/>
          <a:ln/>
        </p:spPr>
        <p:txBody>
          <a:bodyPr wrap="square" lIns="0" tIns="0" rIns="0" bIns="0" rtlCol="0" anchor="t"/>
          <a:lstStyle/>
          <a:p>
            <a:pPr indent="0" marL="0">
              <a:buNone/>
            </a:pPr>
            <a:r>
              <a:rPr lang="en-US" sz="1350" dirty="0">
                <a:solidFill>
                  <a:srgbClr val="5B6B78"/>
                </a:solidFill>
                <a:latin typeface="Calibri" pitchFamily="34" charset="0"/>
                <a:ea typeface="Calibri" pitchFamily="34" charset="-122"/>
                <a:cs typeface="Calibri" pitchFamily="34" charset="-120"/>
              </a:rPr>
              <a:t>Live status of security issues, CCTV, street lights, finances and notices — for every role.</a:t>
            </a:r>
            <a:endParaRPr lang="en-US" sz="1350" dirty="0"/>
          </a:p>
        </p:txBody>
      </p:sp>
      <p:sp>
        <p:nvSpPr>
          <p:cNvPr id="8" name="icon-bg"/>
          <p:cNvSpPr/>
          <p:nvPr/>
        </p:nvSpPr>
        <p:spPr>
          <a:xfrm>
            <a:off x="548640" y="3017520"/>
            <a:ext cx="731520" cy="731520"/>
          </a:xfrm>
          <a:prstGeom prst="ellipse">
            <a:avLst/>
          </a:prstGeom>
          <a:solidFill>
            <a:srgbClr val="13A89E"/>
          </a:solidFill>
          <a:ln w="12700">
            <a:solidFill>
              <a:srgbClr val="13A89E"/>
            </a:solidFill>
            <a:prstDash val="solid"/>
          </a:ln>
        </p:spPr>
      </p:sp>
      <p:pic>
        <p:nvPicPr>
          <p:cNvPr id="9" name="icon" descr="preencoded.png">    </p:cNvPr>
          <p:cNvPicPr>
            <a:picLocks noChangeAspect="1"/>
          </p:cNvPicPr>
          <p:nvPr/>
        </p:nvPicPr>
        <p:blipFill>
          <a:blip r:embed="rId2"/>
          <a:stretch>
            <a:fillRect/>
          </a:stretch>
        </p:blipFill>
        <p:spPr>
          <a:xfrm>
            <a:off x="724205" y="3193085"/>
            <a:ext cx="380390" cy="380390"/>
          </a:xfrm>
          <a:prstGeom prst="rect">
            <a:avLst/>
          </a:prstGeom>
        </p:spPr>
      </p:pic>
      <p:sp>
        <p:nvSpPr>
          <p:cNvPr id="10" name="Text 6"/>
          <p:cNvSpPr txBox="1"/>
          <p:nvPr/>
        </p:nvSpPr>
        <p:spPr>
          <a:xfrm>
            <a:off x="1508760" y="2999232"/>
            <a:ext cx="347472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Own it</a:t>
            </a:r>
            <a:endParaRPr lang="en-US" sz="2000" dirty="0"/>
          </a:p>
        </p:txBody>
      </p:sp>
      <p:sp>
        <p:nvSpPr>
          <p:cNvPr id="11" name="Text 7"/>
          <p:cNvSpPr txBox="1"/>
          <p:nvPr/>
        </p:nvSpPr>
        <p:spPr>
          <a:xfrm>
            <a:off x="1508760" y="3429000"/>
            <a:ext cx="3383280" cy="868680"/>
          </a:xfrm>
          <a:prstGeom prst="rect">
            <a:avLst/>
          </a:prstGeom>
          <a:noFill/>
          <a:ln/>
        </p:spPr>
        <p:txBody>
          <a:bodyPr wrap="square" lIns="0" tIns="0" rIns="0" bIns="0" rtlCol="0" anchor="t"/>
          <a:lstStyle/>
          <a:p>
            <a:pPr indent="0" marL="0">
              <a:buNone/>
            </a:pPr>
            <a:r>
              <a:rPr lang="en-US" sz="1350" dirty="0">
                <a:solidFill>
                  <a:srgbClr val="5B6B78"/>
                </a:solidFill>
                <a:latin typeface="Calibri" pitchFamily="34" charset="0"/>
                <a:ea typeface="Calibri" pitchFamily="34" charset="-122"/>
                <a:cs typeface="Calibri" pitchFamily="34" charset="-120"/>
              </a:rPr>
              <a:t>Every issue, patrol round, payment and expense is logged with status, date and who recorded it.</a:t>
            </a:r>
            <a:endParaRPr lang="en-US" sz="1350" dirty="0"/>
          </a:p>
        </p:txBody>
      </p:sp>
      <p:sp>
        <p:nvSpPr>
          <p:cNvPr id="12" name="icon-bg"/>
          <p:cNvSpPr/>
          <p:nvPr/>
        </p:nvSpPr>
        <p:spPr>
          <a:xfrm>
            <a:off x="548640" y="4526280"/>
            <a:ext cx="731520" cy="731520"/>
          </a:xfrm>
          <a:prstGeom prst="ellipse">
            <a:avLst/>
          </a:prstGeom>
          <a:solidFill>
            <a:srgbClr val="13A89E"/>
          </a:solidFill>
          <a:ln w="12700">
            <a:solidFill>
              <a:srgbClr val="13A89E"/>
            </a:solidFill>
            <a:prstDash val="solid"/>
          </a:ln>
        </p:spPr>
      </p:sp>
      <p:pic>
        <p:nvPicPr>
          <p:cNvPr id="13" name="icon" descr="preencoded.png">    </p:cNvPr>
          <p:cNvPicPr>
            <a:picLocks noChangeAspect="1"/>
          </p:cNvPicPr>
          <p:nvPr/>
        </p:nvPicPr>
        <p:blipFill>
          <a:blip r:embed="rId3"/>
          <a:stretch>
            <a:fillRect/>
          </a:stretch>
        </p:blipFill>
        <p:spPr>
          <a:xfrm>
            <a:off x="724205" y="4701845"/>
            <a:ext cx="380390" cy="380390"/>
          </a:xfrm>
          <a:prstGeom prst="rect">
            <a:avLst/>
          </a:prstGeom>
        </p:spPr>
      </p:pic>
      <p:sp>
        <p:nvSpPr>
          <p:cNvPr id="14" name="Text 9"/>
          <p:cNvSpPr txBox="1"/>
          <p:nvPr/>
        </p:nvSpPr>
        <p:spPr>
          <a:xfrm>
            <a:off x="1508760" y="4507992"/>
            <a:ext cx="347472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Act on it</a:t>
            </a:r>
            <a:endParaRPr lang="en-US" sz="2000" dirty="0"/>
          </a:p>
        </p:txBody>
      </p:sp>
      <p:sp>
        <p:nvSpPr>
          <p:cNvPr id="15" name="Text 10"/>
          <p:cNvSpPr txBox="1"/>
          <p:nvPr/>
        </p:nvSpPr>
        <p:spPr>
          <a:xfrm>
            <a:off x="1508760" y="4937760"/>
            <a:ext cx="3383280" cy="868680"/>
          </a:xfrm>
          <a:prstGeom prst="rect">
            <a:avLst/>
          </a:prstGeom>
          <a:noFill/>
          <a:ln/>
        </p:spPr>
        <p:txBody>
          <a:bodyPr wrap="square" lIns="0" tIns="0" rIns="0" bIns="0" rtlCol="0" anchor="t"/>
          <a:lstStyle/>
          <a:p>
            <a:pPr indent="0" marL="0">
              <a:buNone/>
            </a:pPr>
            <a:r>
              <a:rPr lang="en-US" sz="1350" dirty="0">
                <a:solidFill>
                  <a:srgbClr val="5B6B78"/>
                </a:solidFill>
                <a:latin typeface="Calibri" pitchFamily="34" charset="0"/>
                <a:ea typeface="Calibri" pitchFamily="34" charset="-122"/>
                <a:cs typeface="Calibri" pitchFamily="34" charset="-120"/>
              </a:rPr>
              <a:t>Residents report issues, check dues and find verified service providers themselves.</a:t>
            </a:r>
            <a:endParaRPr lang="en-US" sz="1350" dirty="0"/>
          </a:p>
        </p:txBody>
      </p:sp>
      <p:pic>
        <p:nvPicPr>
          <p:cNvPr id="16" name="screenshot" descr="img/p_dashboard.png">    </p:cNvPr>
          <p:cNvPicPr>
            <a:picLocks noChangeAspect="1"/>
          </p:cNvPicPr>
          <p:nvPr/>
        </p:nvPicPr>
        <p:blipFill>
          <a:blip r:embed="rId4"/>
          <a:stretch>
            <a:fillRect/>
          </a:stretch>
        </p:blipFill>
        <p:spPr>
          <a:xfrm>
            <a:off x="5450509" y="1554480"/>
            <a:ext cx="6208091" cy="3657600"/>
          </a:xfrm>
          <a:prstGeom prst="rect">
            <a:avLst/>
          </a:prstGeom>
          <a:effectLst>
            <a:outerShdw sx="100000" sy="100000" kx="0" ky="0" algn="bl" rotWithShape="0" blurRad="228600" dist="50800" dir="5400000">
              <a:srgbClr val="0B2135">
                <a:alpha val="22000"/>
              </a:srgbClr>
            </a:outerShdw>
          </a:effectLst>
        </p:spPr>
      </p:pic>
      <p:sp>
        <p:nvSpPr>
          <p:cNvPr id="17" name="Text 11"/>
          <p:cNvSpPr txBox="1"/>
          <p:nvPr/>
        </p:nvSpPr>
        <p:spPr>
          <a:xfrm>
            <a:off x="5257800" y="5166360"/>
            <a:ext cx="6400800" cy="274320"/>
          </a:xfrm>
          <a:prstGeom prst="rect">
            <a:avLst/>
          </a:prstGeom>
          <a:noFill/>
          <a:ln/>
        </p:spPr>
        <p:txBody>
          <a:bodyPr wrap="square" lIns="0" tIns="0" rIns="0" bIns="0" rtlCol="0" anchor="t"/>
          <a:lstStyle/>
          <a:p>
            <a:pPr algn="ctr" indent="0" marL="0">
              <a:buNone/>
            </a:pPr>
            <a:r>
              <a:rPr lang="en-US" sz="1100" i="1" dirty="0">
                <a:solidFill>
                  <a:srgbClr val="5B6B78"/>
                </a:solidFill>
                <a:latin typeface="Calibri" pitchFamily="34" charset="0"/>
                <a:ea typeface="Calibri" pitchFamily="34" charset="-122"/>
                <a:cs typeface="Calibri" pitchFamily="34" charset="-120"/>
              </a:rPr>
              <a:t>The community dashboard, as seen by the Super Admin</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t"/>
          <a:lstStyle/>
          <a:p>
            <a:pPr indent="0" marL="0">
              <a:buNone/>
            </a:pPr>
            <a:r>
              <a:rPr lang="en-US" sz="1100" b="1" spc="300" kern="0" dirty="0">
                <a:solidFill>
                  <a:srgbClr val="0E7C76"/>
                </a:solidFill>
                <a:latin typeface="Calibri" pitchFamily="34" charset="0"/>
                <a:ea typeface="Calibri" pitchFamily="34" charset="-122"/>
                <a:cs typeface="Calibri" pitchFamily="34" charset="-120"/>
              </a:rPr>
              <a:t>WHO USES IT</a:t>
            </a:r>
            <a:endParaRPr lang="en-US" sz="1100" dirty="0"/>
          </a:p>
        </p:txBody>
      </p:sp>
      <p:sp>
        <p:nvSpPr>
          <p:cNvPr id="3" name="Text 1"/>
          <p:cNvSpPr/>
          <p:nvPr>
            <p:ph idx="101" type="title" hasCustomPrompt="1"/>
          </p:nvPr>
        </p:nvSpPr>
        <p:spPr>
          <a:xfrm>
            <a:off x="548640" y="457200"/>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Four roles, one platform</a:t>
            </a:r>
            <a:endParaRPr lang="en-US" sz="3000" dirty="0"/>
          </a:p>
        </p:txBody>
      </p:sp>
      <p:sp>
        <p:nvSpPr>
          <p:cNvPr id="4" name="card"/>
          <p:cNvSpPr/>
          <p:nvPr/>
        </p:nvSpPr>
        <p:spPr>
          <a:xfrm>
            <a:off x="548640" y="1463040"/>
            <a:ext cx="2606040" cy="4663440"/>
          </a:xfrm>
          <a:prstGeom prst="roundRect">
            <a:avLst>
              <a:gd name="adj" fmla="val 4211"/>
            </a:avLst>
          </a:prstGeom>
          <a:solidFill>
            <a:srgbClr val="FFFFFF"/>
          </a:solidFill>
          <a:ln w="9525">
            <a:solidFill>
              <a:srgbClr val="D5E3E3"/>
            </a:solidFill>
            <a:prstDash val="solid"/>
          </a:ln>
          <a:effectLst>
            <a:outerShdw sx="100000" sy="100000" kx="0" ky="0" algn="bl" rotWithShape="0" blurRad="152400" dist="38100" dir="5400000">
              <a:srgbClr val="0B2135">
                <a:alpha val="16000"/>
              </a:srgbClr>
            </a:outerShdw>
          </a:effectLst>
        </p:spPr>
      </p:sp>
      <p:sp>
        <p:nvSpPr>
          <p:cNvPr id="5" name="icon-bg"/>
          <p:cNvSpPr/>
          <p:nvPr/>
        </p:nvSpPr>
        <p:spPr>
          <a:xfrm>
            <a:off x="822960" y="1737360"/>
            <a:ext cx="685800" cy="685800"/>
          </a:xfrm>
          <a:prstGeom prst="ellipse">
            <a:avLst/>
          </a:prstGeom>
          <a:solidFill>
            <a:srgbClr val="0B2135"/>
          </a:solidFill>
          <a:ln w="12700">
            <a:solidFill>
              <a:srgbClr val="0B2135"/>
            </a:solidFill>
            <a:prstDash val="solid"/>
          </a:ln>
        </p:spPr>
      </p:sp>
      <p:pic>
        <p:nvPicPr>
          <p:cNvPr id="6" name="icon" descr="preencoded.png">    </p:cNvPr>
          <p:cNvPicPr>
            <a:picLocks noChangeAspect="1"/>
          </p:cNvPicPr>
          <p:nvPr/>
        </p:nvPicPr>
        <p:blipFill>
          <a:blip r:embed="rId1"/>
          <a:stretch>
            <a:fillRect/>
          </a:stretch>
        </p:blipFill>
        <p:spPr>
          <a:xfrm>
            <a:off x="987552" y="1901952"/>
            <a:ext cx="356616" cy="356616"/>
          </a:xfrm>
          <a:prstGeom prst="rect">
            <a:avLst/>
          </a:prstGeom>
        </p:spPr>
      </p:pic>
      <p:sp>
        <p:nvSpPr>
          <p:cNvPr id="7" name="Text 4"/>
          <p:cNvSpPr txBox="1"/>
          <p:nvPr/>
        </p:nvSpPr>
        <p:spPr>
          <a:xfrm>
            <a:off x="822960" y="2606040"/>
            <a:ext cx="2148840" cy="685800"/>
          </a:xfrm>
          <a:prstGeom prst="rect">
            <a:avLst/>
          </a:prstGeom>
          <a:noFill/>
          <a:ln/>
        </p:spPr>
        <p:txBody>
          <a:bodyPr wrap="square" lIns="0" tIns="0" rIns="0" bIns="0" rtlCol="0" anchor="b"/>
          <a:lstStyle/>
          <a:p>
            <a:pPr indent="0" marL="0">
              <a:buNone/>
            </a:pPr>
            <a:r>
              <a:rPr lang="en-US" sz="1700" b="1" dirty="0">
                <a:solidFill>
                  <a:schemeClr val="tx1"/>
                </a:solidFill>
                <a:latin typeface="Arial" pitchFamily="34" charset="0"/>
                <a:ea typeface="Arial" pitchFamily="34" charset="-122"/>
                <a:cs typeface="Arial" pitchFamily="34" charset="-120"/>
              </a:rPr>
              <a:t>Super Admin</a:t>
            </a:r>
            <a:endParaRPr lang="en-US" sz="1700" dirty="0"/>
          </a:p>
        </p:txBody>
      </p:sp>
      <p:sp>
        <p:nvSpPr>
          <p:cNvPr id="8" name="Text 5"/>
          <p:cNvSpPr txBox="1"/>
          <p:nvPr/>
        </p:nvSpPr>
        <p:spPr>
          <a:xfrm>
            <a:off x="822960" y="3337560"/>
            <a:ext cx="2148840" cy="365760"/>
          </a:xfrm>
          <a:prstGeom prst="rect">
            <a:avLst/>
          </a:prstGeom>
          <a:noFill/>
          <a:ln/>
        </p:spPr>
        <p:txBody>
          <a:bodyPr wrap="square" lIns="0" tIns="0" rIns="0" bIns="0" rtlCol="0" anchor="t"/>
          <a:lstStyle/>
          <a:p>
            <a:pPr indent="0" marL="0">
              <a:buNone/>
            </a:pPr>
            <a:r>
              <a:rPr lang="en-US" sz="1250" i="1" dirty="0">
                <a:solidFill>
                  <a:srgbClr val="0E7C76"/>
                </a:solidFill>
                <a:latin typeface="Calibri" pitchFamily="34" charset="0"/>
                <a:ea typeface="Calibri" pitchFamily="34" charset="-122"/>
                <a:cs typeface="Calibri" pitchFamily="34" charset="-120"/>
              </a:rPr>
              <a:t>Owns the whole community</a:t>
            </a:r>
            <a:endParaRPr lang="en-US" sz="1250" dirty="0"/>
          </a:p>
        </p:txBody>
      </p:sp>
      <p:sp>
        <p:nvSpPr>
          <p:cNvPr id="9" name="Text 6"/>
          <p:cNvSpPr txBox="1"/>
          <p:nvPr/>
        </p:nvSpPr>
        <p:spPr>
          <a:xfrm>
            <a:off x="822960" y="3840480"/>
            <a:ext cx="2148840" cy="21031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5B6B78"/>
                </a:solidFill>
                <a:latin typeface="Calibri" pitchFamily="34" charset="0"/>
                <a:ea typeface="Calibri" pitchFamily="34" charset="-122"/>
                <a:cs typeface="Calibri" pitchFamily="34" charset="-120"/>
              </a:rPr>
              <a:t>Configures community settings and gate access rules</a:t>
            </a:r>
            <a:endParaRPr lang="en-US" sz="1300" dirty="0"/>
          </a:p>
          <a:p>
            <a:pPr marL="177800" indent="-177800">
              <a:spcAft>
                <a:spcPts val="800"/>
              </a:spcAft>
              <a:buSzPct val="100000"/>
              <a:buChar char="•"/>
            </a:pPr>
            <a:r>
              <a:rPr lang="en-US" sz="1300" dirty="0">
                <a:solidFill>
                  <a:srgbClr val="5B6B78"/>
                </a:solidFill>
                <a:latin typeface="Calibri" pitchFamily="34" charset="0"/>
                <a:ea typeface="Calibri" pitchFamily="34" charset="-122"/>
                <a:cs typeface="Calibri" pitchFamily="34" charset="-120"/>
              </a:rPr>
              <a:t>Adds volunteers, guards and residents</a:t>
            </a:r>
            <a:endParaRPr lang="en-US" sz="1300" dirty="0"/>
          </a:p>
          <a:p>
            <a:pPr marL="177800" indent="-177800">
              <a:spcAft>
                <a:spcPts val="800"/>
              </a:spcAft>
              <a:buSzPct val="100000"/>
              <a:buChar char="•"/>
            </a:pPr>
            <a:r>
              <a:rPr lang="en-US" sz="1300" dirty="0">
                <a:solidFill>
                  <a:srgbClr val="5B6B78"/>
                </a:solidFill>
                <a:latin typeface="Calibri" pitchFamily="34" charset="0"/>
                <a:ea typeface="Calibri" pitchFamily="34" charset="-122"/>
                <a:cs typeface="Calibri" pitchFamily="34" charset="-120"/>
              </a:rPr>
              <a:t>Sees all 6 phases and 2 sectors</a:t>
            </a:r>
            <a:endParaRPr lang="en-US" sz="1300" dirty="0"/>
          </a:p>
        </p:txBody>
      </p:sp>
      <p:sp>
        <p:nvSpPr>
          <p:cNvPr id="10" name="card"/>
          <p:cNvSpPr/>
          <p:nvPr/>
        </p:nvSpPr>
        <p:spPr>
          <a:xfrm>
            <a:off x="3364992" y="1463040"/>
            <a:ext cx="2606040" cy="4663440"/>
          </a:xfrm>
          <a:prstGeom prst="roundRect">
            <a:avLst>
              <a:gd name="adj" fmla="val 4211"/>
            </a:avLst>
          </a:prstGeom>
          <a:solidFill>
            <a:srgbClr val="FFFFFF"/>
          </a:solidFill>
          <a:ln w="9525">
            <a:solidFill>
              <a:srgbClr val="D5E3E3"/>
            </a:solidFill>
            <a:prstDash val="solid"/>
          </a:ln>
          <a:effectLst>
            <a:outerShdw sx="100000" sy="100000" kx="0" ky="0" algn="bl" rotWithShape="0" blurRad="152400" dist="38100" dir="5400000">
              <a:srgbClr val="0B2135">
                <a:alpha val="16000"/>
              </a:srgbClr>
            </a:outerShdw>
          </a:effectLst>
        </p:spPr>
      </p:sp>
      <p:sp>
        <p:nvSpPr>
          <p:cNvPr id="11" name="icon-bg"/>
          <p:cNvSpPr/>
          <p:nvPr/>
        </p:nvSpPr>
        <p:spPr>
          <a:xfrm>
            <a:off x="3639312" y="1737360"/>
            <a:ext cx="685800" cy="685800"/>
          </a:xfrm>
          <a:prstGeom prst="ellipse">
            <a:avLst/>
          </a:prstGeom>
          <a:solidFill>
            <a:srgbClr val="0E7C76"/>
          </a:solidFill>
          <a:ln w="12700">
            <a:solidFill>
              <a:srgbClr val="0E7C76"/>
            </a:solidFill>
            <a:prstDash val="solid"/>
          </a:ln>
        </p:spPr>
      </p:sp>
      <p:pic>
        <p:nvPicPr>
          <p:cNvPr id="12" name="icon" descr="preencoded.png">    </p:cNvPr>
          <p:cNvPicPr>
            <a:picLocks noChangeAspect="1"/>
          </p:cNvPicPr>
          <p:nvPr/>
        </p:nvPicPr>
        <p:blipFill>
          <a:blip r:embed="rId2"/>
          <a:stretch>
            <a:fillRect/>
          </a:stretch>
        </p:blipFill>
        <p:spPr>
          <a:xfrm>
            <a:off x="3803904" y="1901952"/>
            <a:ext cx="356616" cy="356616"/>
          </a:xfrm>
          <a:prstGeom prst="rect">
            <a:avLst/>
          </a:prstGeom>
        </p:spPr>
      </p:pic>
      <p:sp>
        <p:nvSpPr>
          <p:cNvPr id="13" name="Text 9"/>
          <p:cNvSpPr txBox="1"/>
          <p:nvPr/>
        </p:nvSpPr>
        <p:spPr>
          <a:xfrm>
            <a:off x="3639312" y="2606040"/>
            <a:ext cx="2148840" cy="685800"/>
          </a:xfrm>
          <a:prstGeom prst="rect">
            <a:avLst/>
          </a:prstGeom>
          <a:noFill/>
          <a:ln/>
        </p:spPr>
        <p:txBody>
          <a:bodyPr wrap="square" lIns="0" tIns="0" rIns="0" bIns="0" rtlCol="0" anchor="b"/>
          <a:lstStyle/>
          <a:p>
            <a:pPr indent="0" marL="0">
              <a:buNone/>
            </a:pPr>
            <a:r>
              <a:rPr lang="en-US" sz="1700" b="1" dirty="0">
                <a:solidFill>
                  <a:schemeClr val="tx1"/>
                </a:solidFill>
                <a:latin typeface="Arial" pitchFamily="34" charset="0"/>
                <a:ea typeface="Arial" pitchFamily="34" charset="-122"/>
                <a:cs typeface="Arial" pitchFamily="34" charset="-120"/>
              </a:rPr>
              <a:t>Volunteer / Superintendent</a:t>
            </a:r>
            <a:endParaRPr lang="en-US" sz="1700" dirty="0"/>
          </a:p>
        </p:txBody>
      </p:sp>
      <p:sp>
        <p:nvSpPr>
          <p:cNvPr id="14" name="Text 10"/>
          <p:cNvSpPr txBox="1"/>
          <p:nvPr/>
        </p:nvSpPr>
        <p:spPr>
          <a:xfrm>
            <a:off x="3639312" y="3337560"/>
            <a:ext cx="2148840" cy="365760"/>
          </a:xfrm>
          <a:prstGeom prst="rect">
            <a:avLst/>
          </a:prstGeom>
          <a:noFill/>
          <a:ln/>
        </p:spPr>
        <p:txBody>
          <a:bodyPr wrap="square" lIns="0" tIns="0" rIns="0" bIns="0" rtlCol="0" anchor="t"/>
          <a:lstStyle/>
          <a:p>
            <a:pPr indent="0" marL="0">
              <a:buNone/>
            </a:pPr>
            <a:r>
              <a:rPr lang="en-US" sz="1250" i="1" dirty="0">
                <a:solidFill>
                  <a:srgbClr val="0E7C76"/>
                </a:solidFill>
                <a:latin typeface="Calibri" pitchFamily="34" charset="0"/>
                <a:ea typeface="Calibri" pitchFamily="34" charset="-122"/>
                <a:cs typeface="Calibri" pitchFamily="34" charset="-120"/>
              </a:rPr>
              <a:t>Runs day-to-day operations</a:t>
            </a:r>
            <a:endParaRPr lang="en-US" sz="1250" dirty="0"/>
          </a:p>
        </p:txBody>
      </p:sp>
      <p:sp>
        <p:nvSpPr>
          <p:cNvPr id="15" name="Text 11"/>
          <p:cNvSpPr txBox="1"/>
          <p:nvPr/>
        </p:nvSpPr>
        <p:spPr>
          <a:xfrm>
            <a:off x="3639312" y="3840480"/>
            <a:ext cx="2148840" cy="21031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5B6B78"/>
                </a:solidFill>
                <a:latin typeface="Calibri" pitchFamily="34" charset="0"/>
                <a:ea typeface="Calibri" pitchFamily="34" charset="-122"/>
                <a:cs typeface="Calibri" pitchFamily="34" charset="-120"/>
              </a:rPr>
              <a:t>Records payments and logs expenses</a:t>
            </a:r>
            <a:endParaRPr lang="en-US" sz="1300" dirty="0"/>
          </a:p>
          <a:p>
            <a:pPr marL="177800" indent="-177800">
              <a:spcAft>
                <a:spcPts val="800"/>
              </a:spcAft>
              <a:buSzPct val="100000"/>
              <a:buChar char="•"/>
            </a:pPr>
            <a:r>
              <a:rPr lang="en-US" sz="1300" dirty="0">
                <a:solidFill>
                  <a:srgbClr val="5B6B78"/>
                </a:solidFill>
                <a:latin typeface="Calibri" pitchFamily="34" charset="0"/>
                <a:ea typeface="Calibri" pitchFamily="34" charset="-122"/>
                <a:cs typeface="Calibri" pitchFamily="34" charset="-120"/>
              </a:rPr>
              <a:t>Broadcasts announcements</a:t>
            </a:r>
            <a:endParaRPr lang="en-US" sz="1300" dirty="0"/>
          </a:p>
          <a:p>
            <a:pPr marL="177800" indent="-177800">
              <a:spcAft>
                <a:spcPts val="800"/>
              </a:spcAft>
              <a:buSzPct val="100000"/>
              <a:buChar char="•"/>
            </a:pPr>
            <a:r>
              <a:rPr lang="en-US" sz="1300" dirty="0">
                <a:solidFill>
                  <a:srgbClr val="5B6B78"/>
                </a:solidFill>
                <a:latin typeface="Calibri" pitchFamily="34" charset="0"/>
                <a:ea typeface="Calibri" pitchFamily="34" charset="-122"/>
                <a:cs typeface="Calibri" pitchFamily="34" charset="-120"/>
              </a:rPr>
              <a:t>Manages CCTV, street lights and committee</a:t>
            </a:r>
            <a:endParaRPr lang="en-US" sz="1300" dirty="0"/>
          </a:p>
        </p:txBody>
      </p:sp>
      <p:sp>
        <p:nvSpPr>
          <p:cNvPr id="16" name="card"/>
          <p:cNvSpPr/>
          <p:nvPr/>
        </p:nvSpPr>
        <p:spPr>
          <a:xfrm>
            <a:off x="6181344" y="1463040"/>
            <a:ext cx="2606040" cy="4663440"/>
          </a:xfrm>
          <a:prstGeom prst="roundRect">
            <a:avLst>
              <a:gd name="adj" fmla="val 4211"/>
            </a:avLst>
          </a:prstGeom>
          <a:solidFill>
            <a:srgbClr val="FFFFFF"/>
          </a:solidFill>
          <a:ln w="9525">
            <a:solidFill>
              <a:srgbClr val="D5E3E3"/>
            </a:solidFill>
            <a:prstDash val="solid"/>
          </a:ln>
          <a:effectLst>
            <a:outerShdw sx="100000" sy="100000" kx="0" ky="0" algn="bl" rotWithShape="0" blurRad="152400" dist="38100" dir="5400000">
              <a:srgbClr val="0B2135">
                <a:alpha val="16000"/>
              </a:srgbClr>
            </a:outerShdw>
          </a:effectLst>
        </p:spPr>
      </p:sp>
      <p:sp>
        <p:nvSpPr>
          <p:cNvPr id="17" name="icon-bg"/>
          <p:cNvSpPr/>
          <p:nvPr/>
        </p:nvSpPr>
        <p:spPr>
          <a:xfrm>
            <a:off x="6455664" y="1737360"/>
            <a:ext cx="685800" cy="685800"/>
          </a:xfrm>
          <a:prstGeom prst="ellipse">
            <a:avLst/>
          </a:prstGeom>
          <a:solidFill>
            <a:srgbClr val="B57A0C"/>
          </a:solidFill>
          <a:ln w="12700">
            <a:solidFill>
              <a:srgbClr val="B57A0C"/>
            </a:solidFill>
            <a:prstDash val="solid"/>
          </a:ln>
        </p:spPr>
      </p:sp>
      <p:pic>
        <p:nvPicPr>
          <p:cNvPr id="18" name="icon" descr="preencoded.png">    </p:cNvPr>
          <p:cNvPicPr>
            <a:picLocks noChangeAspect="1"/>
          </p:cNvPicPr>
          <p:nvPr/>
        </p:nvPicPr>
        <p:blipFill>
          <a:blip r:embed="rId3"/>
          <a:stretch>
            <a:fillRect/>
          </a:stretch>
        </p:blipFill>
        <p:spPr>
          <a:xfrm>
            <a:off x="6620256" y="1901952"/>
            <a:ext cx="356616" cy="356616"/>
          </a:xfrm>
          <a:prstGeom prst="rect">
            <a:avLst/>
          </a:prstGeom>
        </p:spPr>
      </p:pic>
      <p:sp>
        <p:nvSpPr>
          <p:cNvPr id="19" name="Text 14"/>
          <p:cNvSpPr txBox="1"/>
          <p:nvPr/>
        </p:nvSpPr>
        <p:spPr>
          <a:xfrm>
            <a:off x="6455664" y="2606040"/>
            <a:ext cx="2148840" cy="685800"/>
          </a:xfrm>
          <a:prstGeom prst="rect">
            <a:avLst/>
          </a:prstGeom>
          <a:noFill/>
          <a:ln/>
        </p:spPr>
        <p:txBody>
          <a:bodyPr wrap="square" lIns="0" tIns="0" rIns="0" bIns="0" rtlCol="0" anchor="b"/>
          <a:lstStyle/>
          <a:p>
            <a:pPr indent="0" marL="0">
              <a:buNone/>
            </a:pPr>
            <a:r>
              <a:rPr lang="en-US" sz="1700" b="1" dirty="0">
                <a:solidFill>
                  <a:schemeClr val="tx1"/>
                </a:solidFill>
                <a:latin typeface="Arial" pitchFamily="34" charset="0"/>
                <a:ea typeface="Arial" pitchFamily="34" charset="-122"/>
                <a:cs typeface="Arial" pitchFamily="34" charset="-120"/>
              </a:rPr>
              <a:t>Security Guard</a:t>
            </a:r>
            <a:endParaRPr lang="en-US" sz="1700" dirty="0"/>
          </a:p>
        </p:txBody>
      </p:sp>
      <p:sp>
        <p:nvSpPr>
          <p:cNvPr id="20" name="Text 15"/>
          <p:cNvSpPr txBox="1"/>
          <p:nvPr/>
        </p:nvSpPr>
        <p:spPr>
          <a:xfrm>
            <a:off x="6455664" y="3337560"/>
            <a:ext cx="2148840" cy="365760"/>
          </a:xfrm>
          <a:prstGeom prst="rect">
            <a:avLst/>
          </a:prstGeom>
          <a:noFill/>
          <a:ln/>
        </p:spPr>
        <p:txBody>
          <a:bodyPr wrap="square" lIns="0" tIns="0" rIns="0" bIns="0" rtlCol="0" anchor="t"/>
          <a:lstStyle/>
          <a:p>
            <a:pPr indent="0" marL="0">
              <a:buNone/>
            </a:pPr>
            <a:r>
              <a:rPr lang="en-US" sz="1250" i="1" dirty="0">
                <a:solidFill>
                  <a:srgbClr val="B57A0C"/>
                </a:solidFill>
                <a:latin typeface="Calibri" pitchFamily="34" charset="0"/>
                <a:ea typeface="Calibri" pitchFamily="34" charset="-122"/>
                <a:cs typeface="Calibri" pitchFamily="34" charset="-120"/>
              </a:rPr>
              <a:t>Looks after the gate</a:t>
            </a:r>
            <a:endParaRPr lang="en-US" sz="1250" dirty="0"/>
          </a:p>
        </p:txBody>
      </p:sp>
      <p:sp>
        <p:nvSpPr>
          <p:cNvPr id="21" name="Text 16"/>
          <p:cNvSpPr txBox="1"/>
          <p:nvPr/>
        </p:nvSpPr>
        <p:spPr>
          <a:xfrm>
            <a:off x="6455664" y="3840480"/>
            <a:ext cx="2148840" cy="21031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5B6B78"/>
                </a:solidFill>
                <a:latin typeface="Calibri" pitchFamily="34" charset="0"/>
                <a:ea typeface="Calibri" pitchFamily="34" charset="-122"/>
                <a:cs typeface="Calibri" pitchFamily="34" charset="-120"/>
              </a:rPr>
              <a:t>Registers visitor entry and exit</a:t>
            </a:r>
            <a:endParaRPr lang="en-US" sz="1300" dirty="0"/>
          </a:p>
          <a:p>
            <a:pPr marL="177800" indent="-177800">
              <a:spcAft>
                <a:spcPts val="800"/>
              </a:spcAft>
              <a:buSzPct val="100000"/>
              <a:buChar char="•"/>
            </a:pPr>
            <a:r>
              <a:rPr lang="en-US" sz="1300" dirty="0">
                <a:solidFill>
                  <a:srgbClr val="5B6B78"/>
                </a:solidFill>
                <a:latin typeface="Calibri" pitchFamily="34" charset="0"/>
                <a:ea typeface="Calibri" pitchFamily="34" charset="-122"/>
                <a:cs typeface="Calibri" pitchFamily="34" charset="-120"/>
              </a:rPr>
              <a:t>Tracks vehicles at the gate</a:t>
            </a:r>
            <a:endParaRPr lang="en-US" sz="1300" dirty="0"/>
          </a:p>
          <a:p>
            <a:pPr marL="177800" indent="-177800">
              <a:spcAft>
                <a:spcPts val="800"/>
              </a:spcAft>
              <a:buSzPct val="100000"/>
              <a:buChar char="•"/>
            </a:pPr>
            <a:r>
              <a:rPr lang="en-US" sz="1300" dirty="0">
                <a:solidFill>
                  <a:srgbClr val="5B6B78"/>
                </a:solidFill>
                <a:latin typeface="Calibri" pitchFamily="34" charset="0"/>
                <a:ea typeface="Calibri" pitchFamily="34" charset="-122"/>
                <a:cs typeface="Calibri" pitchFamily="34" charset="-120"/>
              </a:rPr>
              <a:t>Logs patrol rounds on Day, Night or Reliever shift</a:t>
            </a:r>
            <a:endParaRPr lang="en-US" sz="1300" dirty="0"/>
          </a:p>
        </p:txBody>
      </p:sp>
      <p:sp>
        <p:nvSpPr>
          <p:cNvPr id="22" name="card"/>
          <p:cNvSpPr/>
          <p:nvPr/>
        </p:nvSpPr>
        <p:spPr>
          <a:xfrm>
            <a:off x="8997696" y="1463040"/>
            <a:ext cx="2606040" cy="4663440"/>
          </a:xfrm>
          <a:prstGeom prst="roundRect">
            <a:avLst>
              <a:gd name="adj" fmla="val 4211"/>
            </a:avLst>
          </a:prstGeom>
          <a:solidFill>
            <a:srgbClr val="FFFFFF"/>
          </a:solidFill>
          <a:ln w="9525">
            <a:solidFill>
              <a:srgbClr val="D5E3E3"/>
            </a:solidFill>
            <a:prstDash val="solid"/>
          </a:ln>
          <a:effectLst>
            <a:outerShdw sx="100000" sy="100000" kx="0" ky="0" algn="bl" rotWithShape="0" blurRad="152400" dist="38100" dir="5400000">
              <a:srgbClr val="0B2135">
                <a:alpha val="16000"/>
              </a:srgbClr>
            </a:outerShdw>
          </a:effectLst>
        </p:spPr>
      </p:sp>
      <p:sp>
        <p:nvSpPr>
          <p:cNvPr id="23" name="icon-bg"/>
          <p:cNvSpPr/>
          <p:nvPr/>
        </p:nvSpPr>
        <p:spPr>
          <a:xfrm>
            <a:off x="9272016" y="1737360"/>
            <a:ext cx="685800" cy="685800"/>
          </a:xfrm>
          <a:prstGeom prst="ellipse">
            <a:avLst/>
          </a:prstGeom>
          <a:solidFill>
            <a:srgbClr val="13A89E"/>
          </a:solidFill>
          <a:ln w="12700">
            <a:solidFill>
              <a:srgbClr val="13A89E"/>
            </a:solidFill>
            <a:prstDash val="solid"/>
          </a:ln>
        </p:spPr>
      </p:sp>
      <p:pic>
        <p:nvPicPr>
          <p:cNvPr id="24" name="icon" descr="preencoded.png">    </p:cNvPr>
          <p:cNvPicPr>
            <a:picLocks noChangeAspect="1"/>
          </p:cNvPicPr>
          <p:nvPr/>
        </p:nvPicPr>
        <p:blipFill>
          <a:blip r:embed="rId4"/>
          <a:stretch>
            <a:fillRect/>
          </a:stretch>
        </p:blipFill>
        <p:spPr>
          <a:xfrm>
            <a:off x="9436608" y="1901952"/>
            <a:ext cx="356616" cy="356616"/>
          </a:xfrm>
          <a:prstGeom prst="rect">
            <a:avLst/>
          </a:prstGeom>
        </p:spPr>
      </p:pic>
      <p:sp>
        <p:nvSpPr>
          <p:cNvPr id="25" name="Text 19"/>
          <p:cNvSpPr txBox="1"/>
          <p:nvPr/>
        </p:nvSpPr>
        <p:spPr>
          <a:xfrm>
            <a:off x="9272016" y="2606040"/>
            <a:ext cx="2148840" cy="685800"/>
          </a:xfrm>
          <a:prstGeom prst="rect">
            <a:avLst/>
          </a:prstGeom>
          <a:noFill/>
          <a:ln/>
        </p:spPr>
        <p:txBody>
          <a:bodyPr wrap="square" lIns="0" tIns="0" rIns="0" bIns="0" rtlCol="0" anchor="b"/>
          <a:lstStyle/>
          <a:p>
            <a:pPr indent="0" marL="0">
              <a:buNone/>
            </a:pPr>
            <a:r>
              <a:rPr lang="en-US" sz="1700" b="1" dirty="0">
                <a:solidFill>
                  <a:schemeClr val="tx1"/>
                </a:solidFill>
                <a:latin typeface="Arial" pitchFamily="34" charset="0"/>
                <a:ea typeface="Arial" pitchFamily="34" charset="-122"/>
                <a:cs typeface="Arial" pitchFamily="34" charset="-120"/>
              </a:rPr>
              <a:t>Community Member</a:t>
            </a:r>
            <a:endParaRPr lang="en-US" sz="1700" dirty="0"/>
          </a:p>
        </p:txBody>
      </p:sp>
      <p:sp>
        <p:nvSpPr>
          <p:cNvPr id="26" name="Text 20"/>
          <p:cNvSpPr txBox="1"/>
          <p:nvPr/>
        </p:nvSpPr>
        <p:spPr>
          <a:xfrm>
            <a:off x="9272016" y="3337560"/>
            <a:ext cx="2148840" cy="365760"/>
          </a:xfrm>
          <a:prstGeom prst="rect">
            <a:avLst/>
          </a:prstGeom>
          <a:noFill/>
          <a:ln/>
        </p:spPr>
        <p:txBody>
          <a:bodyPr wrap="square" lIns="0" tIns="0" rIns="0" bIns="0" rtlCol="0" anchor="t"/>
          <a:lstStyle/>
          <a:p>
            <a:pPr indent="0" marL="0">
              <a:buNone/>
            </a:pPr>
            <a:r>
              <a:rPr lang="en-US" sz="1250" i="1" dirty="0">
                <a:solidFill>
                  <a:srgbClr val="13A89E"/>
                </a:solidFill>
                <a:latin typeface="Calibri" pitchFamily="34" charset="0"/>
                <a:ea typeface="Calibri" pitchFamily="34" charset="-122"/>
                <a:cs typeface="Calibri" pitchFamily="34" charset="-120"/>
              </a:rPr>
              <a:t>Sees everything that matters</a:t>
            </a:r>
            <a:endParaRPr lang="en-US" sz="1250" dirty="0"/>
          </a:p>
        </p:txBody>
      </p:sp>
      <p:sp>
        <p:nvSpPr>
          <p:cNvPr id="27" name="Text 21"/>
          <p:cNvSpPr txBox="1"/>
          <p:nvPr/>
        </p:nvSpPr>
        <p:spPr>
          <a:xfrm>
            <a:off x="9272016" y="3840480"/>
            <a:ext cx="2148840" cy="21031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5B6B78"/>
                </a:solidFill>
                <a:latin typeface="Calibri" pitchFamily="34" charset="0"/>
                <a:ea typeface="Calibri" pitchFamily="34" charset="-122"/>
                <a:cs typeface="Calibri" pitchFamily="34" charset="-120"/>
              </a:rPr>
              <a:t>Reports security issues</a:t>
            </a:r>
            <a:endParaRPr lang="en-US" sz="1300" dirty="0"/>
          </a:p>
          <a:p>
            <a:pPr marL="177800" indent="-177800">
              <a:spcAft>
                <a:spcPts val="800"/>
              </a:spcAft>
              <a:buSzPct val="100000"/>
              <a:buChar char="•"/>
            </a:pPr>
            <a:r>
              <a:rPr lang="en-US" sz="1300" dirty="0">
                <a:solidFill>
                  <a:srgbClr val="5B6B78"/>
                </a:solidFill>
                <a:latin typeface="Calibri" pitchFamily="34" charset="0"/>
                <a:ea typeface="Calibri" pitchFamily="34" charset="-122"/>
                <a:cs typeface="Calibri" pitchFamily="34" charset="-120"/>
              </a:rPr>
              <a:t>Views CCTV health and payment status</a:t>
            </a:r>
            <a:endParaRPr lang="en-US" sz="1300" dirty="0"/>
          </a:p>
          <a:p>
            <a:pPr marL="177800" indent="-177800">
              <a:spcAft>
                <a:spcPts val="800"/>
              </a:spcAft>
              <a:buSzPct val="100000"/>
              <a:buChar char="•"/>
            </a:pPr>
            <a:r>
              <a:rPr lang="en-US" sz="1300" dirty="0">
                <a:solidFill>
                  <a:srgbClr val="5B6B78"/>
                </a:solidFill>
                <a:latin typeface="Calibri" pitchFamily="34" charset="0"/>
                <a:ea typeface="Calibri" pitchFamily="34" charset="-122"/>
                <a:cs typeface="Calibri" pitchFamily="34" charset="-120"/>
              </a:rPr>
              <a:t>Reads notices and finds service providers</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t"/>
          <a:lstStyle/>
          <a:p>
            <a:pPr indent="0" marL="0">
              <a:buNone/>
            </a:pPr>
            <a:r>
              <a:rPr lang="en-US" sz="1100" b="1" spc="300" kern="0" dirty="0">
                <a:solidFill>
                  <a:srgbClr val="0E7C76"/>
                </a:solidFill>
                <a:latin typeface="Calibri" pitchFamily="34" charset="0"/>
                <a:ea typeface="Calibri" pitchFamily="34" charset="-122"/>
                <a:cs typeface="Calibri" pitchFamily="34" charset="-120"/>
              </a:rPr>
              <a:t>ROLE-BASED ACCESS</a:t>
            </a:r>
            <a:endParaRPr lang="en-US" sz="1100" dirty="0"/>
          </a:p>
        </p:txBody>
      </p:sp>
      <p:sp>
        <p:nvSpPr>
          <p:cNvPr id="3" name="Text 1"/>
          <p:cNvSpPr/>
          <p:nvPr>
            <p:ph idx="101" type="title" hasCustomPrompt="1"/>
          </p:nvPr>
        </p:nvSpPr>
        <p:spPr>
          <a:xfrm>
            <a:off x="548640" y="457200"/>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Each role sees exactly what it needs</a:t>
            </a:r>
            <a:endParaRPr lang="en-US" sz="3000" dirty="0"/>
          </a:p>
        </p:txBody>
      </p:sp>
      <p:graphicFrame>
        <p:nvGraphicFramePr>
          <p:cNvPr id="6" name="access-matrix"/>
          <p:cNvGraphicFramePr>
            <a:graphicFrameLocks noGrp="1"/>
          </p:cNvGraphicFramePr>
          <p:nvPr>
            <p:extLst>
              <p:ext uri="{D42A27DB-BD31-4B8C-83A1-F6EECF244321}">
                <p14:modId xmlns:p14="http://schemas.microsoft.com/office/powerpoint/2010/main" val="1579011935"/>
              </p:ext>
            </p:extLst>
          </p:nvPr>
        </p:nvGraphicFramePr>
        <p:xfrm>
          <a:off x="548640" y="1325880"/>
          <a:ext cx="6949440" cy="914400"/>
        </p:xfrm>
        <a:graphic>
          <a:graphicData uri="http://schemas.openxmlformats.org/drawingml/2006/table">
            <a:tbl>
              <a:tblPr/>
              <a:tblGrid>
                <a:gridCol w="2194560"/>
                <a:gridCol w="1188720"/>
                <a:gridCol w="1188720"/>
                <a:gridCol w="1188720"/>
                <a:gridCol w="1188720"/>
              </a:tblGrid>
              <a:tr h="294437">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Module</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0B213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Super Admin</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0B213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Volunteer</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0B213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Guard</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0B213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Resident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0B2135"/>
                    </a:solidFill>
                  </a:tcPr>
                </a:tc>
              </a:tr>
              <a:tr h="294437">
                <a:tc>
                  <a:txBody>
                    <a:bodyPr/>
                    <a:lstStyle/>
                    <a:p>
                      <a:pPr indent="0" marL="0">
                        <a:buNone/>
                      </a:pPr>
                      <a:r>
                        <a:rPr lang="en-US" sz="1150" dirty="0">
                          <a:solidFill>
                            <a:srgbClr val="0B2135"/>
                          </a:solidFill>
                          <a:latin typeface="Calibri" pitchFamily="34" charset="0"/>
                          <a:ea typeface="Calibri" pitchFamily="34" charset="-122"/>
                          <a:cs typeface="Calibri" pitchFamily="34" charset="-120"/>
                        </a:rPr>
                        <a:t>Dashboard</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r>
              <a:tr h="294437">
                <a:tc>
                  <a:txBody>
                    <a:bodyPr/>
                    <a:lstStyle/>
                    <a:p>
                      <a:pPr indent="0" marL="0">
                        <a:buNone/>
                      </a:pPr>
                      <a:r>
                        <a:rPr lang="en-US" sz="1150" dirty="0">
                          <a:solidFill>
                            <a:srgbClr val="0B2135"/>
                          </a:solidFill>
                          <a:latin typeface="Calibri" pitchFamily="34" charset="0"/>
                          <a:ea typeface="Calibri" pitchFamily="34" charset="-122"/>
                          <a:cs typeface="Calibri" pitchFamily="34" charset="-120"/>
                        </a:rPr>
                        <a:t>Security Issues</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r>
              <a:tr h="294437">
                <a:tc>
                  <a:txBody>
                    <a:bodyPr/>
                    <a:lstStyle/>
                    <a:p>
                      <a:pPr indent="0" marL="0">
                        <a:buNone/>
                      </a:pPr>
                      <a:r>
                        <a:rPr lang="en-US" sz="1150" dirty="0">
                          <a:solidFill>
                            <a:srgbClr val="0B2135"/>
                          </a:solidFill>
                          <a:latin typeface="Calibri" pitchFamily="34" charset="0"/>
                          <a:ea typeface="Calibri" pitchFamily="34" charset="-122"/>
                          <a:cs typeface="Calibri" pitchFamily="34" charset="-120"/>
                        </a:rPr>
                        <a:t>CCTV Cameras</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dirty="0">
                          <a:solidFill>
                            <a:srgbClr val="B5C2C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r>
              <a:tr h="294437">
                <a:tc>
                  <a:txBody>
                    <a:bodyPr/>
                    <a:lstStyle/>
                    <a:p>
                      <a:pPr indent="0" marL="0">
                        <a:buNone/>
                      </a:pPr>
                      <a:r>
                        <a:rPr lang="en-US" sz="1150" dirty="0">
                          <a:solidFill>
                            <a:srgbClr val="0B2135"/>
                          </a:solidFill>
                          <a:latin typeface="Calibri" pitchFamily="34" charset="0"/>
                          <a:ea typeface="Calibri" pitchFamily="34" charset="-122"/>
                          <a:cs typeface="Calibri" pitchFamily="34" charset="-120"/>
                        </a:rPr>
                        <a:t>Street Lights</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B5C2C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B5C2C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r>
              <a:tr h="294437">
                <a:tc>
                  <a:txBody>
                    <a:bodyPr/>
                    <a:lstStyle/>
                    <a:p>
                      <a:pPr indent="0" marL="0">
                        <a:buNone/>
                      </a:pPr>
                      <a:r>
                        <a:rPr lang="en-US" sz="1150" dirty="0">
                          <a:solidFill>
                            <a:srgbClr val="0B2135"/>
                          </a:solidFill>
                          <a:latin typeface="Calibri" pitchFamily="34" charset="0"/>
                          <a:ea typeface="Calibri" pitchFamily="34" charset="-122"/>
                          <a:cs typeface="Calibri" pitchFamily="34" charset="-120"/>
                        </a:rPr>
                        <a:t>Visitors</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dirty="0">
                          <a:solidFill>
                            <a:srgbClr val="B5C2C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r>
              <a:tr h="294437">
                <a:tc>
                  <a:txBody>
                    <a:bodyPr/>
                    <a:lstStyle/>
                    <a:p>
                      <a:pPr indent="0" marL="0">
                        <a:buNone/>
                      </a:pPr>
                      <a:r>
                        <a:rPr lang="en-US" sz="1150" dirty="0">
                          <a:solidFill>
                            <a:srgbClr val="0B2135"/>
                          </a:solidFill>
                          <a:latin typeface="Calibri" pitchFamily="34" charset="0"/>
                          <a:ea typeface="Calibri" pitchFamily="34" charset="-122"/>
                          <a:cs typeface="Calibri" pitchFamily="34" charset="-120"/>
                        </a:rPr>
                        <a:t>Vehicles</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B5C2C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r>
              <a:tr h="294437">
                <a:tc>
                  <a:txBody>
                    <a:bodyPr/>
                    <a:lstStyle/>
                    <a:p>
                      <a:pPr indent="0" marL="0">
                        <a:buNone/>
                      </a:pPr>
                      <a:r>
                        <a:rPr lang="en-US" sz="1150" dirty="0">
                          <a:solidFill>
                            <a:srgbClr val="0B2135"/>
                          </a:solidFill>
                          <a:latin typeface="Calibri" pitchFamily="34" charset="0"/>
                          <a:ea typeface="Calibri" pitchFamily="34" charset="-122"/>
                          <a:cs typeface="Calibri" pitchFamily="34" charset="-120"/>
                        </a:rPr>
                        <a:t>Guard Rounds</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dirty="0">
                          <a:solidFill>
                            <a:srgbClr val="B5C2C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r>
              <a:tr h="294437">
                <a:tc>
                  <a:txBody>
                    <a:bodyPr/>
                    <a:lstStyle/>
                    <a:p>
                      <a:pPr indent="0" marL="0">
                        <a:buNone/>
                      </a:pPr>
                      <a:r>
                        <a:rPr lang="en-US" sz="1150" dirty="0">
                          <a:solidFill>
                            <a:srgbClr val="0B2135"/>
                          </a:solidFill>
                          <a:latin typeface="Calibri" pitchFamily="34" charset="0"/>
                          <a:ea typeface="Calibri" pitchFamily="34" charset="-122"/>
                          <a:cs typeface="Calibri" pitchFamily="34" charset="-120"/>
                        </a:rPr>
                        <a:t>Association</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B5C2C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B5C2C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r>
              <a:tr h="294437">
                <a:tc>
                  <a:txBody>
                    <a:bodyPr/>
                    <a:lstStyle/>
                    <a:p>
                      <a:pPr indent="0" marL="0">
                        <a:buNone/>
                      </a:pPr>
                      <a:r>
                        <a:rPr lang="en-US" sz="1150" dirty="0">
                          <a:solidFill>
                            <a:srgbClr val="0B2135"/>
                          </a:solidFill>
                          <a:latin typeface="Calibri" pitchFamily="34" charset="0"/>
                          <a:ea typeface="Calibri" pitchFamily="34" charset="-122"/>
                          <a:cs typeface="Calibri" pitchFamily="34" charset="-120"/>
                        </a:rPr>
                        <a:t>Payments</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dirty="0">
                          <a:solidFill>
                            <a:srgbClr val="B5C2C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r>
              <a:tr h="294437">
                <a:tc>
                  <a:txBody>
                    <a:bodyPr/>
                    <a:lstStyle/>
                    <a:p>
                      <a:pPr indent="0" marL="0">
                        <a:buNone/>
                      </a:pPr>
                      <a:r>
                        <a:rPr lang="en-US" sz="1150" dirty="0">
                          <a:solidFill>
                            <a:srgbClr val="0B2135"/>
                          </a:solidFill>
                          <a:latin typeface="Calibri" pitchFamily="34" charset="0"/>
                          <a:ea typeface="Calibri" pitchFamily="34" charset="-122"/>
                          <a:cs typeface="Calibri" pitchFamily="34" charset="-120"/>
                        </a:rPr>
                        <a:t>Expenses</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B5C2C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B5C2C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r>
              <a:tr h="294437">
                <a:tc>
                  <a:txBody>
                    <a:bodyPr/>
                    <a:lstStyle/>
                    <a:p>
                      <a:pPr indent="0" marL="0">
                        <a:buNone/>
                      </a:pPr>
                      <a:r>
                        <a:rPr lang="en-US" sz="1150" dirty="0">
                          <a:solidFill>
                            <a:srgbClr val="0B2135"/>
                          </a:solidFill>
                          <a:latin typeface="Calibri" pitchFamily="34" charset="0"/>
                          <a:ea typeface="Calibri" pitchFamily="34" charset="-122"/>
                          <a:cs typeface="Calibri" pitchFamily="34" charset="-120"/>
                        </a:rPr>
                        <a:t>Services</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r>
              <a:tr h="294437">
                <a:tc>
                  <a:txBody>
                    <a:bodyPr/>
                    <a:lstStyle/>
                    <a:p>
                      <a:pPr indent="0" marL="0">
                        <a:buNone/>
                      </a:pPr>
                      <a:r>
                        <a:rPr lang="en-US" sz="1150" dirty="0">
                          <a:solidFill>
                            <a:srgbClr val="0B2135"/>
                          </a:solidFill>
                          <a:latin typeface="Calibri" pitchFamily="34" charset="0"/>
                          <a:ea typeface="Calibri" pitchFamily="34" charset="-122"/>
                          <a:cs typeface="Calibri" pitchFamily="34" charset="-120"/>
                        </a:rPr>
                        <a:t>Announcements</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r>
              <a:tr h="294437">
                <a:tc>
                  <a:txBody>
                    <a:bodyPr/>
                    <a:lstStyle/>
                    <a:p>
                      <a:pPr indent="0" marL="0">
                        <a:buNone/>
                      </a:pPr>
                      <a:r>
                        <a:rPr lang="en-US" sz="1150" dirty="0">
                          <a:solidFill>
                            <a:srgbClr val="0B2135"/>
                          </a:solidFill>
                          <a:latin typeface="Calibri" pitchFamily="34" charset="0"/>
                          <a:ea typeface="Calibri" pitchFamily="34" charset="-122"/>
                          <a:cs typeface="Calibri" pitchFamily="34" charset="-120"/>
                        </a:rPr>
                        <a:t>Reports</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dirty="0">
                          <a:solidFill>
                            <a:srgbClr val="B5C2C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dirty="0">
                          <a:solidFill>
                            <a:srgbClr val="B5C2C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r>
              <a:tr h="294437">
                <a:tc>
                  <a:txBody>
                    <a:bodyPr/>
                    <a:lstStyle/>
                    <a:p>
                      <a:pPr indent="0" marL="0">
                        <a:buNone/>
                      </a:pPr>
                      <a:r>
                        <a:rPr lang="en-US" sz="1150" dirty="0">
                          <a:solidFill>
                            <a:srgbClr val="0B2135"/>
                          </a:solidFill>
                          <a:latin typeface="Calibri" pitchFamily="34" charset="0"/>
                          <a:ea typeface="Calibri" pitchFamily="34" charset="-122"/>
                          <a:cs typeface="Calibri" pitchFamily="34" charset="-120"/>
                        </a:rPr>
                        <a:t>Settings</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B5C2C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B5C2C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B5C2C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r>
              <a:tr h="294437">
                <a:tc>
                  <a:txBody>
                    <a:bodyPr/>
                    <a:lstStyle/>
                    <a:p>
                      <a:pPr indent="0" marL="0">
                        <a:buNone/>
                      </a:pPr>
                      <a:r>
                        <a:rPr lang="en-US" sz="1150" dirty="0">
                          <a:solidFill>
                            <a:srgbClr val="0B2135"/>
                          </a:solidFill>
                          <a:latin typeface="Calibri" pitchFamily="34" charset="0"/>
                          <a:ea typeface="Calibri" pitchFamily="34" charset="-122"/>
                          <a:cs typeface="Calibri" pitchFamily="34" charset="-120"/>
                        </a:rPr>
                        <a:t>Users</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b="1" dirty="0">
                          <a:solidFill>
                            <a:srgbClr val="0E7C7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dirty="0">
                          <a:solidFill>
                            <a:srgbClr val="B5C2C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dirty="0">
                          <a:solidFill>
                            <a:srgbClr val="B5C2C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c>
                  <a:txBody>
                    <a:bodyPr/>
                    <a:lstStyle/>
                    <a:p>
                      <a:pPr algn="ctr" indent="0" marL="0">
                        <a:buNone/>
                      </a:pPr>
                      <a:r>
                        <a:rPr lang="en-US" sz="1150" dirty="0">
                          <a:solidFill>
                            <a:srgbClr val="B5C2C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73152" marT="18288" marB="18288"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1F7F7"/>
                    </a:solidFill>
                  </a:tcPr>
                </a:tc>
              </a:tr>
            </a:tbl>
          </a:graphicData>
        </a:graphic>
      </p:graphicFrame>
      <p:sp>
        <p:nvSpPr>
          <p:cNvPr id="5" name="Text 2"/>
          <p:cNvSpPr txBox="1"/>
          <p:nvPr/>
        </p:nvSpPr>
        <p:spPr>
          <a:xfrm>
            <a:off x="8001000" y="1325880"/>
            <a:ext cx="3657600" cy="320040"/>
          </a:xfrm>
          <a:prstGeom prst="rect">
            <a:avLst/>
          </a:prstGeom>
          <a:noFill/>
          <a:ln/>
        </p:spPr>
        <p:txBody>
          <a:bodyPr wrap="square" lIns="0" tIns="0" rIns="0" bIns="0" rtlCol="0" anchor="t"/>
          <a:lstStyle/>
          <a:p>
            <a:pPr indent="0" marL="0">
              <a:buNone/>
            </a:pPr>
            <a:r>
              <a:rPr lang="en-US" sz="1400" b="1" dirty="0">
                <a:solidFill>
                  <a:srgbClr val="5B6B78"/>
                </a:solidFill>
                <a:latin typeface="Calibri" pitchFamily="34" charset="0"/>
                <a:ea typeface="Calibri" pitchFamily="34" charset="-122"/>
                <a:cs typeface="Calibri" pitchFamily="34" charset="-120"/>
              </a:rPr>
              <a:t>Modules visible in the sidebar</a:t>
            </a:r>
            <a:endParaRPr lang="en-US" sz="1400" dirty="0"/>
          </a:p>
        </p:txBody>
      </p:sp>
      <p:sp>
        <p:nvSpPr>
          <p:cNvPr id="6" name="count-card"/>
          <p:cNvSpPr/>
          <p:nvPr/>
        </p:nvSpPr>
        <p:spPr>
          <a:xfrm>
            <a:off x="8001000" y="1783080"/>
            <a:ext cx="1691640" cy="1234440"/>
          </a:xfrm>
          <a:prstGeom prst="roundRect">
            <a:avLst>
              <a:gd name="adj" fmla="val 8889"/>
            </a:avLst>
          </a:prstGeom>
          <a:solidFill>
            <a:srgbClr val="0B2135"/>
          </a:solidFill>
          <a:ln w="9525">
            <a:solidFill>
              <a:srgbClr val="0B2135"/>
            </a:solidFill>
            <a:prstDash val="solid"/>
          </a:ln>
        </p:spPr>
      </p:sp>
      <p:sp>
        <p:nvSpPr>
          <p:cNvPr id="7" name="Text 4"/>
          <p:cNvSpPr txBox="1"/>
          <p:nvPr/>
        </p:nvSpPr>
        <p:spPr>
          <a:xfrm>
            <a:off x="8183880" y="1892808"/>
            <a:ext cx="1371600" cy="640080"/>
          </a:xfrm>
          <a:prstGeom prst="rect">
            <a:avLst/>
          </a:prstGeom>
          <a:noFill/>
          <a:ln/>
        </p:spPr>
        <p:txBody>
          <a:bodyPr wrap="square" lIns="0" tIns="0" rIns="0" bIns="0" rtlCol="0" anchor="t"/>
          <a:lstStyle/>
          <a:p>
            <a:pPr indent="0" marL="0">
              <a:buNone/>
            </a:pPr>
            <a:r>
              <a:rPr lang="en-US" sz="3600" b="1" dirty="0">
                <a:solidFill>
                  <a:srgbClr val="F4B942"/>
                </a:solidFill>
                <a:latin typeface="Arial" pitchFamily="34" charset="0"/>
                <a:ea typeface="Arial" pitchFamily="34" charset="-122"/>
                <a:cs typeface="Arial" pitchFamily="34" charset="-120"/>
              </a:rPr>
              <a:t>15</a:t>
            </a:r>
            <a:endParaRPr lang="en-US" sz="3600" dirty="0"/>
          </a:p>
        </p:txBody>
      </p:sp>
      <p:sp>
        <p:nvSpPr>
          <p:cNvPr id="8" name="Text 5"/>
          <p:cNvSpPr txBox="1"/>
          <p:nvPr/>
        </p:nvSpPr>
        <p:spPr>
          <a:xfrm>
            <a:off x="8183880" y="2560320"/>
            <a:ext cx="1463040" cy="3200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Super Admin</a:t>
            </a:r>
            <a:endParaRPr lang="en-US" sz="1200" dirty="0"/>
          </a:p>
        </p:txBody>
      </p:sp>
      <p:sp>
        <p:nvSpPr>
          <p:cNvPr id="9" name="count-card"/>
          <p:cNvSpPr/>
          <p:nvPr/>
        </p:nvSpPr>
        <p:spPr>
          <a:xfrm>
            <a:off x="9875520" y="1783080"/>
            <a:ext cx="1691640" cy="1234440"/>
          </a:xfrm>
          <a:prstGeom prst="roundRect">
            <a:avLst>
              <a:gd name="adj" fmla="val 8889"/>
            </a:avLst>
          </a:prstGeom>
          <a:solidFill>
            <a:srgbClr val="E6F4F2"/>
          </a:solidFill>
          <a:ln w="9525">
            <a:solidFill>
              <a:srgbClr val="E6F4F2"/>
            </a:solidFill>
            <a:prstDash val="solid"/>
          </a:ln>
        </p:spPr>
      </p:sp>
      <p:sp>
        <p:nvSpPr>
          <p:cNvPr id="10" name="Text 7"/>
          <p:cNvSpPr txBox="1"/>
          <p:nvPr/>
        </p:nvSpPr>
        <p:spPr>
          <a:xfrm>
            <a:off x="10058400" y="1892808"/>
            <a:ext cx="1371600" cy="640080"/>
          </a:xfrm>
          <a:prstGeom prst="rect">
            <a:avLst/>
          </a:prstGeom>
          <a:noFill/>
          <a:ln/>
        </p:spPr>
        <p:txBody>
          <a:bodyPr wrap="square" lIns="0" tIns="0" rIns="0" bIns="0" rtlCol="0" anchor="t"/>
          <a:lstStyle/>
          <a:p>
            <a:pPr indent="0" marL="0">
              <a:buNone/>
            </a:pPr>
            <a:r>
              <a:rPr lang="en-US" sz="3600" b="1" dirty="0">
                <a:solidFill>
                  <a:srgbClr val="0E7C76"/>
                </a:solidFill>
                <a:latin typeface="Arial" pitchFamily="34" charset="0"/>
                <a:ea typeface="Arial" pitchFamily="34" charset="-122"/>
                <a:cs typeface="Arial" pitchFamily="34" charset="-120"/>
              </a:rPr>
              <a:t>13</a:t>
            </a:r>
            <a:endParaRPr lang="en-US" sz="3600" dirty="0"/>
          </a:p>
        </p:txBody>
      </p:sp>
      <p:sp>
        <p:nvSpPr>
          <p:cNvPr id="11" name="Text 8"/>
          <p:cNvSpPr txBox="1"/>
          <p:nvPr/>
        </p:nvSpPr>
        <p:spPr>
          <a:xfrm>
            <a:off x="10058400" y="2560320"/>
            <a:ext cx="1463040" cy="320040"/>
          </a:xfrm>
          <a:prstGeom prst="rect">
            <a:avLst/>
          </a:prstGeom>
          <a:noFill/>
          <a:ln/>
        </p:spPr>
        <p:txBody>
          <a:bodyPr wrap="square" lIns="0" tIns="0" rIns="0" bIns="0" rtlCol="0" anchor="t"/>
          <a:lstStyle/>
          <a:p>
            <a:pPr indent="0" marL="0">
              <a:buNone/>
            </a:pPr>
            <a:r>
              <a:rPr lang="en-US" sz="1200" dirty="0">
                <a:solidFill>
                  <a:srgbClr val="0B2135"/>
                </a:solidFill>
                <a:latin typeface="Calibri" pitchFamily="34" charset="0"/>
                <a:ea typeface="Calibri" pitchFamily="34" charset="-122"/>
                <a:cs typeface="Calibri" pitchFamily="34" charset="-120"/>
              </a:rPr>
              <a:t>Volunteer</a:t>
            </a:r>
            <a:endParaRPr lang="en-US" sz="1200" dirty="0"/>
          </a:p>
        </p:txBody>
      </p:sp>
      <p:sp>
        <p:nvSpPr>
          <p:cNvPr id="12" name="count-card"/>
          <p:cNvSpPr/>
          <p:nvPr/>
        </p:nvSpPr>
        <p:spPr>
          <a:xfrm>
            <a:off x="8001000" y="3200400"/>
            <a:ext cx="1691640" cy="1234440"/>
          </a:xfrm>
          <a:prstGeom prst="roundRect">
            <a:avLst>
              <a:gd name="adj" fmla="val 8889"/>
            </a:avLst>
          </a:prstGeom>
          <a:solidFill>
            <a:srgbClr val="E6F4F2"/>
          </a:solidFill>
          <a:ln w="9525">
            <a:solidFill>
              <a:srgbClr val="E6F4F2"/>
            </a:solidFill>
            <a:prstDash val="solid"/>
          </a:ln>
        </p:spPr>
      </p:sp>
      <p:sp>
        <p:nvSpPr>
          <p:cNvPr id="13" name="Text 10"/>
          <p:cNvSpPr txBox="1"/>
          <p:nvPr/>
        </p:nvSpPr>
        <p:spPr>
          <a:xfrm>
            <a:off x="8183880" y="3310128"/>
            <a:ext cx="1371600" cy="640080"/>
          </a:xfrm>
          <a:prstGeom prst="rect">
            <a:avLst/>
          </a:prstGeom>
          <a:noFill/>
          <a:ln/>
        </p:spPr>
        <p:txBody>
          <a:bodyPr wrap="square" lIns="0" tIns="0" rIns="0" bIns="0" rtlCol="0" anchor="t"/>
          <a:lstStyle/>
          <a:p>
            <a:pPr indent="0" marL="0">
              <a:buNone/>
            </a:pPr>
            <a:r>
              <a:rPr lang="en-US" sz="3600" b="1" dirty="0">
                <a:solidFill>
                  <a:srgbClr val="0E7C76"/>
                </a:solidFill>
                <a:latin typeface="Arial" pitchFamily="34" charset="0"/>
                <a:ea typeface="Arial" pitchFamily="34" charset="-122"/>
                <a:cs typeface="Arial" pitchFamily="34" charset="-120"/>
              </a:rPr>
              <a:t>7</a:t>
            </a:r>
            <a:endParaRPr lang="en-US" sz="3600" dirty="0"/>
          </a:p>
        </p:txBody>
      </p:sp>
      <p:sp>
        <p:nvSpPr>
          <p:cNvPr id="14" name="Text 11"/>
          <p:cNvSpPr txBox="1"/>
          <p:nvPr/>
        </p:nvSpPr>
        <p:spPr>
          <a:xfrm>
            <a:off x="8183880" y="3977640"/>
            <a:ext cx="1463040" cy="320040"/>
          </a:xfrm>
          <a:prstGeom prst="rect">
            <a:avLst/>
          </a:prstGeom>
          <a:noFill/>
          <a:ln/>
        </p:spPr>
        <p:txBody>
          <a:bodyPr wrap="square" lIns="0" tIns="0" rIns="0" bIns="0" rtlCol="0" anchor="t"/>
          <a:lstStyle/>
          <a:p>
            <a:pPr indent="0" marL="0">
              <a:buNone/>
            </a:pPr>
            <a:r>
              <a:rPr lang="en-US" sz="1200" dirty="0">
                <a:solidFill>
                  <a:srgbClr val="0B2135"/>
                </a:solidFill>
                <a:latin typeface="Calibri" pitchFamily="34" charset="0"/>
                <a:ea typeface="Calibri" pitchFamily="34" charset="-122"/>
                <a:cs typeface="Calibri" pitchFamily="34" charset="-120"/>
              </a:rPr>
              <a:t>Security Guard</a:t>
            </a:r>
            <a:endParaRPr lang="en-US" sz="1200" dirty="0"/>
          </a:p>
        </p:txBody>
      </p:sp>
      <p:sp>
        <p:nvSpPr>
          <p:cNvPr id="15" name="count-card"/>
          <p:cNvSpPr/>
          <p:nvPr/>
        </p:nvSpPr>
        <p:spPr>
          <a:xfrm>
            <a:off x="9875520" y="3200400"/>
            <a:ext cx="1691640" cy="1234440"/>
          </a:xfrm>
          <a:prstGeom prst="roundRect">
            <a:avLst>
              <a:gd name="adj" fmla="val 8889"/>
            </a:avLst>
          </a:prstGeom>
          <a:solidFill>
            <a:srgbClr val="E6F4F2"/>
          </a:solidFill>
          <a:ln w="9525">
            <a:solidFill>
              <a:srgbClr val="E6F4F2"/>
            </a:solidFill>
            <a:prstDash val="solid"/>
          </a:ln>
        </p:spPr>
      </p:sp>
      <p:sp>
        <p:nvSpPr>
          <p:cNvPr id="16" name="Text 13"/>
          <p:cNvSpPr txBox="1"/>
          <p:nvPr/>
        </p:nvSpPr>
        <p:spPr>
          <a:xfrm>
            <a:off x="10058400" y="3310128"/>
            <a:ext cx="1371600" cy="640080"/>
          </a:xfrm>
          <a:prstGeom prst="rect">
            <a:avLst/>
          </a:prstGeom>
          <a:noFill/>
          <a:ln/>
        </p:spPr>
        <p:txBody>
          <a:bodyPr wrap="square" lIns="0" tIns="0" rIns="0" bIns="0" rtlCol="0" anchor="t"/>
          <a:lstStyle/>
          <a:p>
            <a:pPr indent="0" marL="0">
              <a:buNone/>
            </a:pPr>
            <a:r>
              <a:rPr lang="en-US" sz="3600" b="1" dirty="0">
                <a:solidFill>
                  <a:srgbClr val="0E7C76"/>
                </a:solidFill>
                <a:latin typeface="Arial" pitchFamily="34" charset="0"/>
                <a:ea typeface="Arial" pitchFamily="34" charset="-122"/>
                <a:cs typeface="Arial" pitchFamily="34" charset="-120"/>
              </a:rPr>
              <a:t>6</a:t>
            </a:r>
            <a:endParaRPr lang="en-US" sz="3600" dirty="0"/>
          </a:p>
        </p:txBody>
      </p:sp>
      <p:sp>
        <p:nvSpPr>
          <p:cNvPr id="17" name="Text 14"/>
          <p:cNvSpPr txBox="1"/>
          <p:nvPr/>
        </p:nvSpPr>
        <p:spPr>
          <a:xfrm>
            <a:off x="10058400" y="3977640"/>
            <a:ext cx="1463040" cy="320040"/>
          </a:xfrm>
          <a:prstGeom prst="rect">
            <a:avLst/>
          </a:prstGeom>
          <a:noFill/>
          <a:ln/>
        </p:spPr>
        <p:txBody>
          <a:bodyPr wrap="square" lIns="0" tIns="0" rIns="0" bIns="0" rtlCol="0" anchor="t"/>
          <a:lstStyle/>
          <a:p>
            <a:pPr indent="0" marL="0">
              <a:buNone/>
            </a:pPr>
            <a:r>
              <a:rPr lang="en-US" sz="1200" dirty="0">
                <a:solidFill>
                  <a:srgbClr val="0B2135"/>
                </a:solidFill>
                <a:latin typeface="Calibri" pitchFamily="34" charset="0"/>
                <a:ea typeface="Calibri" pitchFamily="34" charset="-122"/>
                <a:cs typeface="Calibri" pitchFamily="34" charset="-120"/>
              </a:rPr>
              <a:t>Resident</a:t>
            </a:r>
            <a:endParaRPr lang="en-US" sz="1200" dirty="0"/>
          </a:p>
        </p:txBody>
      </p:sp>
      <p:sp>
        <p:nvSpPr>
          <p:cNvPr id="18" name="note"/>
          <p:cNvSpPr/>
          <p:nvPr/>
        </p:nvSpPr>
        <p:spPr>
          <a:xfrm>
            <a:off x="8001000" y="4709160"/>
            <a:ext cx="3611880" cy="1371600"/>
          </a:xfrm>
          <a:prstGeom prst="roundRect">
            <a:avLst>
              <a:gd name="adj" fmla="val 8000"/>
            </a:avLst>
          </a:prstGeom>
          <a:solidFill>
            <a:srgbClr val="F1F7F7"/>
          </a:solidFill>
          <a:ln w="9525">
            <a:solidFill>
              <a:srgbClr val="F1F7F7"/>
            </a:solidFill>
            <a:prstDash val="solid"/>
          </a:ln>
        </p:spPr>
      </p:sp>
      <p:sp>
        <p:nvSpPr>
          <p:cNvPr id="19" name="Text 16"/>
          <p:cNvSpPr txBox="1"/>
          <p:nvPr/>
        </p:nvSpPr>
        <p:spPr>
          <a:xfrm>
            <a:off x="8183880" y="4846320"/>
            <a:ext cx="3291840" cy="1143000"/>
          </a:xfrm>
          <a:prstGeom prst="rect">
            <a:avLst/>
          </a:prstGeom>
          <a:noFill/>
          <a:ln/>
        </p:spPr>
        <p:txBody>
          <a:bodyPr wrap="square" lIns="0" tIns="0" rIns="0" bIns="0" rtlCol="0" anchor="t"/>
          <a:lstStyle/>
          <a:p>
            <a:pPr indent="0" marL="0">
              <a:buNone/>
            </a:pPr>
            <a:r>
              <a:rPr lang="en-US" sz="1250" b="1" dirty="0">
                <a:solidFill>
                  <a:srgbClr val="0B2135"/>
                </a:solidFill>
                <a:latin typeface="Calibri" pitchFamily="34" charset="0"/>
                <a:ea typeface="Calibri" pitchFamily="34" charset="-122"/>
                <a:cs typeface="Calibri" pitchFamily="34" charset="-120"/>
              </a:rPr>
              <a:t>Residents get read-only views. </a:t>
            </a:r>
            <a:pPr indent="0" marL="0">
              <a:buNone/>
            </a:pPr>
            <a:r>
              <a:rPr lang="en-US" sz="1250" dirty="0">
                <a:solidFill>
                  <a:srgbClr val="0B2135"/>
                </a:solidFill>
                <a:latin typeface="Calibri" pitchFamily="34" charset="0"/>
                <a:ea typeface="Calibri" pitchFamily="34" charset="-122"/>
                <a:cs typeface="Calibri" pitchFamily="34" charset="-120"/>
              </a:rPr>
              <a:t>They see CCTV health, security issues and payments, but edit and delete actions are hidden for them.</a:t>
            </a:r>
            <a:endParaRPr lang="en-US" sz="12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t"/>
          <a:lstStyle/>
          <a:p>
            <a:pPr indent="0" marL="0">
              <a:buNone/>
            </a:pPr>
            <a:r>
              <a:rPr lang="en-US" sz="1100" b="1" spc="300" kern="0" dirty="0">
                <a:solidFill>
                  <a:srgbClr val="0E7C76"/>
                </a:solidFill>
                <a:latin typeface="Calibri" pitchFamily="34" charset="0"/>
                <a:ea typeface="Calibri" pitchFamily="34" charset="-122"/>
                <a:cs typeface="Calibri" pitchFamily="34" charset="-120"/>
              </a:rPr>
              <a:t>MODULE MAP</a:t>
            </a:r>
            <a:endParaRPr lang="en-US" sz="1100" dirty="0"/>
          </a:p>
        </p:txBody>
      </p:sp>
      <p:sp>
        <p:nvSpPr>
          <p:cNvPr id="3" name="Text 1"/>
          <p:cNvSpPr/>
          <p:nvPr>
            <p:ph idx="101" type="title" hasCustomPrompt="1"/>
          </p:nvPr>
        </p:nvSpPr>
        <p:spPr>
          <a:xfrm>
            <a:off x="548640" y="457200"/>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15 modules in five groups</a:t>
            </a:r>
            <a:endParaRPr lang="en-US" sz="3000" dirty="0"/>
          </a:p>
        </p:txBody>
      </p:sp>
      <p:sp>
        <p:nvSpPr>
          <p:cNvPr id="4" name="card"/>
          <p:cNvSpPr/>
          <p:nvPr/>
        </p:nvSpPr>
        <p:spPr>
          <a:xfrm>
            <a:off x="548640" y="1463040"/>
            <a:ext cx="2075688" cy="4206240"/>
          </a:xfrm>
          <a:prstGeom prst="roundRect">
            <a:avLst>
              <a:gd name="adj" fmla="val 5286"/>
            </a:avLst>
          </a:prstGeom>
          <a:solidFill>
            <a:srgbClr val="FFFFFF"/>
          </a:solidFill>
          <a:ln w="9525">
            <a:solidFill>
              <a:srgbClr val="D5E3E3"/>
            </a:solidFill>
            <a:prstDash val="solid"/>
          </a:ln>
          <a:effectLst>
            <a:outerShdw sx="100000" sy="100000" kx="0" ky="0" algn="bl" rotWithShape="0" blurRad="152400" dist="38100" dir="5400000">
              <a:srgbClr val="0B2135">
                <a:alpha val="16000"/>
              </a:srgbClr>
            </a:outerShdw>
          </a:effectLst>
        </p:spPr>
      </p:sp>
      <p:sp>
        <p:nvSpPr>
          <p:cNvPr id="5" name="icon-bg"/>
          <p:cNvSpPr/>
          <p:nvPr/>
        </p:nvSpPr>
        <p:spPr>
          <a:xfrm>
            <a:off x="777240" y="1737360"/>
            <a:ext cx="640080" cy="640080"/>
          </a:xfrm>
          <a:prstGeom prst="ellipse">
            <a:avLst/>
          </a:prstGeom>
          <a:solidFill>
            <a:srgbClr val="13A89E"/>
          </a:solidFill>
          <a:ln w="12700">
            <a:solidFill>
              <a:srgbClr val="13A89E"/>
            </a:solidFill>
            <a:prstDash val="solid"/>
          </a:ln>
        </p:spPr>
      </p:sp>
      <p:pic>
        <p:nvPicPr>
          <p:cNvPr id="6" name="icon" descr="preencoded.png">    </p:cNvPr>
          <p:cNvPicPr>
            <a:picLocks noChangeAspect="1"/>
          </p:cNvPicPr>
          <p:nvPr/>
        </p:nvPicPr>
        <p:blipFill>
          <a:blip r:embed="rId1"/>
          <a:stretch>
            <a:fillRect/>
          </a:stretch>
        </p:blipFill>
        <p:spPr>
          <a:xfrm>
            <a:off x="930859" y="1890979"/>
            <a:ext cx="332842" cy="332842"/>
          </a:xfrm>
          <a:prstGeom prst="rect">
            <a:avLst/>
          </a:prstGeom>
        </p:spPr>
      </p:pic>
      <p:sp>
        <p:nvSpPr>
          <p:cNvPr id="7" name="Text 4"/>
          <p:cNvSpPr txBox="1"/>
          <p:nvPr/>
        </p:nvSpPr>
        <p:spPr>
          <a:xfrm>
            <a:off x="777240" y="2514600"/>
            <a:ext cx="1709928" cy="41148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Safety</a:t>
            </a:r>
            <a:endParaRPr lang="en-US" sz="1900" dirty="0"/>
          </a:p>
        </p:txBody>
      </p:sp>
      <p:sp>
        <p:nvSpPr>
          <p:cNvPr id="8" name="module-chip"/>
          <p:cNvSpPr/>
          <p:nvPr/>
        </p:nvSpPr>
        <p:spPr>
          <a:xfrm>
            <a:off x="731520" y="3108960"/>
            <a:ext cx="1709928" cy="438912"/>
          </a:xfrm>
          <a:prstGeom prst="roundRect">
            <a:avLst>
              <a:gd name="adj" fmla="val 16667"/>
            </a:avLst>
          </a:prstGeom>
          <a:solidFill>
            <a:srgbClr val="F1F7F7"/>
          </a:solidFill>
          <a:ln w="12700">
            <a:solidFill>
              <a:srgbClr val="F1F7F7"/>
            </a:solidFill>
            <a:prstDash val="solid"/>
          </a:ln>
        </p:spPr>
      </p:sp>
      <p:sp>
        <p:nvSpPr>
          <p:cNvPr id="9" name="Text 6"/>
          <p:cNvSpPr txBox="1"/>
          <p:nvPr/>
        </p:nvSpPr>
        <p:spPr>
          <a:xfrm>
            <a:off x="868680" y="3108960"/>
            <a:ext cx="1527048" cy="438912"/>
          </a:xfrm>
          <a:prstGeom prst="rect">
            <a:avLst/>
          </a:prstGeom>
          <a:noFill/>
          <a:ln/>
        </p:spPr>
        <p:txBody>
          <a:bodyPr wrap="square" lIns="0" tIns="0" rIns="0" bIns="0" rtlCol="0" anchor="ctr"/>
          <a:lstStyle/>
          <a:p>
            <a:pPr indent="0" marL="0">
              <a:buNone/>
            </a:pPr>
            <a:r>
              <a:rPr lang="en-US" sz="1250" dirty="0">
                <a:solidFill>
                  <a:srgbClr val="0B2135"/>
                </a:solidFill>
                <a:latin typeface="Calibri" pitchFamily="34" charset="0"/>
                <a:ea typeface="Calibri" pitchFamily="34" charset="-122"/>
                <a:cs typeface="Calibri" pitchFamily="34" charset="-120"/>
              </a:rPr>
              <a:t>Security Issues</a:t>
            </a:r>
            <a:endParaRPr lang="en-US" sz="1250" dirty="0"/>
          </a:p>
        </p:txBody>
      </p:sp>
      <p:sp>
        <p:nvSpPr>
          <p:cNvPr id="10" name="module-chip"/>
          <p:cNvSpPr/>
          <p:nvPr/>
        </p:nvSpPr>
        <p:spPr>
          <a:xfrm>
            <a:off x="731520" y="3675888"/>
            <a:ext cx="1709928" cy="438912"/>
          </a:xfrm>
          <a:prstGeom prst="roundRect">
            <a:avLst>
              <a:gd name="adj" fmla="val 16667"/>
            </a:avLst>
          </a:prstGeom>
          <a:solidFill>
            <a:srgbClr val="F1F7F7"/>
          </a:solidFill>
          <a:ln w="12700">
            <a:solidFill>
              <a:srgbClr val="F1F7F7"/>
            </a:solidFill>
            <a:prstDash val="solid"/>
          </a:ln>
        </p:spPr>
      </p:sp>
      <p:sp>
        <p:nvSpPr>
          <p:cNvPr id="11" name="Text 8"/>
          <p:cNvSpPr txBox="1"/>
          <p:nvPr/>
        </p:nvSpPr>
        <p:spPr>
          <a:xfrm>
            <a:off x="868680" y="3675888"/>
            <a:ext cx="1527048" cy="438912"/>
          </a:xfrm>
          <a:prstGeom prst="rect">
            <a:avLst/>
          </a:prstGeom>
          <a:noFill/>
          <a:ln/>
        </p:spPr>
        <p:txBody>
          <a:bodyPr wrap="square" lIns="0" tIns="0" rIns="0" bIns="0" rtlCol="0" anchor="ctr"/>
          <a:lstStyle/>
          <a:p>
            <a:pPr indent="0" marL="0">
              <a:buNone/>
            </a:pPr>
            <a:r>
              <a:rPr lang="en-US" sz="1250" dirty="0">
                <a:solidFill>
                  <a:srgbClr val="0B2135"/>
                </a:solidFill>
                <a:latin typeface="Calibri" pitchFamily="34" charset="0"/>
                <a:ea typeface="Calibri" pitchFamily="34" charset="-122"/>
                <a:cs typeface="Calibri" pitchFamily="34" charset="-120"/>
              </a:rPr>
              <a:t>CCTV Cameras</a:t>
            </a:r>
            <a:endParaRPr lang="en-US" sz="1250" dirty="0"/>
          </a:p>
        </p:txBody>
      </p:sp>
      <p:sp>
        <p:nvSpPr>
          <p:cNvPr id="12" name="module-chip"/>
          <p:cNvSpPr/>
          <p:nvPr/>
        </p:nvSpPr>
        <p:spPr>
          <a:xfrm>
            <a:off x="731520" y="4242816"/>
            <a:ext cx="1709928" cy="438912"/>
          </a:xfrm>
          <a:prstGeom prst="roundRect">
            <a:avLst>
              <a:gd name="adj" fmla="val 16667"/>
            </a:avLst>
          </a:prstGeom>
          <a:solidFill>
            <a:srgbClr val="F1F7F7"/>
          </a:solidFill>
          <a:ln w="12700">
            <a:solidFill>
              <a:srgbClr val="F1F7F7"/>
            </a:solidFill>
            <a:prstDash val="solid"/>
          </a:ln>
        </p:spPr>
      </p:sp>
      <p:sp>
        <p:nvSpPr>
          <p:cNvPr id="13" name="Text 10"/>
          <p:cNvSpPr txBox="1"/>
          <p:nvPr/>
        </p:nvSpPr>
        <p:spPr>
          <a:xfrm>
            <a:off x="868680" y="4242816"/>
            <a:ext cx="1527048" cy="438912"/>
          </a:xfrm>
          <a:prstGeom prst="rect">
            <a:avLst/>
          </a:prstGeom>
          <a:noFill/>
          <a:ln/>
        </p:spPr>
        <p:txBody>
          <a:bodyPr wrap="square" lIns="0" tIns="0" rIns="0" bIns="0" rtlCol="0" anchor="ctr"/>
          <a:lstStyle/>
          <a:p>
            <a:pPr indent="0" marL="0">
              <a:buNone/>
            </a:pPr>
            <a:r>
              <a:rPr lang="en-US" sz="1250" dirty="0">
                <a:solidFill>
                  <a:srgbClr val="0B2135"/>
                </a:solidFill>
                <a:latin typeface="Calibri" pitchFamily="34" charset="0"/>
                <a:ea typeface="Calibri" pitchFamily="34" charset="-122"/>
                <a:cs typeface="Calibri" pitchFamily="34" charset="-120"/>
              </a:rPr>
              <a:t>Street Lights &amp; Assets</a:t>
            </a:r>
            <a:endParaRPr lang="en-US" sz="1250" dirty="0"/>
          </a:p>
        </p:txBody>
      </p:sp>
      <p:sp>
        <p:nvSpPr>
          <p:cNvPr id="14" name="module-chip"/>
          <p:cNvSpPr/>
          <p:nvPr/>
        </p:nvSpPr>
        <p:spPr>
          <a:xfrm>
            <a:off x="731520" y="4809744"/>
            <a:ext cx="1709928" cy="438912"/>
          </a:xfrm>
          <a:prstGeom prst="roundRect">
            <a:avLst>
              <a:gd name="adj" fmla="val 16667"/>
            </a:avLst>
          </a:prstGeom>
          <a:solidFill>
            <a:srgbClr val="F1F7F7"/>
          </a:solidFill>
          <a:ln w="12700">
            <a:solidFill>
              <a:srgbClr val="F1F7F7"/>
            </a:solidFill>
            <a:prstDash val="solid"/>
          </a:ln>
        </p:spPr>
      </p:sp>
      <p:sp>
        <p:nvSpPr>
          <p:cNvPr id="15" name="Text 12"/>
          <p:cNvSpPr txBox="1"/>
          <p:nvPr/>
        </p:nvSpPr>
        <p:spPr>
          <a:xfrm>
            <a:off x="868680" y="4809744"/>
            <a:ext cx="1527048" cy="438912"/>
          </a:xfrm>
          <a:prstGeom prst="rect">
            <a:avLst/>
          </a:prstGeom>
          <a:noFill/>
          <a:ln/>
        </p:spPr>
        <p:txBody>
          <a:bodyPr wrap="square" lIns="0" tIns="0" rIns="0" bIns="0" rtlCol="0" anchor="ctr"/>
          <a:lstStyle/>
          <a:p>
            <a:pPr indent="0" marL="0">
              <a:buNone/>
            </a:pPr>
            <a:r>
              <a:rPr lang="en-US" sz="1250" dirty="0">
                <a:solidFill>
                  <a:srgbClr val="0B2135"/>
                </a:solidFill>
                <a:latin typeface="Calibri" pitchFamily="34" charset="0"/>
                <a:ea typeface="Calibri" pitchFamily="34" charset="-122"/>
                <a:cs typeface="Calibri" pitchFamily="34" charset="-120"/>
              </a:rPr>
              <a:t>Guard Rounds</a:t>
            </a:r>
            <a:endParaRPr lang="en-US" sz="1250" dirty="0"/>
          </a:p>
        </p:txBody>
      </p:sp>
      <p:sp>
        <p:nvSpPr>
          <p:cNvPr id="16" name="card"/>
          <p:cNvSpPr/>
          <p:nvPr/>
        </p:nvSpPr>
        <p:spPr>
          <a:xfrm>
            <a:off x="2807208" y="1463040"/>
            <a:ext cx="2075688" cy="4206240"/>
          </a:xfrm>
          <a:prstGeom prst="roundRect">
            <a:avLst>
              <a:gd name="adj" fmla="val 5286"/>
            </a:avLst>
          </a:prstGeom>
          <a:solidFill>
            <a:srgbClr val="FFFFFF"/>
          </a:solidFill>
          <a:ln w="9525">
            <a:solidFill>
              <a:srgbClr val="D5E3E3"/>
            </a:solidFill>
            <a:prstDash val="solid"/>
          </a:ln>
          <a:effectLst>
            <a:outerShdw sx="100000" sy="100000" kx="0" ky="0" algn="bl" rotWithShape="0" blurRad="152400" dist="38100" dir="5400000">
              <a:srgbClr val="0B2135">
                <a:alpha val="16000"/>
              </a:srgbClr>
            </a:outerShdw>
          </a:effectLst>
        </p:spPr>
      </p:sp>
      <p:sp>
        <p:nvSpPr>
          <p:cNvPr id="17" name="icon-bg"/>
          <p:cNvSpPr/>
          <p:nvPr/>
        </p:nvSpPr>
        <p:spPr>
          <a:xfrm>
            <a:off x="3035808" y="1737360"/>
            <a:ext cx="640080" cy="640080"/>
          </a:xfrm>
          <a:prstGeom prst="ellipse">
            <a:avLst/>
          </a:prstGeom>
          <a:solidFill>
            <a:srgbClr val="B57A0C"/>
          </a:solidFill>
          <a:ln w="12700">
            <a:solidFill>
              <a:srgbClr val="B57A0C"/>
            </a:solidFill>
            <a:prstDash val="solid"/>
          </a:ln>
        </p:spPr>
      </p:sp>
      <p:pic>
        <p:nvPicPr>
          <p:cNvPr id="18" name="icon" descr="preencoded.png">    </p:cNvPr>
          <p:cNvPicPr>
            <a:picLocks noChangeAspect="1"/>
          </p:cNvPicPr>
          <p:nvPr/>
        </p:nvPicPr>
        <p:blipFill>
          <a:blip r:embed="rId2"/>
          <a:stretch>
            <a:fillRect/>
          </a:stretch>
        </p:blipFill>
        <p:spPr>
          <a:xfrm>
            <a:off x="3189427" y="1890979"/>
            <a:ext cx="332842" cy="332842"/>
          </a:xfrm>
          <a:prstGeom prst="rect">
            <a:avLst/>
          </a:prstGeom>
        </p:spPr>
      </p:pic>
      <p:sp>
        <p:nvSpPr>
          <p:cNvPr id="19" name="Text 15"/>
          <p:cNvSpPr txBox="1"/>
          <p:nvPr/>
        </p:nvSpPr>
        <p:spPr>
          <a:xfrm>
            <a:off x="3035808" y="2514600"/>
            <a:ext cx="1709928" cy="41148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Gate</a:t>
            </a:r>
            <a:endParaRPr lang="en-US" sz="1900" dirty="0"/>
          </a:p>
        </p:txBody>
      </p:sp>
      <p:sp>
        <p:nvSpPr>
          <p:cNvPr id="20" name="module-chip"/>
          <p:cNvSpPr/>
          <p:nvPr/>
        </p:nvSpPr>
        <p:spPr>
          <a:xfrm>
            <a:off x="2990088" y="3108960"/>
            <a:ext cx="1709928" cy="438912"/>
          </a:xfrm>
          <a:prstGeom prst="roundRect">
            <a:avLst>
              <a:gd name="adj" fmla="val 16667"/>
            </a:avLst>
          </a:prstGeom>
          <a:solidFill>
            <a:srgbClr val="F1F7F7"/>
          </a:solidFill>
          <a:ln w="12700">
            <a:solidFill>
              <a:srgbClr val="F1F7F7"/>
            </a:solidFill>
            <a:prstDash val="solid"/>
          </a:ln>
        </p:spPr>
      </p:sp>
      <p:sp>
        <p:nvSpPr>
          <p:cNvPr id="21" name="Text 17"/>
          <p:cNvSpPr txBox="1"/>
          <p:nvPr/>
        </p:nvSpPr>
        <p:spPr>
          <a:xfrm>
            <a:off x="3127248" y="3108960"/>
            <a:ext cx="1527048" cy="438912"/>
          </a:xfrm>
          <a:prstGeom prst="rect">
            <a:avLst/>
          </a:prstGeom>
          <a:noFill/>
          <a:ln/>
        </p:spPr>
        <p:txBody>
          <a:bodyPr wrap="square" lIns="0" tIns="0" rIns="0" bIns="0" rtlCol="0" anchor="ctr"/>
          <a:lstStyle/>
          <a:p>
            <a:pPr indent="0" marL="0">
              <a:buNone/>
            </a:pPr>
            <a:r>
              <a:rPr lang="en-US" sz="1250" dirty="0">
                <a:solidFill>
                  <a:srgbClr val="0B2135"/>
                </a:solidFill>
                <a:latin typeface="Calibri" pitchFamily="34" charset="0"/>
                <a:ea typeface="Calibri" pitchFamily="34" charset="-122"/>
                <a:cs typeface="Calibri" pitchFamily="34" charset="-120"/>
              </a:rPr>
              <a:t>Visitors</a:t>
            </a:r>
            <a:endParaRPr lang="en-US" sz="1250" dirty="0"/>
          </a:p>
        </p:txBody>
      </p:sp>
      <p:sp>
        <p:nvSpPr>
          <p:cNvPr id="22" name="module-chip"/>
          <p:cNvSpPr/>
          <p:nvPr/>
        </p:nvSpPr>
        <p:spPr>
          <a:xfrm>
            <a:off x="2990088" y="3675888"/>
            <a:ext cx="1709928" cy="438912"/>
          </a:xfrm>
          <a:prstGeom prst="roundRect">
            <a:avLst>
              <a:gd name="adj" fmla="val 16667"/>
            </a:avLst>
          </a:prstGeom>
          <a:solidFill>
            <a:srgbClr val="F1F7F7"/>
          </a:solidFill>
          <a:ln w="12700">
            <a:solidFill>
              <a:srgbClr val="F1F7F7"/>
            </a:solidFill>
            <a:prstDash val="solid"/>
          </a:ln>
        </p:spPr>
      </p:sp>
      <p:sp>
        <p:nvSpPr>
          <p:cNvPr id="23" name="Text 19"/>
          <p:cNvSpPr txBox="1"/>
          <p:nvPr/>
        </p:nvSpPr>
        <p:spPr>
          <a:xfrm>
            <a:off x="3127248" y="3675888"/>
            <a:ext cx="1527048" cy="438912"/>
          </a:xfrm>
          <a:prstGeom prst="rect">
            <a:avLst/>
          </a:prstGeom>
          <a:noFill/>
          <a:ln/>
        </p:spPr>
        <p:txBody>
          <a:bodyPr wrap="square" lIns="0" tIns="0" rIns="0" bIns="0" rtlCol="0" anchor="ctr"/>
          <a:lstStyle/>
          <a:p>
            <a:pPr indent="0" marL="0">
              <a:buNone/>
            </a:pPr>
            <a:r>
              <a:rPr lang="en-US" sz="1250" dirty="0">
                <a:solidFill>
                  <a:srgbClr val="0B2135"/>
                </a:solidFill>
                <a:latin typeface="Calibri" pitchFamily="34" charset="0"/>
                <a:ea typeface="Calibri" pitchFamily="34" charset="-122"/>
                <a:cs typeface="Calibri" pitchFamily="34" charset="-120"/>
              </a:rPr>
              <a:t>Vehicles</a:t>
            </a:r>
            <a:endParaRPr lang="en-US" sz="1250" dirty="0"/>
          </a:p>
        </p:txBody>
      </p:sp>
      <p:sp>
        <p:nvSpPr>
          <p:cNvPr id="24" name="card"/>
          <p:cNvSpPr/>
          <p:nvPr/>
        </p:nvSpPr>
        <p:spPr>
          <a:xfrm>
            <a:off x="5065776" y="1463040"/>
            <a:ext cx="2075688" cy="4206240"/>
          </a:xfrm>
          <a:prstGeom prst="roundRect">
            <a:avLst>
              <a:gd name="adj" fmla="val 5286"/>
            </a:avLst>
          </a:prstGeom>
          <a:solidFill>
            <a:srgbClr val="FFFFFF"/>
          </a:solidFill>
          <a:ln w="9525">
            <a:solidFill>
              <a:srgbClr val="D5E3E3"/>
            </a:solidFill>
            <a:prstDash val="solid"/>
          </a:ln>
          <a:effectLst>
            <a:outerShdw sx="100000" sy="100000" kx="0" ky="0" algn="bl" rotWithShape="0" blurRad="152400" dist="38100" dir="5400000">
              <a:srgbClr val="0B2135">
                <a:alpha val="16000"/>
              </a:srgbClr>
            </a:outerShdw>
          </a:effectLst>
        </p:spPr>
      </p:sp>
      <p:sp>
        <p:nvSpPr>
          <p:cNvPr id="25" name="icon-bg"/>
          <p:cNvSpPr/>
          <p:nvPr/>
        </p:nvSpPr>
        <p:spPr>
          <a:xfrm>
            <a:off x="5294376" y="1737360"/>
            <a:ext cx="640080" cy="640080"/>
          </a:xfrm>
          <a:prstGeom prst="ellipse">
            <a:avLst/>
          </a:prstGeom>
          <a:solidFill>
            <a:srgbClr val="0E7C76"/>
          </a:solidFill>
          <a:ln w="12700">
            <a:solidFill>
              <a:srgbClr val="0E7C76"/>
            </a:solidFill>
            <a:prstDash val="solid"/>
          </a:ln>
        </p:spPr>
      </p:sp>
      <p:pic>
        <p:nvPicPr>
          <p:cNvPr id="26" name="icon" descr="preencoded.png">    </p:cNvPr>
          <p:cNvPicPr>
            <a:picLocks noChangeAspect="1"/>
          </p:cNvPicPr>
          <p:nvPr/>
        </p:nvPicPr>
        <p:blipFill>
          <a:blip r:embed="rId3"/>
          <a:stretch>
            <a:fillRect/>
          </a:stretch>
        </p:blipFill>
        <p:spPr>
          <a:xfrm>
            <a:off x="5447995" y="1890979"/>
            <a:ext cx="332842" cy="332842"/>
          </a:xfrm>
          <a:prstGeom prst="rect">
            <a:avLst/>
          </a:prstGeom>
        </p:spPr>
      </p:pic>
      <p:sp>
        <p:nvSpPr>
          <p:cNvPr id="27" name="Text 22"/>
          <p:cNvSpPr txBox="1"/>
          <p:nvPr/>
        </p:nvSpPr>
        <p:spPr>
          <a:xfrm>
            <a:off x="5294376" y="2514600"/>
            <a:ext cx="1709928" cy="41148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Money</a:t>
            </a:r>
            <a:endParaRPr lang="en-US" sz="1900" dirty="0"/>
          </a:p>
        </p:txBody>
      </p:sp>
      <p:sp>
        <p:nvSpPr>
          <p:cNvPr id="28" name="module-chip"/>
          <p:cNvSpPr/>
          <p:nvPr/>
        </p:nvSpPr>
        <p:spPr>
          <a:xfrm>
            <a:off x="5248656" y="3108960"/>
            <a:ext cx="1709928" cy="438912"/>
          </a:xfrm>
          <a:prstGeom prst="roundRect">
            <a:avLst>
              <a:gd name="adj" fmla="val 16667"/>
            </a:avLst>
          </a:prstGeom>
          <a:solidFill>
            <a:srgbClr val="F1F7F7"/>
          </a:solidFill>
          <a:ln w="12700">
            <a:solidFill>
              <a:srgbClr val="F1F7F7"/>
            </a:solidFill>
            <a:prstDash val="solid"/>
          </a:ln>
        </p:spPr>
      </p:sp>
      <p:sp>
        <p:nvSpPr>
          <p:cNvPr id="29" name="Text 24"/>
          <p:cNvSpPr txBox="1"/>
          <p:nvPr/>
        </p:nvSpPr>
        <p:spPr>
          <a:xfrm>
            <a:off x="5385816" y="3108960"/>
            <a:ext cx="1527048" cy="438912"/>
          </a:xfrm>
          <a:prstGeom prst="rect">
            <a:avLst/>
          </a:prstGeom>
          <a:noFill/>
          <a:ln/>
        </p:spPr>
        <p:txBody>
          <a:bodyPr wrap="square" lIns="0" tIns="0" rIns="0" bIns="0" rtlCol="0" anchor="ctr"/>
          <a:lstStyle/>
          <a:p>
            <a:pPr indent="0" marL="0">
              <a:buNone/>
            </a:pPr>
            <a:r>
              <a:rPr lang="en-US" sz="1250" dirty="0">
                <a:solidFill>
                  <a:srgbClr val="0B2135"/>
                </a:solidFill>
                <a:latin typeface="Calibri" pitchFamily="34" charset="0"/>
                <a:ea typeface="Calibri" pitchFamily="34" charset="-122"/>
                <a:cs typeface="Calibri" pitchFamily="34" charset="-120"/>
              </a:rPr>
              <a:t>Payments</a:t>
            </a:r>
            <a:endParaRPr lang="en-US" sz="1250" dirty="0"/>
          </a:p>
        </p:txBody>
      </p:sp>
      <p:sp>
        <p:nvSpPr>
          <p:cNvPr id="30" name="module-chip"/>
          <p:cNvSpPr/>
          <p:nvPr/>
        </p:nvSpPr>
        <p:spPr>
          <a:xfrm>
            <a:off x="5248656" y="3675888"/>
            <a:ext cx="1709928" cy="438912"/>
          </a:xfrm>
          <a:prstGeom prst="roundRect">
            <a:avLst>
              <a:gd name="adj" fmla="val 16667"/>
            </a:avLst>
          </a:prstGeom>
          <a:solidFill>
            <a:srgbClr val="F1F7F7"/>
          </a:solidFill>
          <a:ln w="12700">
            <a:solidFill>
              <a:srgbClr val="F1F7F7"/>
            </a:solidFill>
            <a:prstDash val="solid"/>
          </a:ln>
        </p:spPr>
      </p:sp>
      <p:sp>
        <p:nvSpPr>
          <p:cNvPr id="31" name="Text 26"/>
          <p:cNvSpPr txBox="1"/>
          <p:nvPr/>
        </p:nvSpPr>
        <p:spPr>
          <a:xfrm>
            <a:off x="5385816" y="3675888"/>
            <a:ext cx="1527048" cy="438912"/>
          </a:xfrm>
          <a:prstGeom prst="rect">
            <a:avLst/>
          </a:prstGeom>
          <a:noFill/>
          <a:ln/>
        </p:spPr>
        <p:txBody>
          <a:bodyPr wrap="square" lIns="0" tIns="0" rIns="0" bIns="0" rtlCol="0" anchor="ctr"/>
          <a:lstStyle/>
          <a:p>
            <a:pPr indent="0" marL="0">
              <a:buNone/>
            </a:pPr>
            <a:r>
              <a:rPr lang="en-US" sz="1250" dirty="0">
                <a:solidFill>
                  <a:srgbClr val="0B2135"/>
                </a:solidFill>
                <a:latin typeface="Calibri" pitchFamily="34" charset="0"/>
                <a:ea typeface="Calibri" pitchFamily="34" charset="-122"/>
                <a:cs typeface="Calibri" pitchFamily="34" charset="-120"/>
              </a:rPr>
              <a:t>Expenses</a:t>
            </a:r>
            <a:endParaRPr lang="en-US" sz="1250" dirty="0"/>
          </a:p>
        </p:txBody>
      </p:sp>
      <p:sp>
        <p:nvSpPr>
          <p:cNvPr id="32" name="module-chip"/>
          <p:cNvSpPr/>
          <p:nvPr/>
        </p:nvSpPr>
        <p:spPr>
          <a:xfrm>
            <a:off x="5248656" y="4242816"/>
            <a:ext cx="1709928" cy="438912"/>
          </a:xfrm>
          <a:prstGeom prst="roundRect">
            <a:avLst>
              <a:gd name="adj" fmla="val 16667"/>
            </a:avLst>
          </a:prstGeom>
          <a:solidFill>
            <a:srgbClr val="F1F7F7"/>
          </a:solidFill>
          <a:ln w="12700">
            <a:solidFill>
              <a:srgbClr val="F1F7F7"/>
            </a:solidFill>
            <a:prstDash val="solid"/>
          </a:ln>
        </p:spPr>
      </p:sp>
      <p:sp>
        <p:nvSpPr>
          <p:cNvPr id="33" name="Text 28"/>
          <p:cNvSpPr txBox="1"/>
          <p:nvPr/>
        </p:nvSpPr>
        <p:spPr>
          <a:xfrm>
            <a:off x="5385816" y="4242816"/>
            <a:ext cx="1527048" cy="438912"/>
          </a:xfrm>
          <a:prstGeom prst="rect">
            <a:avLst/>
          </a:prstGeom>
          <a:noFill/>
          <a:ln/>
        </p:spPr>
        <p:txBody>
          <a:bodyPr wrap="square" lIns="0" tIns="0" rIns="0" bIns="0" rtlCol="0" anchor="ctr"/>
          <a:lstStyle/>
          <a:p>
            <a:pPr indent="0" marL="0">
              <a:buNone/>
            </a:pPr>
            <a:r>
              <a:rPr lang="en-US" sz="1250" dirty="0">
                <a:solidFill>
                  <a:srgbClr val="0B2135"/>
                </a:solidFill>
                <a:latin typeface="Calibri" pitchFamily="34" charset="0"/>
                <a:ea typeface="Calibri" pitchFamily="34" charset="-122"/>
                <a:cs typeface="Calibri" pitchFamily="34" charset="-120"/>
              </a:rPr>
              <a:t>Reports</a:t>
            </a:r>
            <a:endParaRPr lang="en-US" sz="1250" dirty="0"/>
          </a:p>
        </p:txBody>
      </p:sp>
      <p:sp>
        <p:nvSpPr>
          <p:cNvPr id="34" name="card"/>
          <p:cNvSpPr/>
          <p:nvPr/>
        </p:nvSpPr>
        <p:spPr>
          <a:xfrm>
            <a:off x="7324344" y="1463040"/>
            <a:ext cx="2075688" cy="4206240"/>
          </a:xfrm>
          <a:prstGeom prst="roundRect">
            <a:avLst>
              <a:gd name="adj" fmla="val 5286"/>
            </a:avLst>
          </a:prstGeom>
          <a:solidFill>
            <a:srgbClr val="FFFFFF"/>
          </a:solidFill>
          <a:ln w="9525">
            <a:solidFill>
              <a:srgbClr val="D5E3E3"/>
            </a:solidFill>
            <a:prstDash val="solid"/>
          </a:ln>
          <a:effectLst>
            <a:outerShdw sx="100000" sy="100000" kx="0" ky="0" algn="bl" rotWithShape="0" blurRad="152400" dist="38100" dir="5400000">
              <a:srgbClr val="0B2135">
                <a:alpha val="16000"/>
              </a:srgbClr>
            </a:outerShdw>
          </a:effectLst>
        </p:spPr>
      </p:sp>
      <p:sp>
        <p:nvSpPr>
          <p:cNvPr id="35" name="icon-bg"/>
          <p:cNvSpPr/>
          <p:nvPr/>
        </p:nvSpPr>
        <p:spPr>
          <a:xfrm>
            <a:off x="7552944" y="1737360"/>
            <a:ext cx="640080" cy="640080"/>
          </a:xfrm>
          <a:prstGeom prst="ellipse">
            <a:avLst/>
          </a:prstGeom>
          <a:solidFill>
            <a:srgbClr val="5B8DEF"/>
          </a:solidFill>
          <a:ln w="12700">
            <a:solidFill>
              <a:srgbClr val="5B8DEF"/>
            </a:solidFill>
            <a:prstDash val="solid"/>
          </a:ln>
        </p:spPr>
      </p:sp>
      <p:pic>
        <p:nvPicPr>
          <p:cNvPr id="36" name="icon" descr="preencoded.png">    </p:cNvPr>
          <p:cNvPicPr>
            <a:picLocks noChangeAspect="1"/>
          </p:cNvPicPr>
          <p:nvPr/>
        </p:nvPicPr>
        <p:blipFill>
          <a:blip r:embed="rId4"/>
          <a:stretch>
            <a:fillRect/>
          </a:stretch>
        </p:blipFill>
        <p:spPr>
          <a:xfrm>
            <a:off x="7706563" y="1890979"/>
            <a:ext cx="332842" cy="332842"/>
          </a:xfrm>
          <a:prstGeom prst="rect">
            <a:avLst/>
          </a:prstGeom>
        </p:spPr>
      </p:pic>
      <p:sp>
        <p:nvSpPr>
          <p:cNvPr id="37" name="Text 31"/>
          <p:cNvSpPr txBox="1"/>
          <p:nvPr/>
        </p:nvSpPr>
        <p:spPr>
          <a:xfrm>
            <a:off x="7552944" y="2514600"/>
            <a:ext cx="1709928" cy="41148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Community</a:t>
            </a:r>
            <a:endParaRPr lang="en-US" sz="1900" dirty="0"/>
          </a:p>
        </p:txBody>
      </p:sp>
      <p:sp>
        <p:nvSpPr>
          <p:cNvPr id="38" name="module-chip"/>
          <p:cNvSpPr/>
          <p:nvPr/>
        </p:nvSpPr>
        <p:spPr>
          <a:xfrm>
            <a:off x="7507224" y="3108960"/>
            <a:ext cx="1709928" cy="438912"/>
          </a:xfrm>
          <a:prstGeom prst="roundRect">
            <a:avLst>
              <a:gd name="adj" fmla="val 16667"/>
            </a:avLst>
          </a:prstGeom>
          <a:solidFill>
            <a:srgbClr val="F1F7F7"/>
          </a:solidFill>
          <a:ln w="12700">
            <a:solidFill>
              <a:srgbClr val="F1F7F7"/>
            </a:solidFill>
            <a:prstDash val="solid"/>
          </a:ln>
        </p:spPr>
      </p:sp>
      <p:sp>
        <p:nvSpPr>
          <p:cNvPr id="39" name="Text 33"/>
          <p:cNvSpPr txBox="1"/>
          <p:nvPr/>
        </p:nvSpPr>
        <p:spPr>
          <a:xfrm>
            <a:off x="7644384" y="3108960"/>
            <a:ext cx="1527048" cy="438912"/>
          </a:xfrm>
          <a:prstGeom prst="rect">
            <a:avLst/>
          </a:prstGeom>
          <a:noFill/>
          <a:ln/>
        </p:spPr>
        <p:txBody>
          <a:bodyPr wrap="square" lIns="0" tIns="0" rIns="0" bIns="0" rtlCol="0" anchor="ctr"/>
          <a:lstStyle/>
          <a:p>
            <a:pPr indent="0" marL="0">
              <a:buNone/>
            </a:pPr>
            <a:r>
              <a:rPr lang="en-US" sz="1250" dirty="0">
                <a:solidFill>
                  <a:srgbClr val="0B2135"/>
                </a:solidFill>
                <a:latin typeface="Calibri" pitchFamily="34" charset="0"/>
                <a:ea typeface="Calibri" pitchFamily="34" charset="-122"/>
                <a:cs typeface="Calibri" pitchFamily="34" charset="-120"/>
              </a:rPr>
              <a:t>Announcements</a:t>
            </a:r>
            <a:endParaRPr lang="en-US" sz="1250" dirty="0"/>
          </a:p>
        </p:txBody>
      </p:sp>
      <p:sp>
        <p:nvSpPr>
          <p:cNvPr id="40" name="module-chip"/>
          <p:cNvSpPr/>
          <p:nvPr/>
        </p:nvSpPr>
        <p:spPr>
          <a:xfrm>
            <a:off x="7507224" y="3675888"/>
            <a:ext cx="1709928" cy="438912"/>
          </a:xfrm>
          <a:prstGeom prst="roundRect">
            <a:avLst>
              <a:gd name="adj" fmla="val 16667"/>
            </a:avLst>
          </a:prstGeom>
          <a:solidFill>
            <a:srgbClr val="F1F7F7"/>
          </a:solidFill>
          <a:ln w="12700">
            <a:solidFill>
              <a:srgbClr val="F1F7F7"/>
            </a:solidFill>
            <a:prstDash val="solid"/>
          </a:ln>
        </p:spPr>
      </p:sp>
      <p:sp>
        <p:nvSpPr>
          <p:cNvPr id="41" name="Text 35"/>
          <p:cNvSpPr txBox="1"/>
          <p:nvPr/>
        </p:nvSpPr>
        <p:spPr>
          <a:xfrm>
            <a:off x="7644384" y="3675888"/>
            <a:ext cx="1527048" cy="438912"/>
          </a:xfrm>
          <a:prstGeom prst="rect">
            <a:avLst/>
          </a:prstGeom>
          <a:noFill/>
          <a:ln/>
        </p:spPr>
        <p:txBody>
          <a:bodyPr wrap="square" lIns="0" tIns="0" rIns="0" bIns="0" rtlCol="0" anchor="ctr"/>
          <a:lstStyle/>
          <a:p>
            <a:pPr indent="0" marL="0">
              <a:buNone/>
            </a:pPr>
            <a:r>
              <a:rPr lang="en-US" sz="1250" dirty="0">
                <a:solidFill>
                  <a:srgbClr val="0B2135"/>
                </a:solidFill>
                <a:latin typeface="Calibri" pitchFamily="34" charset="0"/>
                <a:ea typeface="Calibri" pitchFamily="34" charset="-122"/>
                <a:cs typeface="Calibri" pitchFamily="34" charset="-120"/>
              </a:rPr>
              <a:t>Association</a:t>
            </a:r>
            <a:endParaRPr lang="en-US" sz="1250" dirty="0"/>
          </a:p>
        </p:txBody>
      </p:sp>
      <p:sp>
        <p:nvSpPr>
          <p:cNvPr id="42" name="module-chip"/>
          <p:cNvSpPr/>
          <p:nvPr/>
        </p:nvSpPr>
        <p:spPr>
          <a:xfrm>
            <a:off x="7507224" y="4242816"/>
            <a:ext cx="1709928" cy="438912"/>
          </a:xfrm>
          <a:prstGeom prst="roundRect">
            <a:avLst>
              <a:gd name="adj" fmla="val 16667"/>
            </a:avLst>
          </a:prstGeom>
          <a:solidFill>
            <a:srgbClr val="F1F7F7"/>
          </a:solidFill>
          <a:ln w="12700">
            <a:solidFill>
              <a:srgbClr val="F1F7F7"/>
            </a:solidFill>
            <a:prstDash val="solid"/>
          </a:ln>
        </p:spPr>
      </p:sp>
      <p:sp>
        <p:nvSpPr>
          <p:cNvPr id="43" name="Text 37"/>
          <p:cNvSpPr txBox="1"/>
          <p:nvPr/>
        </p:nvSpPr>
        <p:spPr>
          <a:xfrm>
            <a:off x="7644384" y="4242816"/>
            <a:ext cx="1527048" cy="438912"/>
          </a:xfrm>
          <a:prstGeom prst="rect">
            <a:avLst/>
          </a:prstGeom>
          <a:noFill/>
          <a:ln/>
        </p:spPr>
        <p:txBody>
          <a:bodyPr wrap="square" lIns="0" tIns="0" rIns="0" bIns="0" rtlCol="0" anchor="ctr"/>
          <a:lstStyle/>
          <a:p>
            <a:pPr indent="0" marL="0">
              <a:buNone/>
            </a:pPr>
            <a:r>
              <a:rPr lang="en-US" sz="1250" dirty="0">
                <a:solidFill>
                  <a:srgbClr val="0B2135"/>
                </a:solidFill>
                <a:latin typeface="Calibri" pitchFamily="34" charset="0"/>
                <a:ea typeface="Calibri" pitchFamily="34" charset="-122"/>
                <a:cs typeface="Calibri" pitchFamily="34" charset="-120"/>
              </a:rPr>
              <a:t>Service Providers</a:t>
            </a:r>
            <a:endParaRPr lang="en-US" sz="1250" dirty="0"/>
          </a:p>
        </p:txBody>
      </p:sp>
      <p:sp>
        <p:nvSpPr>
          <p:cNvPr id="44" name="card"/>
          <p:cNvSpPr/>
          <p:nvPr/>
        </p:nvSpPr>
        <p:spPr>
          <a:xfrm>
            <a:off x="9582912" y="1463040"/>
            <a:ext cx="2075688" cy="4206240"/>
          </a:xfrm>
          <a:prstGeom prst="roundRect">
            <a:avLst>
              <a:gd name="adj" fmla="val 5286"/>
            </a:avLst>
          </a:prstGeom>
          <a:solidFill>
            <a:srgbClr val="FFFFFF"/>
          </a:solidFill>
          <a:ln w="9525">
            <a:solidFill>
              <a:srgbClr val="D5E3E3"/>
            </a:solidFill>
            <a:prstDash val="solid"/>
          </a:ln>
          <a:effectLst>
            <a:outerShdw sx="100000" sy="100000" kx="0" ky="0" algn="bl" rotWithShape="0" blurRad="152400" dist="38100" dir="5400000">
              <a:srgbClr val="0B2135">
                <a:alpha val="16000"/>
              </a:srgbClr>
            </a:outerShdw>
          </a:effectLst>
        </p:spPr>
      </p:sp>
      <p:sp>
        <p:nvSpPr>
          <p:cNvPr id="45" name="icon-bg"/>
          <p:cNvSpPr/>
          <p:nvPr/>
        </p:nvSpPr>
        <p:spPr>
          <a:xfrm>
            <a:off x="9811512" y="1737360"/>
            <a:ext cx="640080" cy="640080"/>
          </a:xfrm>
          <a:prstGeom prst="ellipse">
            <a:avLst/>
          </a:prstGeom>
          <a:solidFill>
            <a:srgbClr val="0B2135"/>
          </a:solidFill>
          <a:ln w="12700">
            <a:solidFill>
              <a:srgbClr val="0B2135"/>
            </a:solidFill>
            <a:prstDash val="solid"/>
          </a:ln>
        </p:spPr>
      </p:sp>
      <p:pic>
        <p:nvPicPr>
          <p:cNvPr id="46" name="icon" descr="preencoded.png">    </p:cNvPr>
          <p:cNvPicPr>
            <a:picLocks noChangeAspect="1"/>
          </p:cNvPicPr>
          <p:nvPr/>
        </p:nvPicPr>
        <p:blipFill>
          <a:blip r:embed="rId5"/>
          <a:stretch>
            <a:fillRect/>
          </a:stretch>
        </p:blipFill>
        <p:spPr>
          <a:xfrm>
            <a:off x="9965131" y="1890979"/>
            <a:ext cx="332842" cy="332842"/>
          </a:xfrm>
          <a:prstGeom prst="rect">
            <a:avLst/>
          </a:prstGeom>
        </p:spPr>
      </p:pic>
      <p:sp>
        <p:nvSpPr>
          <p:cNvPr id="47" name="Text 40"/>
          <p:cNvSpPr txBox="1"/>
          <p:nvPr/>
        </p:nvSpPr>
        <p:spPr>
          <a:xfrm>
            <a:off x="9811512" y="2514600"/>
            <a:ext cx="1709928" cy="41148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Control</a:t>
            </a:r>
            <a:endParaRPr lang="en-US" sz="1900" dirty="0"/>
          </a:p>
        </p:txBody>
      </p:sp>
      <p:sp>
        <p:nvSpPr>
          <p:cNvPr id="48" name="module-chip"/>
          <p:cNvSpPr/>
          <p:nvPr/>
        </p:nvSpPr>
        <p:spPr>
          <a:xfrm>
            <a:off x="9765792" y="3108960"/>
            <a:ext cx="1709928" cy="438912"/>
          </a:xfrm>
          <a:prstGeom prst="roundRect">
            <a:avLst>
              <a:gd name="adj" fmla="val 16667"/>
            </a:avLst>
          </a:prstGeom>
          <a:solidFill>
            <a:srgbClr val="F1F7F7"/>
          </a:solidFill>
          <a:ln w="12700">
            <a:solidFill>
              <a:srgbClr val="F1F7F7"/>
            </a:solidFill>
            <a:prstDash val="solid"/>
          </a:ln>
        </p:spPr>
      </p:sp>
      <p:sp>
        <p:nvSpPr>
          <p:cNvPr id="49" name="Text 42"/>
          <p:cNvSpPr txBox="1"/>
          <p:nvPr/>
        </p:nvSpPr>
        <p:spPr>
          <a:xfrm>
            <a:off x="9902952" y="3108960"/>
            <a:ext cx="1527048" cy="438912"/>
          </a:xfrm>
          <a:prstGeom prst="rect">
            <a:avLst/>
          </a:prstGeom>
          <a:noFill/>
          <a:ln/>
        </p:spPr>
        <p:txBody>
          <a:bodyPr wrap="square" lIns="0" tIns="0" rIns="0" bIns="0" rtlCol="0" anchor="ctr"/>
          <a:lstStyle/>
          <a:p>
            <a:pPr indent="0" marL="0">
              <a:buNone/>
            </a:pPr>
            <a:r>
              <a:rPr lang="en-US" sz="1250" dirty="0">
                <a:solidFill>
                  <a:srgbClr val="0B2135"/>
                </a:solidFill>
                <a:latin typeface="Calibri" pitchFamily="34" charset="0"/>
                <a:ea typeface="Calibri" pitchFamily="34" charset="-122"/>
                <a:cs typeface="Calibri" pitchFamily="34" charset="-120"/>
              </a:rPr>
              <a:t>Dashboard</a:t>
            </a:r>
            <a:endParaRPr lang="en-US" sz="1250" dirty="0"/>
          </a:p>
        </p:txBody>
      </p:sp>
      <p:sp>
        <p:nvSpPr>
          <p:cNvPr id="50" name="module-chip"/>
          <p:cNvSpPr/>
          <p:nvPr/>
        </p:nvSpPr>
        <p:spPr>
          <a:xfrm>
            <a:off x="9765792" y="3675888"/>
            <a:ext cx="1709928" cy="438912"/>
          </a:xfrm>
          <a:prstGeom prst="roundRect">
            <a:avLst>
              <a:gd name="adj" fmla="val 16667"/>
            </a:avLst>
          </a:prstGeom>
          <a:solidFill>
            <a:srgbClr val="F1F7F7"/>
          </a:solidFill>
          <a:ln w="12700">
            <a:solidFill>
              <a:srgbClr val="F1F7F7"/>
            </a:solidFill>
            <a:prstDash val="solid"/>
          </a:ln>
        </p:spPr>
      </p:sp>
      <p:sp>
        <p:nvSpPr>
          <p:cNvPr id="51" name="Text 44"/>
          <p:cNvSpPr txBox="1"/>
          <p:nvPr/>
        </p:nvSpPr>
        <p:spPr>
          <a:xfrm>
            <a:off x="9902952" y="3675888"/>
            <a:ext cx="1527048" cy="438912"/>
          </a:xfrm>
          <a:prstGeom prst="rect">
            <a:avLst/>
          </a:prstGeom>
          <a:noFill/>
          <a:ln/>
        </p:spPr>
        <p:txBody>
          <a:bodyPr wrap="square" lIns="0" tIns="0" rIns="0" bIns="0" rtlCol="0" anchor="ctr"/>
          <a:lstStyle/>
          <a:p>
            <a:pPr indent="0" marL="0">
              <a:buNone/>
            </a:pPr>
            <a:r>
              <a:rPr lang="en-US" sz="1250" dirty="0">
                <a:solidFill>
                  <a:srgbClr val="0B2135"/>
                </a:solidFill>
                <a:latin typeface="Calibri" pitchFamily="34" charset="0"/>
                <a:ea typeface="Calibri" pitchFamily="34" charset="-122"/>
                <a:cs typeface="Calibri" pitchFamily="34" charset="-120"/>
              </a:rPr>
              <a:t>Users</a:t>
            </a:r>
            <a:endParaRPr lang="en-US" sz="1250" dirty="0"/>
          </a:p>
        </p:txBody>
      </p:sp>
      <p:sp>
        <p:nvSpPr>
          <p:cNvPr id="52" name="module-chip"/>
          <p:cNvSpPr/>
          <p:nvPr/>
        </p:nvSpPr>
        <p:spPr>
          <a:xfrm>
            <a:off x="9765792" y="4242816"/>
            <a:ext cx="1709928" cy="438912"/>
          </a:xfrm>
          <a:prstGeom prst="roundRect">
            <a:avLst>
              <a:gd name="adj" fmla="val 16667"/>
            </a:avLst>
          </a:prstGeom>
          <a:solidFill>
            <a:srgbClr val="F1F7F7"/>
          </a:solidFill>
          <a:ln w="12700">
            <a:solidFill>
              <a:srgbClr val="F1F7F7"/>
            </a:solidFill>
            <a:prstDash val="solid"/>
          </a:ln>
        </p:spPr>
      </p:sp>
      <p:sp>
        <p:nvSpPr>
          <p:cNvPr id="53" name="Text 46"/>
          <p:cNvSpPr txBox="1"/>
          <p:nvPr/>
        </p:nvSpPr>
        <p:spPr>
          <a:xfrm>
            <a:off x="9902952" y="4242816"/>
            <a:ext cx="1527048" cy="438912"/>
          </a:xfrm>
          <a:prstGeom prst="rect">
            <a:avLst/>
          </a:prstGeom>
          <a:noFill/>
          <a:ln/>
        </p:spPr>
        <p:txBody>
          <a:bodyPr wrap="square" lIns="0" tIns="0" rIns="0" bIns="0" rtlCol="0" anchor="ctr"/>
          <a:lstStyle/>
          <a:p>
            <a:pPr indent="0" marL="0">
              <a:buNone/>
            </a:pPr>
            <a:r>
              <a:rPr lang="en-US" sz="1250" dirty="0">
                <a:solidFill>
                  <a:srgbClr val="0B2135"/>
                </a:solidFill>
                <a:latin typeface="Calibri" pitchFamily="34" charset="0"/>
                <a:ea typeface="Calibri" pitchFamily="34" charset="-122"/>
                <a:cs typeface="Calibri" pitchFamily="34" charset="-120"/>
              </a:rPr>
              <a:t>Settings</a:t>
            </a:r>
            <a:endParaRPr lang="en-US" sz="1250" dirty="0"/>
          </a:p>
        </p:txBody>
      </p:sp>
      <p:sp>
        <p:nvSpPr>
          <p:cNvPr id="54" name="Text 47"/>
          <p:cNvSpPr txBox="1"/>
          <p:nvPr/>
        </p:nvSpPr>
        <p:spPr>
          <a:xfrm>
            <a:off x="548640" y="5852160"/>
            <a:ext cx="11064240" cy="365760"/>
          </a:xfrm>
          <a:prstGeom prst="rect">
            <a:avLst/>
          </a:prstGeom>
          <a:noFill/>
          <a:ln/>
        </p:spPr>
        <p:txBody>
          <a:bodyPr wrap="square" lIns="0" tIns="0" rIns="0" bIns="0" rtlCol="0" anchor="t"/>
          <a:lstStyle/>
          <a:p>
            <a:pPr indent="0" marL="0">
              <a:buNone/>
            </a:pPr>
            <a:r>
              <a:rPr lang="en-US" sz="1300" i="1" dirty="0">
                <a:solidFill>
                  <a:srgbClr val="5B6B78"/>
                </a:solidFill>
                <a:latin typeface="Calibri" pitchFamily="34" charset="0"/>
                <a:ea typeface="Calibri" pitchFamily="34" charset="-122"/>
                <a:cs typeface="Calibri" pitchFamily="34" charset="-120"/>
              </a:rPr>
              <a:t>The next slides take each module in turn: what it is for, who uses it, what it records, and how its records move from one status to the next.</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t"/>
          <a:lstStyle/>
          <a:p>
            <a:pPr indent="0" marL="0">
              <a:buNone/>
            </a:pPr>
            <a:r>
              <a:rPr lang="en-US" sz="1100" b="1" spc="300" kern="0" dirty="0">
                <a:solidFill>
                  <a:srgbClr val="F4B942"/>
                </a:solidFill>
                <a:latin typeface="Calibri" pitchFamily="34" charset="0"/>
                <a:ea typeface="Calibri" pitchFamily="34" charset="-122"/>
                <a:cs typeface="Calibri" pitchFamily="34" charset="-120"/>
              </a:rPr>
              <a:t>HOW EVERY MODULE WORKS</a:t>
            </a:r>
            <a:endParaRPr lang="en-US" sz="1100" dirty="0"/>
          </a:p>
        </p:txBody>
      </p:sp>
      <p:sp>
        <p:nvSpPr>
          <p:cNvPr id="3" name="Text 1"/>
          <p:cNvSpPr/>
          <p:nvPr>
            <p:ph idx="101" type="title" hasCustomPrompt="1"/>
          </p:nvPr>
        </p:nvSpPr>
        <p:spPr>
          <a:xfrm>
            <a:off x="548640" y="457200"/>
            <a:ext cx="1106424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Arial" pitchFamily="34" charset="0"/>
                <a:ea typeface="Arial" pitchFamily="34" charset="-122"/>
                <a:cs typeface="Arial" pitchFamily="34" charset="-120"/>
              </a:rPr>
              <a:t>Learn one screen, and you know them all</a:t>
            </a:r>
            <a:endParaRPr lang="en-US" sz="3000" dirty="0"/>
          </a:p>
        </p:txBody>
      </p:sp>
      <p:sp>
        <p:nvSpPr>
          <p:cNvPr id="4" name="pattern-card"/>
          <p:cNvSpPr/>
          <p:nvPr/>
        </p:nvSpPr>
        <p:spPr>
          <a:xfrm>
            <a:off x="548640" y="1508760"/>
            <a:ext cx="3520440" cy="2103120"/>
          </a:xfrm>
          <a:prstGeom prst="roundRect">
            <a:avLst>
              <a:gd name="adj" fmla="val 5217"/>
            </a:avLst>
          </a:prstGeom>
          <a:solidFill>
            <a:srgbClr val="16384F"/>
          </a:solidFill>
          <a:ln w="9525">
            <a:solidFill>
              <a:srgbClr val="24506B"/>
            </a:solidFill>
            <a:prstDash val="solid"/>
          </a:ln>
        </p:spPr>
      </p:sp>
      <p:sp>
        <p:nvSpPr>
          <p:cNvPr id="5" name="Text 3"/>
          <p:cNvSpPr txBox="1"/>
          <p:nvPr/>
        </p:nvSpPr>
        <p:spPr>
          <a:xfrm>
            <a:off x="3291840" y="1737360"/>
            <a:ext cx="594360" cy="365760"/>
          </a:xfrm>
          <a:prstGeom prst="rect">
            <a:avLst/>
          </a:prstGeom>
          <a:noFill/>
          <a:ln/>
        </p:spPr>
        <p:txBody>
          <a:bodyPr wrap="square" lIns="0" tIns="0" rIns="0" bIns="0" rtlCol="0" anchor="t"/>
          <a:lstStyle/>
          <a:p>
            <a:pPr algn="r" indent="0" marL="0">
              <a:buNone/>
            </a:pPr>
            <a:r>
              <a:rPr lang="en-US" sz="1600" b="1" dirty="0">
                <a:solidFill>
                  <a:srgbClr val="3D6A84"/>
                </a:solidFill>
                <a:latin typeface="Calibri" pitchFamily="34" charset="0"/>
                <a:ea typeface="Calibri" pitchFamily="34" charset="-122"/>
                <a:cs typeface="Calibri" pitchFamily="34" charset="-120"/>
              </a:rPr>
              <a:t>01</a:t>
            </a:r>
            <a:endParaRPr lang="en-US" sz="1600" dirty="0"/>
          </a:p>
        </p:txBody>
      </p:sp>
      <p:sp>
        <p:nvSpPr>
          <p:cNvPr id="6" name="icon-bg"/>
          <p:cNvSpPr/>
          <p:nvPr/>
        </p:nvSpPr>
        <p:spPr>
          <a:xfrm>
            <a:off x="822960" y="1783080"/>
            <a:ext cx="594360" cy="594360"/>
          </a:xfrm>
          <a:prstGeom prst="ellipse">
            <a:avLst/>
          </a:prstGeom>
          <a:solidFill>
            <a:srgbClr val="13A89E"/>
          </a:solidFill>
          <a:ln w="12700">
            <a:solidFill>
              <a:srgbClr val="13A89E"/>
            </a:solidFill>
            <a:prstDash val="solid"/>
          </a:ln>
        </p:spPr>
      </p:sp>
      <p:pic>
        <p:nvPicPr>
          <p:cNvPr id="7" name="icon" descr="preencoded.png">    </p:cNvPr>
          <p:cNvPicPr>
            <a:picLocks noChangeAspect="1"/>
          </p:cNvPicPr>
          <p:nvPr/>
        </p:nvPicPr>
        <p:blipFill>
          <a:blip r:embed="rId1"/>
          <a:stretch>
            <a:fillRect/>
          </a:stretch>
        </p:blipFill>
        <p:spPr>
          <a:xfrm>
            <a:off x="965606" y="1925726"/>
            <a:ext cx="309067" cy="309067"/>
          </a:xfrm>
          <a:prstGeom prst="rect">
            <a:avLst/>
          </a:prstGeom>
        </p:spPr>
      </p:pic>
      <p:sp>
        <p:nvSpPr>
          <p:cNvPr id="8" name="Text 5"/>
          <p:cNvSpPr txBox="1"/>
          <p:nvPr/>
        </p:nvSpPr>
        <p:spPr>
          <a:xfrm>
            <a:off x="822960" y="2514600"/>
            <a:ext cx="301752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Summary cards</a:t>
            </a:r>
            <a:endParaRPr lang="en-US" sz="1700" dirty="0"/>
          </a:p>
        </p:txBody>
      </p:sp>
      <p:sp>
        <p:nvSpPr>
          <p:cNvPr id="9" name="Text 6"/>
          <p:cNvSpPr txBox="1"/>
          <p:nvPr/>
        </p:nvSpPr>
        <p:spPr>
          <a:xfrm>
            <a:off x="822960" y="2880360"/>
            <a:ext cx="3017520" cy="640080"/>
          </a:xfrm>
          <a:prstGeom prst="rect">
            <a:avLst/>
          </a:prstGeom>
          <a:noFill/>
          <a:ln/>
        </p:spPr>
        <p:txBody>
          <a:bodyPr wrap="square" lIns="0" tIns="0" rIns="0" bIns="0" rtlCol="0" anchor="t"/>
          <a:lstStyle/>
          <a:p>
            <a:pPr indent="0" marL="0">
              <a:buNone/>
            </a:pPr>
            <a:r>
              <a:rPr lang="en-US" sz="1250" dirty="0">
                <a:solidFill>
                  <a:srgbClr val="C5D6DF"/>
                </a:solidFill>
                <a:latin typeface="Calibri" pitchFamily="34" charset="0"/>
                <a:ea typeface="Calibri" pitchFamily="34" charset="-122"/>
                <a:cs typeface="Calibri" pitchFamily="34" charset="-120"/>
              </a:rPr>
              <a:t>Live counts at the top: totals, open items, faults, amounts.</a:t>
            </a:r>
            <a:endParaRPr lang="en-US" sz="1250" dirty="0"/>
          </a:p>
        </p:txBody>
      </p:sp>
      <p:sp>
        <p:nvSpPr>
          <p:cNvPr id="10" name="pattern-card"/>
          <p:cNvSpPr/>
          <p:nvPr/>
        </p:nvSpPr>
        <p:spPr>
          <a:xfrm>
            <a:off x="4297680" y="1508760"/>
            <a:ext cx="3520440" cy="2103120"/>
          </a:xfrm>
          <a:prstGeom prst="roundRect">
            <a:avLst>
              <a:gd name="adj" fmla="val 5217"/>
            </a:avLst>
          </a:prstGeom>
          <a:solidFill>
            <a:srgbClr val="16384F"/>
          </a:solidFill>
          <a:ln w="9525">
            <a:solidFill>
              <a:srgbClr val="24506B"/>
            </a:solidFill>
            <a:prstDash val="solid"/>
          </a:ln>
        </p:spPr>
      </p:sp>
      <p:sp>
        <p:nvSpPr>
          <p:cNvPr id="11" name="Text 8"/>
          <p:cNvSpPr txBox="1"/>
          <p:nvPr/>
        </p:nvSpPr>
        <p:spPr>
          <a:xfrm>
            <a:off x="7040880" y="1737360"/>
            <a:ext cx="594360" cy="365760"/>
          </a:xfrm>
          <a:prstGeom prst="rect">
            <a:avLst/>
          </a:prstGeom>
          <a:noFill/>
          <a:ln/>
        </p:spPr>
        <p:txBody>
          <a:bodyPr wrap="square" lIns="0" tIns="0" rIns="0" bIns="0" rtlCol="0" anchor="t"/>
          <a:lstStyle/>
          <a:p>
            <a:pPr algn="r" indent="0" marL="0">
              <a:buNone/>
            </a:pPr>
            <a:r>
              <a:rPr lang="en-US" sz="1600" b="1" dirty="0">
                <a:solidFill>
                  <a:srgbClr val="3D6A84"/>
                </a:solidFill>
                <a:latin typeface="Calibri" pitchFamily="34" charset="0"/>
                <a:ea typeface="Calibri" pitchFamily="34" charset="-122"/>
                <a:cs typeface="Calibri" pitchFamily="34" charset="-120"/>
              </a:rPr>
              <a:t>02</a:t>
            </a:r>
            <a:endParaRPr lang="en-US" sz="1600" dirty="0"/>
          </a:p>
        </p:txBody>
      </p:sp>
      <p:sp>
        <p:nvSpPr>
          <p:cNvPr id="12" name="icon-bg"/>
          <p:cNvSpPr/>
          <p:nvPr/>
        </p:nvSpPr>
        <p:spPr>
          <a:xfrm>
            <a:off x="4572000" y="1783080"/>
            <a:ext cx="594360" cy="594360"/>
          </a:xfrm>
          <a:prstGeom prst="ellipse">
            <a:avLst/>
          </a:prstGeom>
          <a:solidFill>
            <a:srgbClr val="13A89E"/>
          </a:solidFill>
          <a:ln w="12700">
            <a:solidFill>
              <a:srgbClr val="13A89E"/>
            </a:solidFill>
            <a:prstDash val="solid"/>
          </a:ln>
        </p:spPr>
      </p:sp>
      <p:pic>
        <p:nvPicPr>
          <p:cNvPr id="13" name="icon" descr="preencoded.png">    </p:cNvPr>
          <p:cNvPicPr>
            <a:picLocks noChangeAspect="1"/>
          </p:cNvPicPr>
          <p:nvPr/>
        </p:nvPicPr>
        <p:blipFill>
          <a:blip r:embed="rId2"/>
          <a:stretch>
            <a:fillRect/>
          </a:stretch>
        </p:blipFill>
        <p:spPr>
          <a:xfrm>
            <a:off x="4714646" y="1925726"/>
            <a:ext cx="309067" cy="309067"/>
          </a:xfrm>
          <a:prstGeom prst="rect">
            <a:avLst/>
          </a:prstGeom>
        </p:spPr>
      </p:pic>
      <p:sp>
        <p:nvSpPr>
          <p:cNvPr id="14" name="Text 10"/>
          <p:cNvSpPr txBox="1"/>
          <p:nvPr/>
        </p:nvSpPr>
        <p:spPr>
          <a:xfrm>
            <a:off x="4572000" y="2514600"/>
            <a:ext cx="301752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Search &amp; filter</a:t>
            </a:r>
            <a:endParaRPr lang="en-US" sz="1700" dirty="0"/>
          </a:p>
        </p:txBody>
      </p:sp>
      <p:sp>
        <p:nvSpPr>
          <p:cNvPr id="15" name="Text 11"/>
          <p:cNvSpPr txBox="1"/>
          <p:nvPr/>
        </p:nvSpPr>
        <p:spPr>
          <a:xfrm>
            <a:off x="4572000" y="2880360"/>
            <a:ext cx="3017520" cy="640080"/>
          </a:xfrm>
          <a:prstGeom prst="rect">
            <a:avLst/>
          </a:prstGeom>
          <a:noFill/>
          <a:ln/>
        </p:spPr>
        <p:txBody>
          <a:bodyPr wrap="square" lIns="0" tIns="0" rIns="0" bIns="0" rtlCol="0" anchor="t"/>
          <a:lstStyle/>
          <a:p>
            <a:pPr indent="0" marL="0">
              <a:buNone/>
            </a:pPr>
            <a:r>
              <a:rPr lang="en-US" sz="1250" dirty="0">
                <a:solidFill>
                  <a:srgbClr val="C5D6DF"/>
                </a:solidFill>
                <a:latin typeface="Calibri" pitchFamily="34" charset="0"/>
                <a:ea typeface="Calibri" pitchFamily="34" charset="-122"/>
                <a:cs typeface="Calibri" pitchFamily="34" charset="-120"/>
              </a:rPr>
              <a:t>Find records by name, house or ID; filter by status or priority.</a:t>
            </a:r>
            <a:endParaRPr lang="en-US" sz="1250" dirty="0"/>
          </a:p>
        </p:txBody>
      </p:sp>
      <p:sp>
        <p:nvSpPr>
          <p:cNvPr id="16" name="pattern-card"/>
          <p:cNvSpPr/>
          <p:nvPr/>
        </p:nvSpPr>
        <p:spPr>
          <a:xfrm>
            <a:off x="8046720" y="1508760"/>
            <a:ext cx="3520440" cy="2103120"/>
          </a:xfrm>
          <a:prstGeom prst="roundRect">
            <a:avLst>
              <a:gd name="adj" fmla="val 5217"/>
            </a:avLst>
          </a:prstGeom>
          <a:solidFill>
            <a:srgbClr val="16384F"/>
          </a:solidFill>
          <a:ln w="9525">
            <a:solidFill>
              <a:srgbClr val="24506B"/>
            </a:solidFill>
            <a:prstDash val="solid"/>
          </a:ln>
        </p:spPr>
      </p:sp>
      <p:sp>
        <p:nvSpPr>
          <p:cNvPr id="17" name="Text 13"/>
          <p:cNvSpPr txBox="1"/>
          <p:nvPr/>
        </p:nvSpPr>
        <p:spPr>
          <a:xfrm>
            <a:off x="10789920" y="1737360"/>
            <a:ext cx="594360" cy="365760"/>
          </a:xfrm>
          <a:prstGeom prst="rect">
            <a:avLst/>
          </a:prstGeom>
          <a:noFill/>
          <a:ln/>
        </p:spPr>
        <p:txBody>
          <a:bodyPr wrap="square" lIns="0" tIns="0" rIns="0" bIns="0" rtlCol="0" anchor="t"/>
          <a:lstStyle/>
          <a:p>
            <a:pPr algn="r" indent="0" marL="0">
              <a:buNone/>
            </a:pPr>
            <a:r>
              <a:rPr lang="en-US" sz="1600" b="1" dirty="0">
                <a:solidFill>
                  <a:srgbClr val="3D6A84"/>
                </a:solidFill>
                <a:latin typeface="Calibri" pitchFamily="34" charset="0"/>
                <a:ea typeface="Calibri" pitchFamily="34" charset="-122"/>
                <a:cs typeface="Calibri" pitchFamily="34" charset="-120"/>
              </a:rPr>
              <a:t>03</a:t>
            </a:r>
            <a:endParaRPr lang="en-US" sz="1600" dirty="0"/>
          </a:p>
        </p:txBody>
      </p:sp>
      <p:sp>
        <p:nvSpPr>
          <p:cNvPr id="18" name="icon-bg"/>
          <p:cNvSpPr/>
          <p:nvPr/>
        </p:nvSpPr>
        <p:spPr>
          <a:xfrm>
            <a:off x="8321040" y="1783080"/>
            <a:ext cx="594360" cy="594360"/>
          </a:xfrm>
          <a:prstGeom prst="ellipse">
            <a:avLst/>
          </a:prstGeom>
          <a:solidFill>
            <a:srgbClr val="13A89E"/>
          </a:solidFill>
          <a:ln w="12700">
            <a:solidFill>
              <a:srgbClr val="13A89E"/>
            </a:solidFill>
            <a:prstDash val="solid"/>
          </a:ln>
        </p:spPr>
      </p:sp>
      <p:pic>
        <p:nvPicPr>
          <p:cNvPr id="19" name="icon" descr="preencoded.png">    </p:cNvPr>
          <p:cNvPicPr>
            <a:picLocks noChangeAspect="1"/>
          </p:cNvPicPr>
          <p:nvPr/>
        </p:nvPicPr>
        <p:blipFill>
          <a:blip r:embed="rId3"/>
          <a:stretch>
            <a:fillRect/>
          </a:stretch>
        </p:blipFill>
        <p:spPr>
          <a:xfrm>
            <a:off x="8463686" y="1925726"/>
            <a:ext cx="309067" cy="309067"/>
          </a:xfrm>
          <a:prstGeom prst="rect">
            <a:avLst/>
          </a:prstGeom>
        </p:spPr>
      </p:pic>
      <p:sp>
        <p:nvSpPr>
          <p:cNvPr id="20" name="Text 15"/>
          <p:cNvSpPr txBox="1"/>
          <p:nvPr/>
        </p:nvSpPr>
        <p:spPr>
          <a:xfrm>
            <a:off x="8321040" y="2514600"/>
            <a:ext cx="301752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Add a record</a:t>
            </a:r>
            <a:endParaRPr lang="en-US" sz="1700" dirty="0"/>
          </a:p>
        </p:txBody>
      </p:sp>
      <p:sp>
        <p:nvSpPr>
          <p:cNvPr id="21" name="Text 16"/>
          <p:cNvSpPr txBox="1"/>
          <p:nvPr/>
        </p:nvSpPr>
        <p:spPr>
          <a:xfrm>
            <a:off x="8321040" y="2880360"/>
            <a:ext cx="3017520" cy="640080"/>
          </a:xfrm>
          <a:prstGeom prst="rect">
            <a:avLst/>
          </a:prstGeom>
          <a:noFill/>
          <a:ln/>
        </p:spPr>
        <p:txBody>
          <a:bodyPr wrap="square" lIns="0" tIns="0" rIns="0" bIns="0" rtlCol="0" anchor="t"/>
          <a:lstStyle/>
          <a:p>
            <a:pPr indent="0" marL="0">
              <a:buNone/>
            </a:pPr>
            <a:r>
              <a:rPr lang="en-US" sz="1250" dirty="0">
                <a:solidFill>
                  <a:srgbClr val="C5D6DF"/>
                </a:solidFill>
                <a:latin typeface="Calibri" pitchFamily="34" charset="0"/>
                <a:ea typeface="Calibri" pitchFamily="34" charset="-122"/>
                <a:cs typeface="Calibri" pitchFamily="34" charset="-120"/>
              </a:rPr>
              <a:t>A short form opens in a pop-up; required fields are starred.</a:t>
            </a:r>
            <a:endParaRPr lang="en-US" sz="1250" dirty="0"/>
          </a:p>
        </p:txBody>
      </p:sp>
      <p:sp>
        <p:nvSpPr>
          <p:cNvPr id="22" name="pattern-card"/>
          <p:cNvSpPr/>
          <p:nvPr/>
        </p:nvSpPr>
        <p:spPr>
          <a:xfrm>
            <a:off x="548640" y="3840480"/>
            <a:ext cx="3520440" cy="2103120"/>
          </a:xfrm>
          <a:prstGeom prst="roundRect">
            <a:avLst>
              <a:gd name="adj" fmla="val 5217"/>
            </a:avLst>
          </a:prstGeom>
          <a:solidFill>
            <a:srgbClr val="16384F"/>
          </a:solidFill>
          <a:ln w="9525">
            <a:solidFill>
              <a:srgbClr val="24506B"/>
            </a:solidFill>
            <a:prstDash val="solid"/>
          </a:ln>
        </p:spPr>
      </p:sp>
      <p:sp>
        <p:nvSpPr>
          <p:cNvPr id="23" name="Text 18"/>
          <p:cNvSpPr txBox="1"/>
          <p:nvPr/>
        </p:nvSpPr>
        <p:spPr>
          <a:xfrm>
            <a:off x="3291840" y="4069080"/>
            <a:ext cx="594360" cy="365760"/>
          </a:xfrm>
          <a:prstGeom prst="rect">
            <a:avLst/>
          </a:prstGeom>
          <a:noFill/>
          <a:ln/>
        </p:spPr>
        <p:txBody>
          <a:bodyPr wrap="square" lIns="0" tIns="0" rIns="0" bIns="0" rtlCol="0" anchor="t"/>
          <a:lstStyle/>
          <a:p>
            <a:pPr algn="r" indent="0" marL="0">
              <a:buNone/>
            </a:pPr>
            <a:r>
              <a:rPr lang="en-US" sz="1600" b="1" dirty="0">
                <a:solidFill>
                  <a:srgbClr val="3D6A84"/>
                </a:solidFill>
                <a:latin typeface="Calibri" pitchFamily="34" charset="0"/>
                <a:ea typeface="Calibri" pitchFamily="34" charset="-122"/>
                <a:cs typeface="Calibri" pitchFamily="34" charset="-120"/>
              </a:rPr>
              <a:t>04</a:t>
            </a:r>
            <a:endParaRPr lang="en-US" sz="1600" dirty="0"/>
          </a:p>
        </p:txBody>
      </p:sp>
      <p:sp>
        <p:nvSpPr>
          <p:cNvPr id="24" name="icon-bg"/>
          <p:cNvSpPr/>
          <p:nvPr/>
        </p:nvSpPr>
        <p:spPr>
          <a:xfrm>
            <a:off x="822960" y="4114800"/>
            <a:ext cx="594360" cy="594360"/>
          </a:xfrm>
          <a:prstGeom prst="ellipse">
            <a:avLst/>
          </a:prstGeom>
          <a:solidFill>
            <a:srgbClr val="13A89E"/>
          </a:solidFill>
          <a:ln w="12700">
            <a:solidFill>
              <a:srgbClr val="13A89E"/>
            </a:solidFill>
            <a:prstDash val="solid"/>
          </a:ln>
        </p:spPr>
      </p:sp>
      <p:pic>
        <p:nvPicPr>
          <p:cNvPr id="25" name="icon" descr="preencoded.png">    </p:cNvPr>
          <p:cNvPicPr>
            <a:picLocks noChangeAspect="1"/>
          </p:cNvPicPr>
          <p:nvPr/>
        </p:nvPicPr>
        <p:blipFill>
          <a:blip r:embed="rId4"/>
          <a:stretch>
            <a:fillRect/>
          </a:stretch>
        </p:blipFill>
        <p:spPr>
          <a:xfrm>
            <a:off x="965606" y="4257446"/>
            <a:ext cx="309067" cy="309067"/>
          </a:xfrm>
          <a:prstGeom prst="rect">
            <a:avLst/>
          </a:prstGeom>
        </p:spPr>
      </p:pic>
      <p:sp>
        <p:nvSpPr>
          <p:cNvPr id="26" name="Text 20"/>
          <p:cNvSpPr txBox="1"/>
          <p:nvPr/>
        </p:nvSpPr>
        <p:spPr>
          <a:xfrm>
            <a:off x="822960" y="4846320"/>
            <a:ext cx="301752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Update status</a:t>
            </a:r>
            <a:endParaRPr lang="en-US" sz="1700" dirty="0"/>
          </a:p>
        </p:txBody>
      </p:sp>
      <p:sp>
        <p:nvSpPr>
          <p:cNvPr id="27" name="Text 21"/>
          <p:cNvSpPr txBox="1"/>
          <p:nvPr/>
        </p:nvSpPr>
        <p:spPr>
          <a:xfrm>
            <a:off x="822960" y="5212080"/>
            <a:ext cx="3017520" cy="640080"/>
          </a:xfrm>
          <a:prstGeom prst="rect">
            <a:avLst/>
          </a:prstGeom>
          <a:noFill/>
          <a:ln/>
        </p:spPr>
        <p:txBody>
          <a:bodyPr wrap="square" lIns="0" tIns="0" rIns="0" bIns="0" rtlCol="0" anchor="t"/>
          <a:lstStyle/>
          <a:p>
            <a:pPr indent="0" marL="0">
              <a:buNone/>
            </a:pPr>
            <a:r>
              <a:rPr lang="en-US" sz="1250" dirty="0">
                <a:solidFill>
                  <a:srgbClr val="C5D6DF"/>
                </a:solidFill>
                <a:latin typeface="Calibri" pitchFamily="34" charset="0"/>
                <a:ea typeface="Calibri" pitchFamily="34" charset="-122"/>
                <a:cs typeface="Calibri" pitchFamily="34" charset="-120"/>
              </a:rPr>
              <a:t>Change status in one click; counters and dashboard update.</a:t>
            </a:r>
            <a:endParaRPr lang="en-US" sz="1250" dirty="0"/>
          </a:p>
        </p:txBody>
      </p:sp>
      <p:sp>
        <p:nvSpPr>
          <p:cNvPr id="28" name="pattern-card"/>
          <p:cNvSpPr/>
          <p:nvPr/>
        </p:nvSpPr>
        <p:spPr>
          <a:xfrm>
            <a:off x="4297680" y="3840480"/>
            <a:ext cx="3520440" cy="2103120"/>
          </a:xfrm>
          <a:prstGeom prst="roundRect">
            <a:avLst>
              <a:gd name="adj" fmla="val 5217"/>
            </a:avLst>
          </a:prstGeom>
          <a:solidFill>
            <a:srgbClr val="16384F"/>
          </a:solidFill>
          <a:ln w="9525">
            <a:solidFill>
              <a:srgbClr val="24506B"/>
            </a:solidFill>
            <a:prstDash val="solid"/>
          </a:ln>
        </p:spPr>
      </p:sp>
      <p:sp>
        <p:nvSpPr>
          <p:cNvPr id="29" name="Text 23"/>
          <p:cNvSpPr txBox="1"/>
          <p:nvPr/>
        </p:nvSpPr>
        <p:spPr>
          <a:xfrm>
            <a:off x="7040880" y="4069080"/>
            <a:ext cx="594360" cy="365760"/>
          </a:xfrm>
          <a:prstGeom prst="rect">
            <a:avLst/>
          </a:prstGeom>
          <a:noFill/>
          <a:ln/>
        </p:spPr>
        <p:txBody>
          <a:bodyPr wrap="square" lIns="0" tIns="0" rIns="0" bIns="0" rtlCol="0" anchor="t"/>
          <a:lstStyle/>
          <a:p>
            <a:pPr algn="r" indent="0" marL="0">
              <a:buNone/>
            </a:pPr>
            <a:r>
              <a:rPr lang="en-US" sz="1600" b="1" dirty="0">
                <a:solidFill>
                  <a:srgbClr val="3D6A84"/>
                </a:solidFill>
                <a:latin typeface="Calibri" pitchFamily="34" charset="0"/>
                <a:ea typeface="Calibri" pitchFamily="34" charset="-122"/>
                <a:cs typeface="Calibri" pitchFamily="34" charset="-120"/>
              </a:rPr>
              <a:t>05</a:t>
            </a:r>
            <a:endParaRPr lang="en-US" sz="1600" dirty="0"/>
          </a:p>
        </p:txBody>
      </p:sp>
      <p:sp>
        <p:nvSpPr>
          <p:cNvPr id="30" name="icon-bg"/>
          <p:cNvSpPr/>
          <p:nvPr/>
        </p:nvSpPr>
        <p:spPr>
          <a:xfrm>
            <a:off x="4572000" y="4114800"/>
            <a:ext cx="594360" cy="594360"/>
          </a:xfrm>
          <a:prstGeom prst="ellipse">
            <a:avLst/>
          </a:prstGeom>
          <a:solidFill>
            <a:srgbClr val="13A89E"/>
          </a:solidFill>
          <a:ln w="12700">
            <a:solidFill>
              <a:srgbClr val="13A89E"/>
            </a:solidFill>
            <a:prstDash val="solid"/>
          </a:ln>
        </p:spPr>
      </p:sp>
      <p:pic>
        <p:nvPicPr>
          <p:cNvPr id="31" name="icon" descr="preencoded.png">    </p:cNvPr>
          <p:cNvPicPr>
            <a:picLocks noChangeAspect="1"/>
          </p:cNvPicPr>
          <p:nvPr/>
        </p:nvPicPr>
        <p:blipFill>
          <a:blip r:embed="rId5"/>
          <a:stretch>
            <a:fillRect/>
          </a:stretch>
        </p:blipFill>
        <p:spPr>
          <a:xfrm>
            <a:off x="4714646" y="4257446"/>
            <a:ext cx="309067" cy="309067"/>
          </a:xfrm>
          <a:prstGeom prst="rect">
            <a:avLst/>
          </a:prstGeom>
        </p:spPr>
      </p:pic>
      <p:sp>
        <p:nvSpPr>
          <p:cNvPr id="32" name="Text 25"/>
          <p:cNvSpPr txBox="1"/>
          <p:nvPr/>
        </p:nvSpPr>
        <p:spPr>
          <a:xfrm>
            <a:off x="4572000" y="4846320"/>
            <a:ext cx="301752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Phase &amp; sector</a:t>
            </a:r>
            <a:endParaRPr lang="en-US" sz="1700" dirty="0"/>
          </a:p>
        </p:txBody>
      </p:sp>
      <p:sp>
        <p:nvSpPr>
          <p:cNvPr id="33" name="Text 26"/>
          <p:cNvSpPr txBox="1"/>
          <p:nvPr/>
        </p:nvSpPr>
        <p:spPr>
          <a:xfrm>
            <a:off x="4572000" y="5212080"/>
            <a:ext cx="3017520" cy="640080"/>
          </a:xfrm>
          <a:prstGeom prst="rect">
            <a:avLst/>
          </a:prstGeom>
          <a:noFill/>
          <a:ln/>
        </p:spPr>
        <p:txBody>
          <a:bodyPr wrap="square" lIns="0" tIns="0" rIns="0" bIns="0" rtlCol="0" anchor="t"/>
          <a:lstStyle/>
          <a:p>
            <a:pPr indent="0" marL="0">
              <a:buNone/>
            </a:pPr>
            <a:r>
              <a:rPr lang="en-US" sz="1250" dirty="0">
                <a:solidFill>
                  <a:srgbClr val="C5D6DF"/>
                </a:solidFill>
                <a:latin typeface="Calibri" pitchFamily="34" charset="0"/>
                <a:ea typeface="Calibri" pitchFamily="34" charset="-122"/>
                <a:cs typeface="Calibri" pitchFamily="34" charset="-120"/>
              </a:rPr>
              <a:t>Every record is tagged, so the phase switcher filters it.</a:t>
            </a:r>
            <a:endParaRPr lang="en-US" sz="1250" dirty="0"/>
          </a:p>
        </p:txBody>
      </p:sp>
      <p:sp>
        <p:nvSpPr>
          <p:cNvPr id="34" name="pattern-card"/>
          <p:cNvSpPr/>
          <p:nvPr/>
        </p:nvSpPr>
        <p:spPr>
          <a:xfrm>
            <a:off x="8046720" y="3840480"/>
            <a:ext cx="3520440" cy="2103120"/>
          </a:xfrm>
          <a:prstGeom prst="roundRect">
            <a:avLst>
              <a:gd name="adj" fmla="val 5217"/>
            </a:avLst>
          </a:prstGeom>
          <a:solidFill>
            <a:srgbClr val="16384F"/>
          </a:solidFill>
          <a:ln w="9525">
            <a:solidFill>
              <a:srgbClr val="24506B"/>
            </a:solidFill>
            <a:prstDash val="solid"/>
          </a:ln>
        </p:spPr>
      </p:sp>
      <p:sp>
        <p:nvSpPr>
          <p:cNvPr id="35" name="Text 28"/>
          <p:cNvSpPr txBox="1"/>
          <p:nvPr/>
        </p:nvSpPr>
        <p:spPr>
          <a:xfrm>
            <a:off x="10789920" y="4069080"/>
            <a:ext cx="594360" cy="365760"/>
          </a:xfrm>
          <a:prstGeom prst="rect">
            <a:avLst/>
          </a:prstGeom>
          <a:noFill/>
          <a:ln/>
        </p:spPr>
        <p:txBody>
          <a:bodyPr wrap="square" lIns="0" tIns="0" rIns="0" bIns="0" rtlCol="0" anchor="t"/>
          <a:lstStyle/>
          <a:p>
            <a:pPr algn="r" indent="0" marL="0">
              <a:buNone/>
            </a:pPr>
            <a:r>
              <a:rPr lang="en-US" sz="1600" b="1" dirty="0">
                <a:solidFill>
                  <a:srgbClr val="3D6A84"/>
                </a:solidFill>
                <a:latin typeface="Calibri" pitchFamily="34" charset="0"/>
                <a:ea typeface="Calibri" pitchFamily="34" charset="-122"/>
                <a:cs typeface="Calibri" pitchFamily="34" charset="-120"/>
              </a:rPr>
              <a:t>06</a:t>
            </a:r>
            <a:endParaRPr lang="en-US" sz="1600" dirty="0"/>
          </a:p>
        </p:txBody>
      </p:sp>
      <p:sp>
        <p:nvSpPr>
          <p:cNvPr id="36" name="icon-bg"/>
          <p:cNvSpPr/>
          <p:nvPr/>
        </p:nvSpPr>
        <p:spPr>
          <a:xfrm>
            <a:off x="8321040" y="4114800"/>
            <a:ext cx="594360" cy="594360"/>
          </a:xfrm>
          <a:prstGeom prst="ellipse">
            <a:avLst/>
          </a:prstGeom>
          <a:solidFill>
            <a:srgbClr val="13A89E"/>
          </a:solidFill>
          <a:ln w="12700">
            <a:solidFill>
              <a:srgbClr val="13A89E"/>
            </a:solidFill>
            <a:prstDash val="solid"/>
          </a:ln>
        </p:spPr>
      </p:sp>
      <p:pic>
        <p:nvPicPr>
          <p:cNvPr id="37" name="icon" descr="preencoded.png">    </p:cNvPr>
          <p:cNvPicPr>
            <a:picLocks noChangeAspect="1"/>
          </p:cNvPicPr>
          <p:nvPr/>
        </p:nvPicPr>
        <p:blipFill>
          <a:blip r:embed="rId6"/>
          <a:stretch>
            <a:fillRect/>
          </a:stretch>
        </p:blipFill>
        <p:spPr>
          <a:xfrm>
            <a:off x="8463686" y="4257446"/>
            <a:ext cx="309067" cy="309067"/>
          </a:xfrm>
          <a:prstGeom prst="rect">
            <a:avLst/>
          </a:prstGeom>
        </p:spPr>
      </p:pic>
      <p:sp>
        <p:nvSpPr>
          <p:cNvPr id="38" name="Text 30"/>
          <p:cNvSpPr txBox="1"/>
          <p:nvPr/>
        </p:nvSpPr>
        <p:spPr>
          <a:xfrm>
            <a:off x="8321040" y="4846320"/>
            <a:ext cx="301752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Role-aware actions</a:t>
            </a:r>
            <a:endParaRPr lang="en-US" sz="1700" dirty="0"/>
          </a:p>
        </p:txBody>
      </p:sp>
      <p:sp>
        <p:nvSpPr>
          <p:cNvPr id="39" name="Text 31"/>
          <p:cNvSpPr txBox="1"/>
          <p:nvPr/>
        </p:nvSpPr>
        <p:spPr>
          <a:xfrm>
            <a:off x="8321040" y="5212080"/>
            <a:ext cx="3017520" cy="640080"/>
          </a:xfrm>
          <a:prstGeom prst="rect">
            <a:avLst/>
          </a:prstGeom>
          <a:noFill/>
          <a:ln/>
        </p:spPr>
        <p:txBody>
          <a:bodyPr wrap="square" lIns="0" tIns="0" rIns="0" bIns="0" rtlCol="0" anchor="t"/>
          <a:lstStyle/>
          <a:p>
            <a:pPr indent="0" marL="0">
              <a:buNone/>
            </a:pPr>
            <a:r>
              <a:rPr lang="en-US" sz="1250" dirty="0">
                <a:solidFill>
                  <a:srgbClr val="C5D6DF"/>
                </a:solidFill>
                <a:latin typeface="Calibri" pitchFamily="34" charset="0"/>
                <a:ea typeface="Calibri" pitchFamily="34" charset="-122"/>
                <a:cs typeface="Calibri" pitchFamily="34" charset="-120"/>
              </a:rPr>
              <a:t>Edit and delete buttons appear only for roles allowed to use them.</a:t>
            </a:r>
            <a:endParaRPr lang="en-US" sz="12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8B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t"/>
          <a:lstStyle/>
          <a:p>
            <a:pPr indent="0" marL="0">
              <a:buNone/>
            </a:pPr>
            <a:r>
              <a:rPr lang="en-US" sz="1100" b="1" spc="300" kern="0" dirty="0">
                <a:solidFill>
                  <a:srgbClr val="0E7C76"/>
                </a:solidFill>
                <a:latin typeface="Calibri" pitchFamily="34" charset="0"/>
                <a:ea typeface="Calibri" pitchFamily="34" charset="-122"/>
                <a:cs typeface="Calibri" pitchFamily="34" charset="-120"/>
              </a:rPr>
              <a:t>MODULE 01 · CONTROL  ·  DASHBOARD</a:t>
            </a:r>
            <a:endParaRPr lang="en-US" sz="1100" dirty="0"/>
          </a:p>
        </p:txBody>
      </p:sp>
      <p:sp>
        <p:nvSpPr>
          <p:cNvPr id="3" name="Text 1"/>
          <p:cNvSpPr/>
          <p:nvPr>
            <p:ph idx="101" type="title" hasCustomPrompt="1"/>
          </p:nvPr>
        </p:nvSpPr>
        <p:spPr>
          <a:xfrm>
            <a:off x="548640" y="457200"/>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Dashboard: the pulse of the community</a:t>
            </a:r>
            <a:endParaRPr lang="en-US" sz="3000" dirty="0"/>
          </a:p>
        </p:txBody>
      </p:sp>
      <p:sp>
        <p:nvSpPr>
          <p:cNvPr id="4" name="Text 2"/>
          <p:cNvSpPr txBox="1"/>
          <p:nvPr/>
        </p:nvSpPr>
        <p:spPr>
          <a:xfrm>
            <a:off x="548640" y="1261872"/>
            <a:ext cx="6766560" cy="548640"/>
          </a:xfrm>
          <a:prstGeom prst="rect">
            <a:avLst/>
          </a:prstGeom>
          <a:noFill/>
          <a:ln/>
        </p:spPr>
        <p:txBody>
          <a:bodyPr wrap="square" lIns="0" tIns="0" rIns="0" bIns="0" rtlCol="0" anchor="t"/>
          <a:lstStyle/>
          <a:p>
            <a:pPr indent="0" marL="0">
              <a:buNone/>
            </a:pPr>
            <a:r>
              <a:rPr lang="en-US" sz="1400" dirty="0">
                <a:solidFill>
                  <a:srgbClr val="16384F"/>
                </a:solidFill>
                <a:latin typeface="Calibri" pitchFamily="34" charset="0"/>
                <a:ea typeface="Calibri" pitchFamily="34" charset="-122"/>
                <a:cs typeface="Calibri" pitchFamily="34" charset="-120"/>
              </a:rPr>
              <a:t>The landing page for every role. It pulls live numbers from all other modules, so everyone starts the day with the same picture.</a:t>
            </a:r>
            <a:endParaRPr lang="en-US" sz="1400" dirty="0"/>
          </a:p>
        </p:txBody>
      </p:sp>
      <p:pic>
        <p:nvPicPr>
          <p:cNvPr id="5" name="screenshot" descr="img/p_resident_dash.png">    </p:cNvPr>
          <p:cNvPicPr>
            <a:picLocks noChangeAspect="1"/>
          </p:cNvPicPr>
          <p:nvPr/>
        </p:nvPicPr>
        <p:blipFill>
          <a:blip r:embed="rId1"/>
          <a:stretch>
            <a:fillRect/>
          </a:stretch>
        </p:blipFill>
        <p:spPr>
          <a:xfrm>
            <a:off x="548640" y="1920240"/>
            <a:ext cx="6766560" cy="3986632"/>
          </a:xfrm>
          <a:prstGeom prst="rect">
            <a:avLst/>
          </a:prstGeom>
          <a:effectLst>
            <a:outerShdw sx="100000" sy="100000" kx="0" ky="0" algn="bl" rotWithShape="0" blurRad="228600" dist="50800" dir="5400000">
              <a:srgbClr val="0B2135">
                <a:alpha val="22000"/>
              </a:srgbClr>
            </a:outerShdw>
          </a:effectLst>
        </p:spPr>
      </p:pic>
      <p:sp>
        <p:nvSpPr>
          <p:cNvPr id="6" name="Text 3"/>
          <p:cNvSpPr txBox="1"/>
          <p:nvPr/>
        </p:nvSpPr>
        <p:spPr>
          <a:xfrm>
            <a:off x="7680960" y="1298448"/>
            <a:ext cx="402336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EIGHT TILES — CLICK ANY TO OPEN ITS MODULE</a:t>
            </a:r>
            <a:endParaRPr lang="en-US" sz="1000" dirty="0"/>
          </a:p>
        </p:txBody>
      </p:sp>
      <p:pic>
        <p:nvPicPr>
          <p:cNvPr id="7" name="icon" descr="preencoded.png">    </p:cNvPr>
          <p:cNvPicPr>
            <a:picLocks noChangeAspect="1"/>
          </p:cNvPicPr>
          <p:nvPr/>
        </p:nvPicPr>
        <p:blipFill>
          <a:blip r:embed="rId2"/>
          <a:stretch>
            <a:fillRect/>
          </a:stretch>
        </p:blipFill>
        <p:spPr>
          <a:xfrm>
            <a:off x="7680960" y="1700784"/>
            <a:ext cx="219456" cy="219456"/>
          </a:xfrm>
          <a:prstGeom prst="rect">
            <a:avLst/>
          </a:prstGeom>
        </p:spPr>
      </p:pic>
      <p:sp>
        <p:nvSpPr>
          <p:cNvPr id="8" name="Text 4"/>
          <p:cNvSpPr txBox="1"/>
          <p:nvPr/>
        </p:nvSpPr>
        <p:spPr>
          <a:xfrm>
            <a:off x="8001000" y="1645920"/>
            <a:ext cx="2011680" cy="329184"/>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Visitors today</a:t>
            </a:r>
            <a:endParaRPr lang="en-US" sz="1200" dirty="0"/>
          </a:p>
        </p:txBody>
      </p:sp>
      <p:sp>
        <p:nvSpPr>
          <p:cNvPr id="9" name="Text 5"/>
          <p:cNvSpPr txBox="1"/>
          <p:nvPr/>
        </p:nvSpPr>
        <p:spPr>
          <a:xfrm>
            <a:off x="10012680" y="1645920"/>
            <a:ext cx="1645920" cy="329184"/>
          </a:xfrm>
          <a:prstGeom prst="rect">
            <a:avLst/>
          </a:prstGeom>
          <a:noFill/>
          <a:ln/>
        </p:spPr>
        <p:txBody>
          <a:bodyPr wrap="square" lIns="0" tIns="0" rIns="0" bIns="0" rtlCol="0" anchor="ctr"/>
          <a:lstStyle/>
          <a:p>
            <a:pPr indent="0" marL="0">
              <a:buNone/>
            </a:pPr>
            <a:r>
              <a:rPr lang="en-US" sz="1150" dirty="0">
                <a:solidFill>
                  <a:srgbClr val="5B6B78"/>
                </a:solidFill>
                <a:latin typeface="Calibri" pitchFamily="34" charset="0"/>
                <a:ea typeface="Calibri" pitchFamily="34" charset="-122"/>
                <a:cs typeface="Calibri" pitchFamily="34" charset="-120"/>
              </a:rPr>
              <a:t>→ Visitors</a:t>
            </a:r>
            <a:endParaRPr lang="en-US" sz="1150" dirty="0"/>
          </a:p>
        </p:txBody>
      </p:sp>
      <p:pic>
        <p:nvPicPr>
          <p:cNvPr id="10" name="icon" descr="preencoded.png">    </p:cNvPr>
          <p:cNvPicPr>
            <a:picLocks noChangeAspect="1"/>
          </p:cNvPicPr>
          <p:nvPr/>
        </p:nvPicPr>
        <p:blipFill>
          <a:blip r:embed="rId3"/>
          <a:stretch>
            <a:fillRect/>
          </a:stretch>
        </p:blipFill>
        <p:spPr>
          <a:xfrm>
            <a:off x="7680960" y="2084832"/>
            <a:ext cx="219456" cy="219456"/>
          </a:xfrm>
          <a:prstGeom prst="rect">
            <a:avLst/>
          </a:prstGeom>
        </p:spPr>
      </p:pic>
      <p:sp>
        <p:nvSpPr>
          <p:cNvPr id="11" name="Text 6"/>
          <p:cNvSpPr txBox="1"/>
          <p:nvPr/>
        </p:nvSpPr>
        <p:spPr>
          <a:xfrm>
            <a:off x="8001000" y="2029968"/>
            <a:ext cx="2011680" cy="329184"/>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Vehicles today</a:t>
            </a:r>
            <a:endParaRPr lang="en-US" sz="1200" dirty="0"/>
          </a:p>
        </p:txBody>
      </p:sp>
      <p:sp>
        <p:nvSpPr>
          <p:cNvPr id="12" name="Text 7"/>
          <p:cNvSpPr txBox="1"/>
          <p:nvPr/>
        </p:nvSpPr>
        <p:spPr>
          <a:xfrm>
            <a:off x="10012680" y="2029968"/>
            <a:ext cx="1645920" cy="329184"/>
          </a:xfrm>
          <a:prstGeom prst="rect">
            <a:avLst/>
          </a:prstGeom>
          <a:noFill/>
          <a:ln/>
        </p:spPr>
        <p:txBody>
          <a:bodyPr wrap="square" lIns="0" tIns="0" rIns="0" bIns="0" rtlCol="0" anchor="ctr"/>
          <a:lstStyle/>
          <a:p>
            <a:pPr indent="0" marL="0">
              <a:buNone/>
            </a:pPr>
            <a:r>
              <a:rPr lang="en-US" sz="1150" dirty="0">
                <a:solidFill>
                  <a:srgbClr val="5B6B78"/>
                </a:solidFill>
                <a:latin typeface="Calibri" pitchFamily="34" charset="0"/>
                <a:ea typeface="Calibri" pitchFamily="34" charset="-122"/>
                <a:cs typeface="Calibri" pitchFamily="34" charset="-120"/>
              </a:rPr>
              <a:t>→ Vehicles</a:t>
            </a:r>
            <a:endParaRPr lang="en-US" sz="1150" dirty="0"/>
          </a:p>
        </p:txBody>
      </p:sp>
      <p:pic>
        <p:nvPicPr>
          <p:cNvPr id="13" name="icon" descr="preencoded.png">    </p:cNvPr>
          <p:cNvPicPr>
            <a:picLocks noChangeAspect="1"/>
          </p:cNvPicPr>
          <p:nvPr/>
        </p:nvPicPr>
        <p:blipFill>
          <a:blip r:embed="rId4"/>
          <a:stretch>
            <a:fillRect/>
          </a:stretch>
        </p:blipFill>
        <p:spPr>
          <a:xfrm>
            <a:off x="7680960" y="2468880"/>
            <a:ext cx="219456" cy="219456"/>
          </a:xfrm>
          <a:prstGeom prst="rect">
            <a:avLst/>
          </a:prstGeom>
        </p:spPr>
      </p:pic>
      <p:sp>
        <p:nvSpPr>
          <p:cNvPr id="14" name="Text 8"/>
          <p:cNvSpPr txBox="1"/>
          <p:nvPr/>
        </p:nvSpPr>
        <p:spPr>
          <a:xfrm>
            <a:off x="8001000" y="2414016"/>
            <a:ext cx="2011680" cy="329184"/>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Active issues</a:t>
            </a:r>
            <a:endParaRPr lang="en-US" sz="1200" dirty="0"/>
          </a:p>
        </p:txBody>
      </p:sp>
      <p:sp>
        <p:nvSpPr>
          <p:cNvPr id="15" name="Text 9"/>
          <p:cNvSpPr txBox="1"/>
          <p:nvPr/>
        </p:nvSpPr>
        <p:spPr>
          <a:xfrm>
            <a:off x="10012680" y="2414016"/>
            <a:ext cx="1645920" cy="329184"/>
          </a:xfrm>
          <a:prstGeom prst="rect">
            <a:avLst/>
          </a:prstGeom>
          <a:noFill/>
          <a:ln/>
        </p:spPr>
        <p:txBody>
          <a:bodyPr wrap="square" lIns="0" tIns="0" rIns="0" bIns="0" rtlCol="0" anchor="ctr"/>
          <a:lstStyle/>
          <a:p>
            <a:pPr indent="0" marL="0">
              <a:buNone/>
            </a:pPr>
            <a:r>
              <a:rPr lang="en-US" sz="1150" dirty="0">
                <a:solidFill>
                  <a:srgbClr val="5B6B78"/>
                </a:solidFill>
                <a:latin typeface="Calibri" pitchFamily="34" charset="0"/>
                <a:ea typeface="Calibri" pitchFamily="34" charset="-122"/>
                <a:cs typeface="Calibri" pitchFamily="34" charset="-120"/>
              </a:rPr>
              <a:t>→ Security</a:t>
            </a:r>
            <a:endParaRPr lang="en-US" sz="1150" dirty="0"/>
          </a:p>
        </p:txBody>
      </p:sp>
      <p:pic>
        <p:nvPicPr>
          <p:cNvPr id="16" name="icon" descr="preencoded.png">    </p:cNvPr>
          <p:cNvPicPr>
            <a:picLocks noChangeAspect="1"/>
          </p:cNvPicPr>
          <p:nvPr/>
        </p:nvPicPr>
        <p:blipFill>
          <a:blip r:embed="rId5"/>
          <a:stretch>
            <a:fillRect/>
          </a:stretch>
        </p:blipFill>
        <p:spPr>
          <a:xfrm>
            <a:off x="7680960" y="2852928"/>
            <a:ext cx="219456" cy="219456"/>
          </a:xfrm>
          <a:prstGeom prst="rect">
            <a:avLst/>
          </a:prstGeom>
        </p:spPr>
      </p:pic>
      <p:sp>
        <p:nvSpPr>
          <p:cNvPr id="17" name="Text 10"/>
          <p:cNvSpPr txBox="1"/>
          <p:nvPr/>
        </p:nvSpPr>
        <p:spPr>
          <a:xfrm>
            <a:off x="8001000" y="2798064"/>
            <a:ext cx="2011680" cy="329184"/>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CCTV faults</a:t>
            </a:r>
            <a:endParaRPr lang="en-US" sz="1200" dirty="0"/>
          </a:p>
        </p:txBody>
      </p:sp>
      <p:sp>
        <p:nvSpPr>
          <p:cNvPr id="18" name="Text 11"/>
          <p:cNvSpPr txBox="1"/>
          <p:nvPr/>
        </p:nvSpPr>
        <p:spPr>
          <a:xfrm>
            <a:off x="10012680" y="2798064"/>
            <a:ext cx="1645920" cy="329184"/>
          </a:xfrm>
          <a:prstGeom prst="rect">
            <a:avLst/>
          </a:prstGeom>
          <a:noFill/>
          <a:ln/>
        </p:spPr>
        <p:txBody>
          <a:bodyPr wrap="square" lIns="0" tIns="0" rIns="0" bIns="0" rtlCol="0" anchor="ctr"/>
          <a:lstStyle/>
          <a:p>
            <a:pPr indent="0" marL="0">
              <a:buNone/>
            </a:pPr>
            <a:r>
              <a:rPr lang="en-US" sz="1150" dirty="0">
                <a:solidFill>
                  <a:srgbClr val="5B6B78"/>
                </a:solidFill>
                <a:latin typeface="Calibri" pitchFamily="34" charset="0"/>
                <a:ea typeface="Calibri" pitchFamily="34" charset="-122"/>
                <a:cs typeface="Calibri" pitchFamily="34" charset="-120"/>
              </a:rPr>
              <a:t>→ CCTV</a:t>
            </a:r>
            <a:endParaRPr lang="en-US" sz="1150" dirty="0"/>
          </a:p>
        </p:txBody>
      </p:sp>
      <p:pic>
        <p:nvPicPr>
          <p:cNvPr id="19" name="icon" descr="preencoded.png">    </p:cNvPr>
          <p:cNvPicPr>
            <a:picLocks noChangeAspect="1"/>
          </p:cNvPicPr>
          <p:nvPr/>
        </p:nvPicPr>
        <p:blipFill>
          <a:blip r:embed="rId6"/>
          <a:stretch>
            <a:fillRect/>
          </a:stretch>
        </p:blipFill>
        <p:spPr>
          <a:xfrm>
            <a:off x="7680960" y="3236976"/>
            <a:ext cx="219456" cy="219456"/>
          </a:xfrm>
          <a:prstGeom prst="rect">
            <a:avLst/>
          </a:prstGeom>
        </p:spPr>
      </p:pic>
      <p:sp>
        <p:nvSpPr>
          <p:cNvPr id="20" name="Text 12"/>
          <p:cNvSpPr txBox="1"/>
          <p:nvPr/>
        </p:nvSpPr>
        <p:spPr>
          <a:xfrm>
            <a:off x="8001000" y="3182112"/>
            <a:ext cx="2011680" cy="329184"/>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Total collection</a:t>
            </a:r>
            <a:endParaRPr lang="en-US" sz="1200" dirty="0"/>
          </a:p>
        </p:txBody>
      </p:sp>
      <p:sp>
        <p:nvSpPr>
          <p:cNvPr id="21" name="Text 13"/>
          <p:cNvSpPr txBox="1"/>
          <p:nvPr/>
        </p:nvSpPr>
        <p:spPr>
          <a:xfrm>
            <a:off x="10012680" y="3182112"/>
            <a:ext cx="1645920" cy="329184"/>
          </a:xfrm>
          <a:prstGeom prst="rect">
            <a:avLst/>
          </a:prstGeom>
          <a:noFill/>
          <a:ln/>
        </p:spPr>
        <p:txBody>
          <a:bodyPr wrap="square" lIns="0" tIns="0" rIns="0" bIns="0" rtlCol="0" anchor="ctr"/>
          <a:lstStyle/>
          <a:p>
            <a:pPr indent="0" marL="0">
              <a:buNone/>
            </a:pPr>
            <a:r>
              <a:rPr lang="en-US" sz="1150" dirty="0">
                <a:solidFill>
                  <a:srgbClr val="5B6B78"/>
                </a:solidFill>
                <a:latin typeface="Calibri" pitchFamily="34" charset="0"/>
                <a:ea typeface="Calibri" pitchFamily="34" charset="-122"/>
                <a:cs typeface="Calibri" pitchFamily="34" charset="-120"/>
              </a:rPr>
              <a:t>→ Payments</a:t>
            </a:r>
            <a:endParaRPr lang="en-US" sz="1150" dirty="0"/>
          </a:p>
        </p:txBody>
      </p:sp>
      <p:pic>
        <p:nvPicPr>
          <p:cNvPr id="22" name="icon" descr="preencoded.png">    </p:cNvPr>
          <p:cNvPicPr>
            <a:picLocks noChangeAspect="1"/>
          </p:cNvPicPr>
          <p:nvPr/>
        </p:nvPicPr>
        <p:blipFill>
          <a:blip r:embed="rId7"/>
          <a:stretch>
            <a:fillRect/>
          </a:stretch>
        </p:blipFill>
        <p:spPr>
          <a:xfrm>
            <a:off x="7680960" y="3621024"/>
            <a:ext cx="219456" cy="219456"/>
          </a:xfrm>
          <a:prstGeom prst="rect">
            <a:avLst/>
          </a:prstGeom>
        </p:spPr>
      </p:pic>
      <p:sp>
        <p:nvSpPr>
          <p:cNvPr id="23" name="Text 14"/>
          <p:cNvSpPr txBox="1"/>
          <p:nvPr/>
        </p:nvSpPr>
        <p:spPr>
          <a:xfrm>
            <a:off x="8001000" y="3566160"/>
            <a:ext cx="2011680" cy="329184"/>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Total expenses</a:t>
            </a:r>
            <a:endParaRPr lang="en-US" sz="1200" dirty="0"/>
          </a:p>
        </p:txBody>
      </p:sp>
      <p:sp>
        <p:nvSpPr>
          <p:cNvPr id="24" name="Text 15"/>
          <p:cNvSpPr txBox="1"/>
          <p:nvPr/>
        </p:nvSpPr>
        <p:spPr>
          <a:xfrm>
            <a:off x="10012680" y="3566160"/>
            <a:ext cx="1645920" cy="329184"/>
          </a:xfrm>
          <a:prstGeom prst="rect">
            <a:avLst/>
          </a:prstGeom>
          <a:noFill/>
          <a:ln/>
        </p:spPr>
        <p:txBody>
          <a:bodyPr wrap="square" lIns="0" tIns="0" rIns="0" bIns="0" rtlCol="0" anchor="ctr"/>
          <a:lstStyle/>
          <a:p>
            <a:pPr indent="0" marL="0">
              <a:buNone/>
            </a:pPr>
            <a:r>
              <a:rPr lang="en-US" sz="1150" dirty="0">
                <a:solidFill>
                  <a:srgbClr val="5B6B78"/>
                </a:solidFill>
                <a:latin typeface="Calibri" pitchFamily="34" charset="0"/>
                <a:ea typeface="Calibri" pitchFamily="34" charset="-122"/>
                <a:cs typeface="Calibri" pitchFamily="34" charset="-120"/>
              </a:rPr>
              <a:t>→ Expenses</a:t>
            </a:r>
            <a:endParaRPr lang="en-US" sz="1150" dirty="0"/>
          </a:p>
        </p:txBody>
      </p:sp>
      <p:pic>
        <p:nvPicPr>
          <p:cNvPr id="25" name="icon" descr="preencoded.png">    </p:cNvPr>
          <p:cNvPicPr>
            <a:picLocks noChangeAspect="1"/>
          </p:cNvPicPr>
          <p:nvPr/>
        </p:nvPicPr>
        <p:blipFill>
          <a:blip r:embed="rId8"/>
          <a:stretch>
            <a:fillRect/>
          </a:stretch>
        </p:blipFill>
        <p:spPr>
          <a:xfrm>
            <a:off x="7680960" y="4005072"/>
            <a:ext cx="219456" cy="219456"/>
          </a:xfrm>
          <a:prstGeom prst="rect">
            <a:avLst/>
          </a:prstGeom>
        </p:spPr>
      </p:pic>
      <p:sp>
        <p:nvSpPr>
          <p:cNvPr id="26" name="Text 16"/>
          <p:cNvSpPr txBox="1"/>
          <p:nvPr/>
        </p:nvSpPr>
        <p:spPr>
          <a:xfrm>
            <a:off x="8001000" y="3950208"/>
            <a:ext cx="2011680" cy="329184"/>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Savings amount</a:t>
            </a:r>
            <a:endParaRPr lang="en-US" sz="1200" dirty="0"/>
          </a:p>
        </p:txBody>
      </p:sp>
      <p:sp>
        <p:nvSpPr>
          <p:cNvPr id="27" name="Text 17"/>
          <p:cNvSpPr txBox="1"/>
          <p:nvPr/>
        </p:nvSpPr>
        <p:spPr>
          <a:xfrm>
            <a:off x="10012680" y="3950208"/>
            <a:ext cx="1645920" cy="329184"/>
          </a:xfrm>
          <a:prstGeom prst="rect">
            <a:avLst/>
          </a:prstGeom>
          <a:noFill/>
          <a:ln/>
        </p:spPr>
        <p:txBody>
          <a:bodyPr wrap="square" lIns="0" tIns="0" rIns="0" bIns="0" rtlCol="0" anchor="ctr"/>
          <a:lstStyle/>
          <a:p>
            <a:pPr indent="0" marL="0">
              <a:buNone/>
            </a:pPr>
            <a:r>
              <a:rPr lang="en-US" sz="1150" dirty="0">
                <a:solidFill>
                  <a:srgbClr val="5B6B78"/>
                </a:solidFill>
                <a:latin typeface="Calibri" pitchFamily="34" charset="0"/>
                <a:ea typeface="Calibri" pitchFamily="34" charset="-122"/>
                <a:cs typeface="Calibri" pitchFamily="34" charset="-120"/>
              </a:rPr>
              <a:t>→ Reports</a:t>
            </a:r>
            <a:endParaRPr lang="en-US" sz="1150" dirty="0"/>
          </a:p>
        </p:txBody>
      </p:sp>
      <p:pic>
        <p:nvPicPr>
          <p:cNvPr id="28" name="icon" descr="preencoded.png">    </p:cNvPr>
          <p:cNvPicPr>
            <a:picLocks noChangeAspect="1"/>
          </p:cNvPicPr>
          <p:nvPr/>
        </p:nvPicPr>
        <p:blipFill>
          <a:blip r:embed="rId9"/>
          <a:stretch>
            <a:fillRect/>
          </a:stretch>
        </p:blipFill>
        <p:spPr>
          <a:xfrm>
            <a:off x="7680960" y="4389120"/>
            <a:ext cx="219456" cy="219456"/>
          </a:xfrm>
          <a:prstGeom prst="rect">
            <a:avLst/>
          </a:prstGeom>
        </p:spPr>
      </p:pic>
      <p:sp>
        <p:nvSpPr>
          <p:cNvPr id="29" name="Text 18"/>
          <p:cNvSpPr txBox="1"/>
          <p:nvPr/>
        </p:nvSpPr>
        <p:spPr>
          <a:xfrm>
            <a:off x="8001000" y="4334256"/>
            <a:ext cx="2011680" cy="329184"/>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Street lights</a:t>
            </a:r>
            <a:endParaRPr lang="en-US" sz="1200" dirty="0"/>
          </a:p>
        </p:txBody>
      </p:sp>
      <p:sp>
        <p:nvSpPr>
          <p:cNvPr id="30" name="Text 19"/>
          <p:cNvSpPr txBox="1"/>
          <p:nvPr/>
        </p:nvSpPr>
        <p:spPr>
          <a:xfrm>
            <a:off x="10012680" y="4334256"/>
            <a:ext cx="1645920" cy="329184"/>
          </a:xfrm>
          <a:prstGeom prst="rect">
            <a:avLst/>
          </a:prstGeom>
          <a:noFill/>
          <a:ln/>
        </p:spPr>
        <p:txBody>
          <a:bodyPr wrap="square" lIns="0" tIns="0" rIns="0" bIns="0" rtlCol="0" anchor="ctr"/>
          <a:lstStyle/>
          <a:p>
            <a:pPr indent="0" marL="0">
              <a:buNone/>
            </a:pPr>
            <a:r>
              <a:rPr lang="en-US" sz="1150" dirty="0">
                <a:solidFill>
                  <a:srgbClr val="5B6B78"/>
                </a:solidFill>
                <a:latin typeface="Calibri" pitchFamily="34" charset="0"/>
                <a:ea typeface="Calibri" pitchFamily="34" charset="-122"/>
                <a:cs typeface="Calibri" pitchFamily="34" charset="-120"/>
              </a:rPr>
              <a:t>→ Street lights</a:t>
            </a:r>
            <a:endParaRPr lang="en-US" sz="1150" dirty="0"/>
          </a:p>
        </p:txBody>
      </p:sp>
      <p:sp>
        <p:nvSpPr>
          <p:cNvPr id="31" name="Text 20"/>
          <p:cNvSpPr txBox="1"/>
          <p:nvPr/>
        </p:nvSpPr>
        <p:spPr>
          <a:xfrm>
            <a:off x="7680960" y="4864608"/>
            <a:ext cx="402336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BELOW THE TILES</a:t>
            </a:r>
            <a:endParaRPr lang="en-US" sz="1000" dirty="0"/>
          </a:p>
        </p:txBody>
      </p:sp>
      <p:sp>
        <p:nvSpPr>
          <p:cNvPr id="32" name="Text 21"/>
          <p:cNvSpPr txBox="1"/>
          <p:nvPr/>
        </p:nvSpPr>
        <p:spPr>
          <a:xfrm>
            <a:off x="7680960" y="5120640"/>
            <a:ext cx="3977640" cy="1097280"/>
          </a:xfrm>
          <a:prstGeom prst="rect">
            <a:avLst/>
          </a:prstGeom>
          <a:noFill/>
          <a:ln/>
        </p:spPr>
        <p:txBody>
          <a:bodyPr wrap="square" lIns="0" tIns="0" rIns="0" bIns="0" rtlCol="0" anchor="t"/>
          <a:lstStyle/>
          <a:p>
            <a:pPr marL="152400" indent="-152400">
              <a:spcAft>
                <a:spcPts val="200"/>
              </a:spcAft>
              <a:buSzPct val="100000"/>
              <a:buChar char="•"/>
            </a:pPr>
            <a:r>
              <a:rPr lang="en-US" sz="1200" dirty="0">
                <a:solidFill>
                  <a:srgbClr val="0B2135"/>
                </a:solidFill>
                <a:latin typeface="Calibri" pitchFamily="34" charset="0"/>
                <a:ea typeface="Calibri" pitchFamily="34" charset="-122"/>
                <a:cs typeface="Calibri" pitchFamily="34" charset="-120"/>
              </a:rPr>
              <a:t>Visitor trend for the last 7 days</a:t>
            </a:r>
            <a:endParaRPr lang="en-US" sz="1200" dirty="0"/>
          </a:p>
          <a:p>
            <a:pPr marL="152400" indent="-152400">
              <a:spcAft>
                <a:spcPts val="200"/>
              </a:spcAft>
              <a:buSzPct val="100000"/>
              <a:buChar char="•"/>
            </a:pPr>
            <a:r>
              <a:rPr lang="en-US" sz="1200" dirty="0">
                <a:solidFill>
                  <a:srgbClr val="0B2135"/>
                </a:solidFill>
                <a:latin typeface="Calibri" pitchFamily="34" charset="0"/>
                <a:ea typeface="Calibri" pitchFamily="34" charset="-122"/>
                <a:cs typeface="Calibri" pitchFamily="34" charset="-120"/>
              </a:rPr>
              <a:t>CCTV health donut (working vs faulty)</a:t>
            </a:r>
            <a:endParaRPr lang="en-US" sz="1200" dirty="0"/>
          </a:p>
          <a:p>
            <a:pPr marL="152400" indent="-152400">
              <a:spcAft>
                <a:spcPts val="200"/>
              </a:spcAft>
              <a:buSzPct val="100000"/>
              <a:buChar char="•"/>
            </a:pPr>
            <a:r>
              <a:rPr lang="en-US" sz="1200" dirty="0">
                <a:solidFill>
                  <a:srgbClr val="0B2135"/>
                </a:solidFill>
                <a:latin typeface="Calibri" pitchFamily="34" charset="0"/>
                <a:ea typeface="Calibri" pitchFamily="34" charset="-122"/>
                <a:cs typeface="Calibri" pitchFamily="34" charset="-120"/>
              </a:rPr>
              <a:t>Recent security issues and important notices</a:t>
            </a:r>
            <a:endParaRPr lang="en-US" sz="1200" dirty="0"/>
          </a:p>
          <a:p>
            <a:pPr marL="152400" indent="-152400">
              <a:spcAft>
                <a:spcPts val="200"/>
              </a:spcAft>
              <a:buSzPct val="100000"/>
              <a:buChar char="•"/>
            </a:pPr>
            <a:r>
              <a:rPr lang="en-US" sz="1200" dirty="0">
                <a:solidFill>
                  <a:srgbClr val="0B2135"/>
                </a:solidFill>
                <a:latin typeface="Calibri" pitchFamily="34" charset="0"/>
                <a:ea typeface="Calibri" pitchFamily="34" charset="-122"/>
                <a:cs typeface="Calibri" pitchFamily="34" charset="-120"/>
              </a:rPr>
              <a:t>Phase switcher for admins and volunteers</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t"/>
          <a:lstStyle/>
          <a:p>
            <a:pPr indent="0" marL="0">
              <a:buNone/>
            </a:pPr>
            <a:r>
              <a:rPr lang="en-US" sz="1100" b="1" spc="300" kern="0" dirty="0">
                <a:solidFill>
                  <a:srgbClr val="0E7C76"/>
                </a:solidFill>
                <a:latin typeface="Calibri" pitchFamily="34" charset="0"/>
                <a:ea typeface="Calibri" pitchFamily="34" charset="-122"/>
                <a:cs typeface="Calibri" pitchFamily="34" charset="-120"/>
              </a:rPr>
              <a:t>MODULE 02 · SAFETY  ·  SECURITY ISSUES</a:t>
            </a:r>
            <a:endParaRPr lang="en-US" sz="1100" dirty="0"/>
          </a:p>
        </p:txBody>
      </p:sp>
      <p:sp>
        <p:nvSpPr>
          <p:cNvPr id="3" name="Text 1"/>
          <p:cNvSpPr/>
          <p:nvPr>
            <p:ph idx="101" type="title" hasCustomPrompt="1"/>
          </p:nvPr>
        </p:nvSpPr>
        <p:spPr>
          <a:xfrm>
            <a:off x="548640" y="457200"/>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Security Issues: every incident, tracked to closure</a:t>
            </a:r>
            <a:endParaRPr lang="en-US" sz="3000" dirty="0"/>
          </a:p>
        </p:txBody>
      </p:sp>
      <p:sp>
        <p:nvSpPr>
          <p:cNvPr id="4" name="Text 2"/>
          <p:cNvSpPr txBox="1"/>
          <p:nvPr/>
        </p:nvSpPr>
        <p:spPr>
          <a:xfrm>
            <a:off x="548640" y="1261872"/>
            <a:ext cx="5074920" cy="822960"/>
          </a:xfrm>
          <a:prstGeom prst="rect">
            <a:avLst/>
          </a:prstGeom>
          <a:noFill/>
          <a:ln/>
        </p:spPr>
        <p:txBody>
          <a:bodyPr wrap="square" lIns="0" tIns="0" rIns="0" bIns="0" rtlCol="0" anchor="t"/>
          <a:lstStyle/>
          <a:p>
            <a:pPr indent="0" marL="0">
              <a:buNone/>
            </a:pPr>
            <a:r>
              <a:rPr lang="en-US" sz="1400" dirty="0">
                <a:solidFill>
                  <a:srgbClr val="16384F"/>
                </a:solidFill>
                <a:latin typeface="Calibri" pitchFamily="34" charset="0"/>
                <a:ea typeface="Calibri" pitchFamily="34" charset="-122"/>
                <a:cs typeface="Calibri" pitchFamily="34" charset="-120"/>
              </a:rPr>
              <a:t>The community's incident register. Anyone, including residents, can raise an issue, and everyone can follow it until it is resolved.</a:t>
            </a:r>
            <a:endParaRPr lang="en-US" sz="1400" dirty="0"/>
          </a:p>
        </p:txBody>
      </p:sp>
      <p:sp>
        <p:nvSpPr>
          <p:cNvPr id="5" name="Text 3"/>
          <p:cNvSpPr txBox="1"/>
          <p:nvPr/>
        </p:nvSpPr>
        <p:spPr>
          <a:xfrm>
            <a:off x="548640" y="2176272"/>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WHO USES IT</a:t>
            </a:r>
            <a:endParaRPr lang="en-US" sz="1000" dirty="0"/>
          </a:p>
        </p:txBody>
      </p:sp>
      <p:sp>
        <p:nvSpPr>
          <p:cNvPr id="6" name="role-chip"/>
          <p:cNvSpPr/>
          <p:nvPr/>
        </p:nvSpPr>
        <p:spPr>
          <a:xfrm>
            <a:off x="548640" y="2450592"/>
            <a:ext cx="1115751" cy="329184"/>
          </a:xfrm>
          <a:prstGeom prst="roundRect">
            <a:avLst>
              <a:gd name="adj" fmla="val 50000"/>
            </a:avLst>
          </a:prstGeom>
          <a:solidFill>
            <a:srgbClr val="0B2135"/>
          </a:solidFill>
          <a:ln w="12700">
            <a:solidFill>
              <a:srgbClr val="0B2135"/>
            </a:solidFill>
            <a:prstDash val="solid"/>
          </a:ln>
        </p:spPr>
      </p:sp>
      <p:sp>
        <p:nvSpPr>
          <p:cNvPr id="7" name="Text 5"/>
          <p:cNvSpPr txBox="1"/>
          <p:nvPr/>
        </p:nvSpPr>
        <p:spPr>
          <a:xfrm>
            <a:off x="548640" y="2450592"/>
            <a:ext cx="1115751"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Super Admin</a:t>
            </a:r>
            <a:endParaRPr lang="en-US" sz="1150" dirty="0"/>
          </a:p>
        </p:txBody>
      </p:sp>
      <p:sp>
        <p:nvSpPr>
          <p:cNvPr id="8" name="role-chip"/>
          <p:cNvSpPr/>
          <p:nvPr/>
        </p:nvSpPr>
        <p:spPr>
          <a:xfrm>
            <a:off x="1774119" y="2450592"/>
            <a:ext cx="972739" cy="329184"/>
          </a:xfrm>
          <a:prstGeom prst="roundRect">
            <a:avLst>
              <a:gd name="adj" fmla="val 50000"/>
            </a:avLst>
          </a:prstGeom>
          <a:solidFill>
            <a:srgbClr val="0E7C76"/>
          </a:solidFill>
          <a:ln w="12700">
            <a:solidFill>
              <a:srgbClr val="0E7C76"/>
            </a:solidFill>
            <a:prstDash val="solid"/>
          </a:ln>
        </p:spPr>
      </p:sp>
      <p:sp>
        <p:nvSpPr>
          <p:cNvPr id="9" name="Text 7"/>
          <p:cNvSpPr txBox="1"/>
          <p:nvPr/>
        </p:nvSpPr>
        <p:spPr>
          <a:xfrm>
            <a:off x="1774119" y="2450592"/>
            <a:ext cx="972739"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Volunteer</a:t>
            </a:r>
            <a:endParaRPr lang="en-US" sz="1150" dirty="0"/>
          </a:p>
        </p:txBody>
      </p:sp>
      <p:sp>
        <p:nvSpPr>
          <p:cNvPr id="10" name="role-chip"/>
          <p:cNvSpPr/>
          <p:nvPr/>
        </p:nvSpPr>
        <p:spPr>
          <a:xfrm>
            <a:off x="2856586" y="2450592"/>
            <a:ext cx="686714" cy="329184"/>
          </a:xfrm>
          <a:prstGeom prst="roundRect">
            <a:avLst>
              <a:gd name="adj" fmla="val 50000"/>
            </a:avLst>
          </a:prstGeom>
          <a:solidFill>
            <a:srgbClr val="B57A0C"/>
          </a:solidFill>
          <a:ln w="12700">
            <a:solidFill>
              <a:srgbClr val="B57A0C"/>
            </a:solidFill>
            <a:prstDash val="solid"/>
          </a:ln>
        </p:spPr>
      </p:sp>
      <p:sp>
        <p:nvSpPr>
          <p:cNvPr id="11" name="Text 9"/>
          <p:cNvSpPr txBox="1"/>
          <p:nvPr/>
        </p:nvSpPr>
        <p:spPr>
          <a:xfrm>
            <a:off x="2856586" y="2450592"/>
            <a:ext cx="68671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Guard</a:t>
            </a:r>
            <a:endParaRPr lang="en-US" sz="1150" dirty="0"/>
          </a:p>
        </p:txBody>
      </p:sp>
      <p:sp>
        <p:nvSpPr>
          <p:cNvPr id="12" name="role-chip"/>
          <p:cNvSpPr/>
          <p:nvPr/>
        </p:nvSpPr>
        <p:spPr>
          <a:xfrm>
            <a:off x="3653028" y="2450592"/>
            <a:ext cx="2045330" cy="329184"/>
          </a:xfrm>
          <a:prstGeom prst="roundRect">
            <a:avLst>
              <a:gd name="adj" fmla="val 50000"/>
            </a:avLst>
          </a:prstGeom>
          <a:solidFill>
            <a:srgbClr val="FFFFFF"/>
          </a:solidFill>
          <a:ln w="12700">
            <a:solidFill>
              <a:srgbClr val="13A89E"/>
            </a:solidFill>
            <a:prstDash val="solid"/>
          </a:ln>
        </p:spPr>
      </p:sp>
      <p:sp>
        <p:nvSpPr>
          <p:cNvPr id="13" name="Text 11"/>
          <p:cNvSpPr txBox="1"/>
          <p:nvPr/>
        </p:nvSpPr>
        <p:spPr>
          <a:xfrm>
            <a:off x="3653028" y="2450592"/>
            <a:ext cx="2045330" cy="329184"/>
          </a:xfrm>
          <a:prstGeom prst="rect">
            <a:avLst/>
          </a:prstGeom>
          <a:noFill/>
          <a:ln/>
        </p:spPr>
        <p:txBody>
          <a:bodyPr wrap="square" lIns="0" tIns="0" rIns="0" bIns="0" rtlCol="0" anchor="ctr"/>
          <a:lstStyle/>
          <a:p>
            <a:pPr algn="ctr" indent="0" marL="0">
              <a:buNone/>
            </a:pPr>
            <a:r>
              <a:rPr lang="en-US" sz="1150" b="1" dirty="0">
                <a:solidFill>
                  <a:srgbClr val="13A89E"/>
                </a:solidFill>
                <a:latin typeface="Calibri" pitchFamily="34" charset="0"/>
                <a:ea typeface="Calibri" pitchFamily="34" charset="-122"/>
                <a:cs typeface="Calibri" pitchFamily="34" charset="-120"/>
              </a:rPr>
              <a:t>Resident · report &amp; view</a:t>
            </a:r>
            <a:endParaRPr lang="en-US" sz="1150" dirty="0"/>
          </a:p>
        </p:txBody>
      </p:sp>
      <p:sp>
        <p:nvSpPr>
          <p:cNvPr id="14" name="Text 12"/>
          <p:cNvSpPr txBox="1"/>
          <p:nvPr/>
        </p:nvSpPr>
        <p:spPr>
          <a:xfrm>
            <a:off x="548640" y="2971800"/>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WHAT GETS RECORDED</a:t>
            </a:r>
            <a:endParaRPr lang="en-US" sz="1000" dirty="0"/>
          </a:p>
        </p:txBody>
      </p:sp>
      <p:sp>
        <p:nvSpPr>
          <p:cNvPr id="15" name="field-tag"/>
          <p:cNvSpPr/>
          <p:nvPr/>
        </p:nvSpPr>
        <p:spPr>
          <a:xfrm>
            <a:off x="548640" y="3246120"/>
            <a:ext cx="2468880" cy="310896"/>
          </a:xfrm>
          <a:prstGeom prst="roundRect">
            <a:avLst>
              <a:gd name="adj" fmla="val 17647"/>
            </a:avLst>
          </a:prstGeom>
          <a:solidFill>
            <a:srgbClr val="F1F7F7"/>
          </a:solidFill>
          <a:ln w="12700">
            <a:solidFill>
              <a:srgbClr val="F1F7F7"/>
            </a:solidFill>
            <a:prstDash val="solid"/>
          </a:ln>
        </p:spPr>
      </p:sp>
      <p:sp>
        <p:nvSpPr>
          <p:cNvPr id="16" name="dot"/>
          <p:cNvSpPr/>
          <p:nvPr/>
        </p:nvSpPr>
        <p:spPr>
          <a:xfrm>
            <a:off x="658368" y="3364992"/>
            <a:ext cx="73152" cy="73152"/>
          </a:xfrm>
          <a:prstGeom prst="ellipse">
            <a:avLst/>
          </a:prstGeom>
          <a:solidFill>
            <a:srgbClr val="13A89E"/>
          </a:solidFill>
          <a:ln w="12700">
            <a:solidFill>
              <a:srgbClr val="13A89E"/>
            </a:solidFill>
            <a:prstDash val="solid"/>
          </a:ln>
        </p:spPr>
      </p:sp>
      <p:sp>
        <p:nvSpPr>
          <p:cNvPr id="17" name="Text 15"/>
          <p:cNvSpPr txBox="1"/>
          <p:nvPr/>
        </p:nvSpPr>
        <p:spPr>
          <a:xfrm>
            <a:off x="804672" y="3246120"/>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Category (5 incident types)</a:t>
            </a:r>
            <a:endParaRPr lang="en-US" sz="1100" dirty="0"/>
          </a:p>
        </p:txBody>
      </p:sp>
      <p:sp>
        <p:nvSpPr>
          <p:cNvPr id="18" name="field-tag"/>
          <p:cNvSpPr/>
          <p:nvPr/>
        </p:nvSpPr>
        <p:spPr>
          <a:xfrm>
            <a:off x="3154680" y="3246120"/>
            <a:ext cx="2468880" cy="310896"/>
          </a:xfrm>
          <a:prstGeom prst="roundRect">
            <a:avLst>
              <a:gd name="adj" fmla="val 17647"/>
            </a:avLst>
          </a:prstGeom>
          <a:solidFill>
            <a:srgbClr val="F1F7F7"/>
          </a:solidFill>
          <a:ln w="12700">
            <a:solidFill>
              <a:srgbClr val="F1F7F7"/>
            </a:solidFill>
            <a:prstDash val="solid"/>
          </a:ln>
        </p:spPr>
      </p:sp>
      <p:sp>
        <p:nvSpPr>
          <p:cNvPr id="19" name="dot"/>
          <p:cNvSpPr/>
          <p:nvPr/>
        </p:nvSpPr>
        <p:spPr>
          <a:xfrm>
            <a:off x="3264408" y="3364992"/>
            <a:ext cx="73152" cy="73152"/>
          </a:xfrm>
          <a:prstGeom prst="ellipse">
            <a:avLst/>
          </a:prstGeom>
          <a:solidFill>
            <a:srgbClr val="13A89E"/>
          </a:solidFill>
          <a:ln w="12700">
            <a:solidFill>
              <a:srgbClr val="13A89E"/>
            </a:solidFill>
            <a:prstDash val="solid"/>
          </a:ln>
        </p:spPr>
      </p:sp>
      <p:sp>
        <p:nvSpPr>
          <p:cNvPr id="20" name="Text 18"/>
          <p:cNvSpPr txBox="1"/>
          <p:nvPr/>
        </p:nvSpPr>
        <p:spPr>
          <a:xfrm>
            <a:off x="3410712" y="3246120"/>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Priority: Low / Medium / High</a:t>
            </a:r>
            <a:endParaRPr lang="en-US" sz="1100" dirty="0"/>
          </a:p>
        </p:txBody>
      </p:sp>
      <p:sp>
        <p:nvSpPr>
          <p:cNvPr id="21" name="field-tag"/>
          <p:cNvSpPr/>
          <p:nvPr/>
        </p:nvSpPr>
        <p:spPr>
          <a:xfrm>
            <a:off x="548640" y="3630168"/>
            <a:ext cx="2468880" cy="310896"/>
          </a:xfrm>
          <a:prstGeom prst="roundRect">
            <a:avLst>
              <a:gd name="adj" fmla="val 17647"/>
            </a:avLst>
          </a:prstGeom>
          <a:solidFill>
            <a:srgbClr val="F1F7F7"/>
          </a:solidFill>
          <a:ln w="12700">
            <a:solidFill>
              <a:srgbClr val="F1F7F7"/>
            </a:solidFill>
            <a:prstDash val="solid"/>
          </a:ln>
        </p:spPr>
      </p:sp>
      <p:sp>
        <p:nvSpPr>
          <p:cNvPr id="22" name="dot"/>
          <p:cNvSpPr/>
          <p:nvPr/>
        </p:nvSpPr>
        <p:spPr>
          <a:xfrm>
            <a:off x="658368" y="3749040"/>
            <a:ext cx="73152" cy="73152"/>
          </a:xfrm>
          <a:prstGeom prst="ellipse">
            <a:avLst/>
          </a:prstGeom>
          <a:solidFill>
            <a:srgbClr val="13A89E"/>
          </a:solidFill>
          <a:ln w="12700">
            <a:solidFill>
              <a:srgbClr val="13A89E"/>
            </a:solidFill>
            <a:prstDash val="solid"/>
          </a:ln>
        </p:spPr>
      </p:sp>
      <p:sp>
        <p:nvSpPr>
          <p:cNvPr id="23" name="Text 21"/>
          <p:cNvSpPr txBox="1"/>
          <p:nvPr/>
        </p:nvSpPr>
        <p:spPr>
          <a:xfrm>
            <a:off x="804672" y="3630168"/>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Phase / location</a:t>
            </a:r>
            <a:endParaRPr lang="en-US" sz="1100" dirty="0"/>
          </a:p>
        </p:txBody>
      </p:sp>
      <p:sp>
        <p:nvSpPr>
          <p:cNvPr id="24" name="field-tag"/>
          <p:cNvSpPr/>
          <p:nvPr/>
        </p:nvSpPr>
        <p:spPr>
          <a:xfrm>
            <a:off x="3154680" y="3630168"/>
            <a:ext cx="2468880" cy="310896"/>
          </a:xfrm>
          <a:prstGeom prst="roundRect">
            <a:avLst>
              <a:gd name="adj" fmla="val 17647"/>
            </a:avLst>
          </a:prstGeom>
          <a:solidFill>
            <a:srgbClr val="F1F7F7"/>
          </a:solidFill>
          <a:ln w="12700">
            <a:solidFill>
              <a:srgbClr val="F1F7F7"/>
            </a:solidFill>
            <a:prstDash val="solid"/>
          </a:ln>
        </p:spPr>
      </p:sp>
      <p:sp>
        <p:nvSpPr>
          <p:cNvPr id="25" name="dot"/>
          <p:cNvSpPr/>
          <p:nvPr/>
        </p:nvSpPr>
        <p:spPr>
          <a:xfrm>
            <a:off x="3264408" y="3749040"/>
            <a:ext cx="73152" cy="73152"/>
          </a:xfrm>
          <a:prstGeom prst="ellipse">
            <a:avLst/>
          </a:prstGeom>
          <a:solidFill>
            <a:srgbClr val="13A89E"/>
          </a:solidFill>
          <a:ln w="12700">
            <a:solidFill>
              <a:srgbClr val="13A89E"/>
            </a:solidFill>
            <a:prstDash val="solid"/>
          </a:ln>
        </p:spPr>
      </p:sp>
      <p:sp>
        <p:nvSpPr>
          <p:cNvPr id="26" name="Text 24"/>
          <p:cNvSpPr txBox="1"/>
          <p:nvPr/>
        </p:nvSpPr>
        <p:spPr>
          <a:xfrm>
            <a:off x="3410712" y="3630168"/>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Sector (optional)</a:t>
            </a:r>
            <a:endParaRPr lang="en-US" sz="1100" dirty="0"/>
          </a:p>
        </p:txBody>
      </p:sp>
      <p:sp>
        <p:nvSpPr>
          <p:cNvPr id="27" name="field-tag"/>
          <p:cNvSpPr/>
          <p:nvPr/>
        </p:nvSpPr>
        <p:spPr>
          <a:xfrm>
            <a:off x="548640" y="4014216"/>
            <a:ext cx="2468880" cy="310896"/>
          </a:xfrm>
          <a:prstGeom prst="roundRect">
            <a:avLst>
              <a:gd name="adj" fmla="val 17647"/>
            </a:avLst>
          </a:prstGeom>
          <a:solidFill>
            <a:srgbClr val="F1F7F7"/>
          </a:solidFill>
          <a:ln w="12700">
            <a:solidFill>
              <a:srgbClr val="F1F7F7"/>
            </a:solidFill>
            <a:prstDash val="solid"/>
          </a:ln>
        </p:spPr>
      </p:sp>
      <p:sp>
        <p:nvSpPr>
          <p:cNvPr id="28" name="dot"/>
          <p:cNvSpPr/>
          <p:nvPr/>
        </p:nvSpPr>
        <p:spPr>
          <a:xfrm>
            <a:off x="658368" y="4133088"/>
            <a:ext cx="73152" cy="73152"/>
          </a:xfrm>
          <a:prstGeom prst="ellipse">
            <a:avLst/>
          </a:prstGeom>
          <a:solidFill>
            <a:srgbClr val="13A89E"/>
          </a:solidFill>
          <a:ln w="12700">
            <a:solidFill>
              <a:srgbClr val="13A89E"/>
            </a:solidFill>
            <a:prstDash val="solid"/>
          </a:ln>
        </p:spPr>
      </p:sp>
      <p:sp>
        <p:nvSpPr>
          <p:cNvPr id="29" name="Text 27"/>
          <p:cNvSpPr txBox="1"/>
          <p:nvPr/>
        </p:nvSpPr>
        <p:spPr>
          <a:xfrm>
            <a:off x="804672" y="4014216"/>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Description of what happened</a:t>
            </a:r>
            <a:endParaRPr lang="en-US" sz="1100" dirty="0"/>
          </a:p>
        </p:txBody>
      </p:sp>
      <p:sp>
        <p:nvSpPr>
          <p:cNvPr id="30" name="field-tag"/>
          <p:cNvSpPr/>
          <p:nvPr/>
        </p:nvSpPr>
        <p:spPr>
          <a:xfrm>
            <a:off x="3154680" y="4014216"/>
            <a:ext cx="2468880" cy="310896"/>
          </a:xfrm>
          <a:prstGeom prst="roundRect">
            <a:avLst>
              <a:gd name="adj" fmla="val 17647"/>
            </a:avLst>
          </a:prstGeom>
          <a:solidFill>
            <a:srgbClr val="F1F7F7"/>
          </a:solidFill>
          <a:ln w="12700">
            <a:solidFill>
              <a:srgbClr val="F1F7F7"/>
            </a:solidFill>
            <a:prstDash val="solid"/>
          </a:ln>
        </p:spPr>
      </p:sp>
      <p:sp>
        <p:nvSpPr>
          <p:cNvPr id="31" name="dot"/>
          <p:cNvSpPr/>
          <p:nvPr/>
        </p:nvSpPr>
        <p:spPr>
          <a:xfrm>
            <a:off x="3264408" y="4133088"/>
            <a:ext cx="73152" cy="73152"/>
          </a:xfrm>
          <a:prstGeom prst="ellipse">
            <a:avLst/>
          </a:prstGeom>
          <a:solidFill>
            <a:srgbClr val="13A89E"/>
          </a:solidFill>
          <a:ln w="12700">
            <a:solidFill>
              <a:srgbClr val="13A89E"/>
            </a:solidFill>
            <a:prstDash val="solid"/>
          </a:ln>
        </p:spPr>
      </p:sp>
      <p:sp>
        <p:nvSpPr>
          <p:cNvPr id="32" name="Text 30"/>
          <p:cNvSpPr txBox="1"/>
          <p:nvPr/>
        </p:nvSpPr>
        <p:spPr>
          <a:xfrm>
            <a:off x="3410712" y="4014216"/>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Reported by, date, ID (auto)</a:t>
            </a:r>
            <a:endParaRPr lang="en-US" sz="1100" dirty="0"/>
          </a:p>
        </p:txBody>
      </p:sp>
      <p:sp>
        <p:nvSpPr>
          <p:cNvPr id="33" name="Text 31"/>
          <p:cNvSpPr txBox="1"/>
          <p:nvPr/>
        </p:nvSpPr>
        <p:spPr>
          <a:xfrm>
            <a:off x="548640" y="4507992"/>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STATUS FLOW</a:t>
            </a:r>
            <a:endParaRPr lang="en-US" sz="1000" dirty="0"/>
          </a:p>
        </p:txBody>
      </p:sp>
      <p:sp>
        <p:nvSpPr>
          <p:cNvPr id="34" name="flow-chip"/>
          <p:cNvSpPr/>
          <p:nvPr/>
        </p:nvSpPr>
        <p:spPr>
          <a:xfrm>
            <a:off x="548640" y="4782312"/>
            <a:ext cx="627644" cy="384048"/>
          </a:xfrm>
          <a:prstGeom prst="roundRect">
            <a:avLst>
              <a:gd name="adj" fmla="val 50000"/>
            </a:avLst>
          </a:prstGeom>
          <a:solidFill>
            <a:srgbClr val="F1F7F7"/>
          </a:solidFill>
          <a:ln w="12700">
            <a:solidFill>
              <a:srgbClr val="F0605D"/>
            </a:solidFill>
            <a:prstDash val="solid"/>
          </a:ln>
        </p:spPr>
      </p:sp>
      <p:sp>
        <p:nvSpPr>
          <p:cNvPr id="35" name="Text 33"/>
          <p:cNvSpPr txBox="1"/>
          <p:nvPr/>
        </p:nvSpPr>
        <p:spPr>
          <a:xfrm>
            <a:off x="548640" y="4782312"/>
            <a:ext cx="627644" cy="384048"/>
          </a:xfrm>
          <a:prstGeom prst="rect">
            <a:avLst/>
          </a:prstGeom>
          <a:noFill/>
          <a:ln/>
        </p:spPr>
        <p:txBody>
          <a:bodyPr wrap="square" lIns="0" tIns="0" rIns="0" bIns="0" rtlCol="0" anchor="ctr"/>
          <a:lstStyle/>
          <a:p>
            <a:pPr algn="ctr" indent="0" marL="0">
              <a:buNone/>
            </a:pPr>
            <a:r>
              <a:rPr lang="en-US" sz="1200" b="1" dirty="0">
                <a:solidFill>
                  <a:srgbClr val="F0605D"/>
                </a:solidFill>
                <a:latin typeface="Calibri" pitchFamily="34" charset="0"/>
                <a:ea typeface="Calibri" pitchFamily="34" charset="-122"/>
                <a:cs typeface="Calibri" pitchFamily="34" charset="-120"/>
              </a:rPr>
              <a:t>Open</a:t>
            </a:r>
            <a:endParaRPr lang="en-US" sz="1200" dirty="0"/>
          </a:p>
        </p:txBody>
      </p:sp>
      <p:pic>
        <p:nvPicPr>
          <p:cNvPr id="36" name="arrow" descr="preencoded.png">    </p:cNvPr>
          <p:cNvPicPr>
            <a:picLocks noChangeAspect="1"/>
          </p:cNvPicPr>
          <p:nvPr/>
        </p:nvPicPr>
        <p:blipFill>
          <a:blip r:embed="rId1"/>
          <a:stretch>
            <a:fillRect/>
          </a:stretch>
        </p:blipFill>
        <p:spPr>
          <a:xfrm>
            <a:off x="1222004" y="4873752"/>
            <a:ext cx="201168" cy="201168"/>
          </a:xfrm>
          <a:prstGeom prst="rect">
            <a:avLst/>
          </a:prstGeom>
        </p:spPr>
      </p:pic>
      <p:sp>
        <p:nvSpPr>
          <p:cNvPr id="37" name="flow-chip"/>
          <p:cNvSpPr/>
          <p:nvPr/>
        </p:nvSpPr>
        <p:spPr>
          <a:xfrm>
            <a:off x="1468892" y="4782312"/>
            <a:ext cx="1149949" cy="384048"/>
          </a:xfrm>
          <a:prstGeom prst="roundRect">
            <a:avLst>
              <a:gd name="adj" fmla="val 50000"/>
            </a:avLst>
          </a:prstGeom>
          <a:solidFill>
            <a:srgbClr val="F1F7F7"/>
          </a:solidFill>
          <a:ln w="12700">
            <a:solidFill>
              <a:srgbClr val="B57A0C"/>
            </a:solidFill>
            <a:prstDash val="solid"/>
          </a:ln>
        </p:spPr>
      </p:sp>
      <p:sp>
        <p:nvSpPr>
          <p:cNvPr id="38" name="Text 35"/>
          <p:cNvSpPr txBox="1"/>
          <p:nvPr/>
        </p:nvSpPr>
        <p:spPr>
          <a:xfrm>
            <a:off x="1468892" y="4782312"/>
            <a:ext cx="1149949" cy="384048"/>
          </a:xfrm>
          <a:prstGeom prst="rect">
            <a:avLst/>
          </a:prstGeom>
          <a:noFill/>
          <a:ln/>
        </p:spPr>
        <p:txBody>
          <a:bodyPr wrap="square" lIns="0" tIns="0" rIns="0" bIns="0" rtlCol="0" anchor="ctr"/>
          <a:lstStyle/>
          <a:p>
            <a:pPr algn="ctr" indent="0" marL="0">
              <a:buNone/>
            </a:pPr>
            <a:r>
              <a:rPr lang="en-US" sz="1200" b="1" dirty="0">
                <a:solidFill>
                  <a:srgbClr val="B57A0C"/>
                </a:solidFill>
                <a:latin typeface="Calibri" pitchFamily="34" charset="0"/>
                <a:ea typeface="Calibri" pitchFamily="34" charset="-122"/>
                <a:cs typeface="Calibri" pitchFamily="34" charset="-120"/>
              </a:rPr>
              <a:t>In Progress</a:t>
            </a:r>
            <a:endParaRPr lang="en-US" sz="1200" dirty="0"/>
          </a:p>
        </p:txBody>
      </p:sp>
      <p:pic>
        <p:nvPicPr>
          <p:cNvPr id="39" name="arrow" descr="preencoded.png">    </p:cNvPr>
          <p:cNvPicPr>
            <a:picLocks noChangeAspect="1"/>
          </p:cNvPicPr>
          <p:nvPr/>
        </p:nvPicPr>
        <p:blipFill>
          <a:blip r:embed="rId2"/>
          <a:stretch>
            <a:fillRect/>
          </a:stretch>
        </p:blipFill>
        <p:spPr>
          <a:xfrm>
            <a:off x="2664562" y="4873752"/>
            <a:ext cx="201168" cy="201168"/>
          </a:xfrm>
          <a:prstGeom prst="rect">
            <a:avLst/>
          </a:prstGeom>
        </p:spPr>
      </p:pic>
      <p:sp>
        <p:nvSpPr>
          <p:cNvPr id="40" name="flow-chip"/>
          <p:cNvSpPr/>
          <p:nvPr/>
        </p:nvSpPr>
        <p:spPr>
          <a:xfrm>
            <a:off x="2911450" y="4782312"/>
            <a:ext cx="926104" cy="384048"/>
          </a:xfrm>
          <a:prstGeom prst="roundRect">
            <a:avLst>
              <a:gd name="adj" fmla="val 50000"/>
            </a:avLst>
          </a:prstGeom>
          <a:solidFill>
            <a:srgbClr val="F1F7F7"/>
          </a:solidFill>
          <a:ln w="12700">
            <a:solidFill>
              <a:srgbClr val="0E7C76"/>
            </a:solidFill>
            <a:prstDash val="solid"/>
          </a:ln>
        </p:spPr>
      </p:sp>
      <p:sp>
        <p:nvSpPr>
          <p:cNvPr id="41" name="Text 37"/>
          <p:cNvSpPr txBox="1"/>
          <p:nvPr/>
        </p:nvSpPr>
        <p:spPr>
          <a:xfrm>
            <a:off x="2911450" y="4782312"/>
            <a:ext cx="926104" cy="384048"/>
          </a:xfrm>
          <a:prstGeom prst="rect">
            <a:avLst/>
          </a:prstGeom>
          <a:noFill/>
          <a:ln/>
        </p:spPr>
        <p:txBody>
          <a:bodyPr wrap="square" lIns="0" tIns="0" rIns="0" bIns="0" rtlCol="0" anchor="ctr"/>
          <a:lstStyle/>
          <a:p>
            <a:pPr algn="ctr" indent="0" marL="0">
              <a:buNone/>
            </a:pPr>
            <a:r>
              <a:rPr lang="en-US" sz="1200" b="1" dirty="0">
                <a:solidFill>
                  <a:srgbClr val="0E7C76"/>
                </a:solidFill>
                <a:latin typeface="Calibri" pitchFamily="34" charset="0"/>
                <a:ea typeface="Calibri" pitchFamily="34" charset="-122"/>
                <a:cs typeface="Calibri" pitchFamily="34" charset="-120"/>
              </a:rPr>
              <a:t>Resolved</a:t>
            </a:r>
            <a:endParaRPr lang="en-US" sz="1200" dirty="0"/>
          </a:p>
        </p:txBody>
      </p:sp>
      <p:sp>
        <p:nvSpPr>
          <p:cNvPr id="42" name="icon-bg"/>
          <p:cNvSpPr/>
          <p:nvPr/>
        </p:nvSpPr>
        <p:spPr>
          <a:xfrm>
            <a:off x="548640" y="5376672"/>
            <a:ext cx="384048" cy="384048"/>
          </a:xfrm>
          <a:prstGeom prst="ellipse">
            <a:avLst/>
          </a:prstGeom>
          <a:solidFill>
            <a:srgbClr val="F4B942"/>
          </a:solidFill>
          <a:ln w="12700">
            <a:solidFill>
              <a:srgbClr val="F4B942"/>
            </a:solidFill>
            <a:prstDash val="solid"/>
          </a:ln>
        </p:spPr>
      </p:sp>
      <p:pic>
        <p:nvPicPr>
          <p:cNvPr id="43" name="icon" descr="preencoded.png">    </p:cNvPr>
          <p:cNvPicPr>
            <a:picLocks noChangeAspect="1"/>
          </p:cNvPicPr>
          <p:nvPr/>
        </p:nvPicPr>
        <p:blipFill>
          <a:blip r:embed="rId3"/>
          <a:stretch>
            <a:fillRect/>
          </a:stretch>
        </p:blipFill>
        <p:spPr>
          <a:xfrm>
            <a:off x="640812" y="5468844"/>
            <a:ext cx="199705" cy="199705"/>
          </a:xfrm>
          <a:prstGeom prst="rect">
            <a:avLst/>
          </a:prstGeom>
        </p:spPr>
      </p:pic>
      <p:sp>
        <p:nvSpPr>
          <p:cNvPr id="44" name="Text 39"/>
          <p:cNvSpPr txBox="1"/>
          <p:nvPr/>
        </p:nvSpPr>
        <p:spPr>
          <a:xfrm>
            <a:off x="1051560" y="5340096"/>
            <a:ext cx="4572000" cy="548640"/>
          </a:xfrm>
          <a:prstGeom prst="rect">
            <a:avLst/>
          </a:prstGeom>
          <a:noFill/>
          <a:ln/>
        </p:spPr>
        <p:txBody>
          <a:bodyPr wrap="square" lIns="0" tIns="0" rIns="0" bIns="0" rtlCol="0" anchor="ctr"/>
          <a:lstStyle/>
          <a:p>
            <a:pPr indent="0" marL="0">
              <a:buNone/>
            </a:pPr>
            <a:r>
              <a:rPr lang="en-US" sz="1150" dirty="0">
                <a:solidFill>
                  <a:srgbClr val="0B2135"/>
                </a:solidFill>
                <a:latin typeface="Calibri" pitchFamily="34" charset="0"/>
                <a:ea typeface="Calibri" pitchFamily="34" charset="-122"/>
                <a:cs typeface="Calibri" pitchFamily="34" charset="-120"/>
              </a:rPr>
              <a:t>Categories: suspicious activity, trespassing, vandalism, infrastructure damage, CCTV / camera fault.</a:t>
            </a:r>
            <a:endParaRPr lang="en-US" sz="1150" dirty="0"/>
          </a:p>
        </p:txBody>
      </p:sp>
      <p:pic>
        <p:nvPicPr>
          <p:cNvPr id="45" name="screenshot" descr="img/p_security.png">    </p:cNvPr>
          <p:cNvPicPr>
            <a:picLocks noChangeAspect="1"/>
          </p:cNvPicPr>
          <p:nvPr/>
        </p:nvPicPr>
        <p:blipFill>
          <a:blip r:embed="rId4"/>
          <a:stretch>
            <a:fillRect/>
          </a:stretch>
        </p:blipFill>
        <p:spPr>
          <a:xfrm>
            <a:off x="5989320" y="1261872"/>
            <a:ext cx="5669280" cy="2676182"/>
          </a:xfrm>
          <a:prstGeom prst="rect">
            <a:avLst/>
          </a:prstGeom>
          <a:effectLst>
            <a:outerShdw sx="100000" sy="100000" kx="0" ky="0" algn="bl" rotWithShape="0" blurRad="228600" dist="50800" dir="5400000">
              <a:srgbClr val="0B2135">
                <a:alpha val="22000"/>
              </a:srgbClr>
            </a:outerShdw>
          </a:effectLst>
        </p:spPr>
      </p:pic>
      <p:pic>
        <p:nvPicPr>
          <p:cNvPr id="46" name="form-inset" descr="img/modal_issue.png">    </p:cNvPr>
          <p:cNvPicPr>
            <a:picLocks noChangeAspect="1"/>
          </p:cNvPicPr>
          <p:nvPr/>
        </p:nvPicPr>
        <p:blipFill>
          <a:blip r:embed="rId5"/>
          <a:stretch>
            <a:fillRect/>
          </a:stretch>
        </p:blipFill>
        <p:spPr>
          <a:xfrm>
            <a:off x="9213014" y="3749040"/>
            <a:ext cx="2354146" cy="2423160"/>
          </a:xfrm>
          <a:prstGeom prst="rect">
            <a:avLst/>
          </a:prstGeom>
          <a:effectLst>
            <a:outerShdw sx="100000" sy="100000" kx="0" ky="0" algn="bl" rotWithShape="0" blurRad="279400" dist="63500" dir="5400000">
              <a:srgbClr val="0B2135">
                <a:alpha val="30000"/>
              </a:srgbClr>
            </a:outerShdw>
          </a:effectLst>
        </p:spPr>
      </p:pic>
      <p:sp>
        <p:nvSpPr>
          <p:cNvPr id="47" name="Text 40"/>
          <p:cNvSpPr txBox="1"/>
          <p:nvPr/>
        </p:nvSpPr>
        <p:spPr>
          <a:xfrm>
            <a:off x="5989320" y="4212374"/>
            <a:ext cx="310896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SUMMARY CARDS ON THIS PAGE</a:t>
            </a:r>
            <a:endParaRPr lang="en-US" sz="1000" dirty="0"/>
          </a:p>
        </p:txBody>
      </p:sp>
      <p:sp>
        <p:nvSpPr>
          <p:cNvPr id="48" name="dot"/>
          <p:cNvSpPr/>
          <p:nvPr/>
        </p:nvSpPr>
        <p:spPr>
          <a:xfrm>
            <a:off x="5989320" y="4596422"/>
            <a:ext cx="128016" cy="128016"/>
          </a:xfrm>
          <a:prstGeom prst="ellipse">
            <a:avLst/>
          </a:prstGeom>
          <a:solidFill>
            <a:srgbClr val="F0605D"/>
          </a:solidFill>
          <a:ln w="12700">
            <a:solidFill>
              <a:srgbClr val="F0605D"/>
            </a:solidFill>
            <a:prstDash val="solid"/>
          </a:ln>
        </p:spPr>
      </p:sp>
      <p:sp>
        <p:nvSpPr>
          <p:cNvPr id="49" name="Text 42"/>
          <p:cNvSpPr txBox="1"/>
          <p:nvPr/>
        </p:nvSpPr>
        <p:spPr>
          <a:xfrm>
            <a:off x="6217920" y="4504982"/>
            <a:ext cx="2743200" cy="310896"/>
          </a:xfrm>
          <a:prstGeom prst="rect">
            <a:avLst/>
          </a:prstGeom>
          <a:noFill/>
          <a:ln/>
        </p:spPr>
        <p:txBody>
          <a:bodyPr wrap="square" lIns="0" tIns="0" rIns="0" bIns="0" rtlCol="0" anchor="ctr"/>
          <a:lstStyle/>
          <a:p>
            <a:pPr indent="0" marL="0">
              <a:buNone/>
            </a:pPr>
            <a:r>
              <a:rPr lang="en-US" sz="1200" dirty="0">
                <a:solidFill>
                  <a:srgbClr val="0B2135"/>
                </a:solidFill>
                <a:latin typeface="Calibri" pitchFamily="34" charset="0"/>
                <a:ea typeface="Calibri" pitchFamily="34" charset="-122"/>
                <a:cs typeface="Calibri" pitchFamily="34" charset="-120"/>
              </a:rPr>
              <a:t>Active issues (Open + In Progress)</a:t>
            </a:r>
            <a:endParaRPr lang="en-US" sz="1200" dirty="0"/>
          </a:p>
        </p:txBody>
      </p:sp>
      <p:sp>
        <p:nvSpPr>
          <p:cNvPr id="50" name="dot"/>
          <p:cNvSpPr/>
          <p:nvPr/>
        </p:nvSpPr>
        <p:spPr>
          <a:xfrm>
            <a:off x="5989320" y="4980470"/>
            <a:ext cx="128016" cy="128016"/>
          </a:xfrm>
          <a:prstGeom prst="ellipse">
            <a:avLst/>
          </a:prstGeom>
          <a:solidFill>
            <a:srgbClr val="5B8DEF"/>
          </a:solidFill>
          <a:ln w="12700">
            <a:solidFill>
              <a:srgbClr val="5B8DEF"/>
            </a:solidFill>
            <a:prstDash val="solid"/>
          </a:ln>
        </p:spPr>
      </p:sp>
      <p:sp>
        <p:nvSpPr>
          <p:cNvPr id="51" name="Text 44"/>
          <p:cNvSpPr txBox="1"/>
          <p:nvPr/>
        </p:nvSpPr>
        <p:spPr>
          <a:xfrm>
            <a:off x="6217920" y="4889030"/>
            <a:ext cx="2743200" cy="310896"/>
          </a:xfrm>
          <a:prstGeom prst="rect">
            <a:avLst/>
          </a:prstGeom>
          <a:noFill/>
          <a:ln/>
        </p:spPr>
        <p:txBody>
          <a:bodyPr wrap="square" lIns="0" tIns="0" rIns="0" bIns="0" rtlCol="0" anchor="ctr"/>
          <a:lstStyle/>
          <a:p>
            <a:pPr indent="0" marL="0">
              <a:buNone/>
            </a:pPr>
            <a:r>
              <a:rPr lang="en-US" sz="1200" dirty="0">
                <a:solidFill>
                  <a:srgbClr val="0B2135"/>
                </a:solidFill>
                <a:latin typeface="Calibri" pitchFamily="34" charset="0"/>
                <a:ea typeface="Calibri" pitchFamily="34" charset="-122"/>
                <a:cs typeface="Calibri" pitchFamily="34" charset="-120"/>
              </a:rPr>
              <a:t>Total reported</a:t>
            </a:r>
            <a:endParaRPr lang="en-US" sz="1200" dirty="0"/>
          </a:p>
        </p:txBody>
      </p:sp>
      <p:sp>
        <p:nvSpPr>
          <p:cNvPr id="52" name="dot"/>
          <p:cNvSpPr/>
          <p:nvPr/>
        </p:nvSpPr>
        <p:spPr>
          <a:xfrm>
            <a:off x="5989320" y="5364518"/>
            <a:ext cx="128016" cy="128016"/>
          </a:xfrm>
          <a:prstGeom prst="ellipse">
            <a:avLst/>
          </a:prstGeom>
          <a:solidFill>
            <a:srgbClr val="13A89E"/>
          </a:solidFill>
          <a:ln w="12700">
            <a:solidFill>
              <a:srgbClr val="13A89E"/>
            </a:solidFill>
            <a:prstDash val="solid"/>
          </a:ln>
        </p:spPr>
      </p:sp>
      <p:sp>
        <p:nvSpPr>
          <p:cNvPr id="53" name="Text 46"/>
          <p:cNvSpPr txBox="1"/>
          <p:nvPr/>
        </p:nvSpPr>
        <p:spPr>
          <a:xfrm>
            <a:off x="6217920" y="5273078"/>
            <a:ext cx="2743200" cy="310896"/>
          </a:xfrm>
          <a:prstGeom prst="rect">
            <a:avLst/>
          </a:prstGeom>
          <a:noFill/>
          <a:ln/>
        </p:spPr>
        <p:txBody>
          <a:bodyPr wrap="square" lIns="0" tIns="0" rIns="0" bIns="0" rtlCol="0" anchor="ctr"/>
          <a:lstStyle/>
          <a:p>
            <a:pPr indent="0" marL="0">
              <a:buNone/>
            </a:pPr>
            <a:r>
              <a:rPr lang="en-US" sz="1200" dirty="0">
                <a:solidFill>
                  <a:srgbClr val="0B2135"/>
                </a:solidFill>
                <a:latin typeface="Calibri" pitchFamily="34" charset="0"/>
                <a:ea typeface="Calibri" pitchFamily="34" charset="-122"/>
                <a:cs typeface="Calibri" pitchFamily="34" charset="-120"/>
              </a:rPr>
              <a:t>Resolved</a:t>
            </a:r>
            <a:endParaRPr lang="en-US" sz="1200" dirty="0"/>
          </a:p>
        </p:txBody>
      </p:sp>
      <p:sp>
        <p:nvSpPr>
          <p:cNvPr id="54" name="dot"/>
          <p:cNvSpPr/>
          <p:nvPr/>
        </p:nvSpPr>
        <p:spPr>
          <a:xfrm>
            <a:off x="5989320" y="5748566"/>
            <a:ext cx="128016" cy="128016"/>
          </a:xfrm>
          <a:prstGeom prst="ellipse">
            <a:avLst/>
          </a:prstGeom>
          <a:solidFill>
            <a:srgbClr val="8B5CF6"/>
          </a:solidFill>
          <a:ln w="12700">
            <a:solidFill>
              <a:srgbClr val="8B5CF6"/>
            </a:solidFill>
            <a:prstDash val="solid"/>
          </a:ln>
        </p:spPr>
      </p:sp>
      <p:sp>
        <p:nvSpPr>
          <p:cNvPr id="55" name="Text 48"/>
          <p:cNvSpPr txBox="1"/>
          <p:nvPr/>
        </p:nvSpPr>
        <p:spPr>
          <a:xfrm>
            <a:off x="6217920" y="5657126"/>
            <a:ext cx="2743200" cy="310896"/>
          </a:xfrm>
          <a:prstGeom prst="rect">
            <a:avLst/>
          </a:prstGeom>
          <a:noFill/>
          <a:ln/>
        </p:spPr>
        <p:txBody>
          <a:bodyPr wrap="square" lIns="0" tIns="0" rIns="0" bIns="0" rtlCol="0" anchor="ctr"/>
          <a:lstStyle/>
          <a:p>
            <a:pPr indent="0" marL="0">
              <a:buNone/>
            </a:pPr>
            <a:r>
              <a:rPr lang="en-US" sz="1200" dirty="0">
                <a:solidFill>
                  <a:srgbClr val="0B2135"/>
                </a:solidFill>
                <a:latin typeface="Calibri" pitchFamily="34" charset="0"/>
                <a:ea typeface="Calibri" pitchFamily="34" charset="-122"/>
                <a:cs typeface="Calibri" pitchFamily="34" charset="-120"/>
              </a:rPr>
              <a:t>Patrol rounds completed (e.g. 2/3)</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t"/>
          <a:lstStyle/>
          <a:p>
            <a:pPr indent="0" marL="0">
              <a:buNone/>
            </a:pPr>
            <a:r>
              <a:rPr lang="en-US" sz="1100" b="1" spc="300" kern="0" dirty="0">
                <a:solidFill>
                  <a:srgbClr val="0E7C76"/>
                </a:solidFill>
                <a:latin typeface="Calibri" pitchFamily="34" charset="0"/>
                <a:ea typeface="Calibri" pitchFamily="34" charset="-122"/>
                <a:cs typeface="Calibri" pitchFamily="34" charset="-120"/>
              </a:rPr>
              <a:t>MODULE 03 · SAFETY  ·  CCTV CAMERAS</a:t>
            </a:r>
            <a:endParaRPr lang="en-US" sz="1100" dirty="0"/>
          </a:p>
        </p:txBody>
      </p:sp>
      <p:sp>
        <p:nvSpPr>
          <p:cNvPr id="3" name="Text 1"/>
          <p:cNvSpPr/>
          <p:nvPr>
            <p:ph idx="101" type="title" hasCustomPrompt="1"/>
          </p:nvPr>
        </p:nvSpPr>
        <p:spPr>
          <a:xfrm>
            <a:off x="548640" y="457200"/>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CCTV Cameras: is every camera actually working?</a:t>
            </a:r>
            <a:endParaRPr lang="en-US" sz="3000" dirty="0"/>
          </a:p>
        </p:txBody>
      </p:sp>
      <p:sp>
        <p:nvSpPr>
          <p:cNvPr id="4" name="Text 2"/>
          <p:cNvSpPr txBox="1"/>
          <p:nvPr/>
        </p:nvSpPr>
        <p:spPr>
          <a:xfrm>
            <a:off x="548640" y="1261872"/>
            <a:ext cx="5074920" cy="822960"/>
          </a:xfrm>
          <a:prstGeom prst="rect">
            <a:avLst/>
          </a:prstGeom>
          <a:noFill/>
          <a:ln/>
        </p:spPr>
        <p:txBody>
          <a:bodyPr wrap="square" lIns="0" tIns="0" rIns="0" bIns="0" rtlCol="0" anchor="t"/>
          <a:lstStyle/>
          <a:p>
            <a:pPr indent="0" marL="0">
              <a:buNone/>
            </a:pPr>
            <a:r>
              <a:rPr lang="en-US" sz="1400" dirty="0">
                <a:solidFill>
                  <a:srgbClr val="16384F"/>
                </a:solidFill>
                <a:latin typeface="Calibri" pitchFamily="34" charset="0"/>
                <a:ea typeface="Calibri" pitchFamily="34" charset="-122"/>
                <a:cs typeface="Calibri" pitchFamily="34" charset="-120"/>
              </a:rPr>
              <a:t>A live directory of every camera in the community and its health, so a dead camera is noticed the same day — not after an incident.</a:t>
            </a:r>
            <a:endParaRPr lang="en-US" sz="1400" dirty="0"/>
          </a:p>
        </p:txBody>
      </p:sp>
      <p:sp>
        <p:nvSpPr>
          <p:cNvPr id="5" name="Text 3"/>
          <p:cNvSpPr txBox="1"/>
          <p:nvPr/>
        </p:nvSpPr>
        <p:spPr>
          <a:xfrm>
            <a:off x="548640" y="2176272"/>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WHO USES IT</a:t>
            </a:r>
            <a:endParaRPr lang="en-US" sz="1000" dirty="0"/>
          </a:p>
        </p:txBody>
      </p:sp>
      <p:sp>
        <p:nvSpPr>
          <p:cNvPr id="6" name="role-chip"/>
          <p:cNvSpPr/>
          <p:nvPr/>
        </p:nvSpPr>
        <p:spPr>
          <a:xfrm>
            <a:off x="548640" y="2450592"/>
            <a:ext cx="1115751" cy="329184"/>
          </a:xfrm>
          <a:prstGeom prst="roundRect">
            <a:avLst>
              <a:gd name="adj" fmla="val 50000"/>
            </a:avLst>
          </a:prstGeom>
          <a:solidFill>
            <a:srgbClr val="0B2135"/>
          </a:solidFill>
          <a:ln w="12700">
            <a:solidFill>
              <a:srgbClr val="0B2135"/>
            </a:solidFill>
            <a:prstDash val="solid"/>
          </a:ln>
        </p:spPr>
      </p:sp>
      <p:sp>
        <p:nvSpPr>
          <p:cNvPr id="7" name="Text 5"/>
          <p:cNvSpPr txBox="1"/>
          <p:nvPr/>
        </p:nvSpPr>
        <p:spPr>
          <a:xfrm>
            <a:off x="548640" y="2450592"/>
            <a:ext cx="1115751"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Super Admin</a:t>
            </a:r>
            <a:endParaRPr lang="en-US" sz="1150" dirty="0"/>
          </a:p>
        </p:txBody>
      </p:sp>
      <p:sp>
        <p:nvSpPr>
          <p:cNvPr id="8" name="role-chip"/>
          <p:cNvSpPr/>
          <p:nvPr/>
        </p:nvSpPr>
        <p:spPr>
          <a:xfrm>
            <a:off x="1774119" y="2450592"/>
            <a:ext cx="972739" cy="329184"/>
          </a:xfrm>
          <a:prstGeom prst="roundRect">
            <a:avLst>
              <a:gd name="adj" fmla="val 50000"/>
            </a:avLst>
          </a:prstGeom>
          <a:solidFill>
            <a:srgbClr val="0E7C76"/>
          </a:solidFill>
          <a:ln w="12700">
            <a:solidFill>
              <a:srgbClr val="0E7C76"/>
            </a:solidFill>
            <a:prstDash val="solid"/>
          </a:ln>
        </p:spPr>
      </p:sp>
      <p:sp>
        <p:nvSpPr>
          <p:cNvPr id="9" name="Text 7"/>
          <p:cNvSpPr txBox="1"/>
          <p:nvPr/>
        </p:nvSpPr>
        <p:spPr>
          <a:xfrm>
            <a:off x="1774119" y="2450592"/>
            <a:ext cx="972739"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Volunteer</a:t>
            </a:r>
            <a:endParaRPr lang="en-US" sz="1150" dirty="0"/>
          </a:p>
        </p:txBody>
      </p:sp>
      <p:sp>
        <p:nvSpPr>
          <p:cNvPr id="10" name="role-chip"/>
          <p:cNvSpPr/>
          <p:nvPr/>
        </p:nvSpPr>
        <p:spPr>
          <a:xfrm>
            <a:off x="2856586" y="2450592"/>
            <a:ext cx="1401775" cy="329184"/>
          </a:xfrm>
          <a:prstGeom prst="roundRect">
            <a:avLst>
              <a:gd name="adj" fmla="val 50000"/>
            </a:avLst>
          </a:prstGeom>
          <a:solidFill>
            <a:srgbClr val="FFFFFF"/>
          </a:solidFill>
          <a:ln w="12700">
            <a:solidFill>
              <a:srgbClr val="13A89E"/>
            </a:solidFill>
            <a:prstDash val="solid"/>
          </a:ln>
        </p:spPr>
      </p:sp>
      <p:sp>
        <p:nvSpPr>
          <p:cNvPr id="11" name="Text 9"/>
          <p:cNvSpPr txBox="1"/>
          <p:nvPr/>
        </p:nvSpPr>
        <p:spPr>
          <a:xfrm>
            <a:off x="2856586" y="2450592"/>
            <a:ext cx="1401775" cy="329184"/>
          </a:xfrm>
          <a:prstGeom prst="rect">
            <a:avLst/>
          </a:prstGeom>
          <a:noFill/>
          <a:ln/>
        </p:spPr>
        <p:txBody>
          <a:bodyPr wrap="square" lIns="0" tIns="0" rIns="0" bIns="0" rtlCol="0" anchor="ctr"/>
          <a:lstStyle/>
          <a:p>
            <a:pPr algn="ctr" indent="0" marL="0">
              <a:buNone/>
            </a:pPr>
            <a:r>
              <a:rPr lang="en-US" sz="1150" b="1" dirty="0">
                <a:solidFill>
                  <a:srgbClr val="13A89E"/>
                </a:solidFill>
                <a:latin typeface="Calibri" pitchFamily="34" charset="0"/>
                <a:ea typeface="Calibri" pitchFamily="34" charset="-122"/>
                <a:cs typeface="Calibri" pitchFamily="34" charset="-120"/>
              </a:rPr>
              <a:t>Resident · view</a:t>
            </a:r>
            <a:endParaRPr lang="en-US" sz="1150" dirty="0"/>
          </a:p>
        </p:txBody>
      </p:sp>
      <p:sp>
        <p:nvSpPr>
          <p:cNvPr id="12" name="Text 10"/>
          <p:cNvSpPr txBox="1"/>
          <p:nvPr/>
        </p:nvSpPr>
        <p:spPr>
          <a:xfrm>
            <a:off x="548640" y="2971800"/>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WHAT GETS RECORDED</a:t>
            </a:r>
            <a:endParaRPr lang="en-US" sz="1000" dirty="0"/>
          </a:p>
        </p:txBody>
      </p:sp>
      <p:sp>
        <p:nvSpPr>
          <p:cNvPr id="13" name="field-tag"/>
          <p:cNvSpPr/>
          <p:nvPr/>
        </p:nvSpPr>
        <p:spPr>
          <a:xfrm>
            <a:off x="548640" y="3246120"/>
            <a:ext cx="2468880" cy="310896"/>
          </a:xfrm>
          <a:prstGeom prst="roundRect">
            <a:avLst>
              <a:gd name="adj" fmla="val 17647"/>
            </a:avLst>
          </a:prstGeom>
          <a:solidFill>
            <a:srgbClr val="F1F7F7"/>
          </a:solidFill>
          <a:ln w="12700">
            <a:solidFill>
              <a:srgbClr val="F1F7F7"/>
            </a:solidFill>
            <a:prstDash val="solid"/>
          </a:ln>
        </p:spPr>
      </p:sp>
      <p:sp>
        <p:nvSpPr>
          <p:cNvPr id="14" name="dot"/>
          <p:cNvSpPr/>
          <p:nvPr/>
        </p:nvSpPr>
        <p:spPr>
          <a:xfrm>
            <a:off x="658368" y="3364992"/>
            <a:ext cx="73152" cy="73152"/>
          </a:xfrm>
          <a:prstGeom prst="ellipse">
            <a:avLst/>
          </a:prstGeom>
          <a:solidFill>
            <a:srgbClr val="13A89E"/>
          </a:solidFill>
          <a:ln w="12700">
            <a:solidFill>
              <a:srgbClr val="13A89E"/>
            </a:solidFill>
            <a:prstDash val="solid"/>
          </a:ln>
        </p:spPr>
      </p:sp>
      <p:sp>
        <p:nvSpPr>
          <p:cNvPr id="15" name="Text 13"/>
          <p:cNvSpPr txBox="1"/>
          <p:nvPr/>
        </p:nvSpPr>
        <p:spPr>
          <a:xfrm>
            <a:off x="804672" y="3246120"/>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Camera name</a:t>
            </a:r>
            <a:endParaRPr lang="en-US" sz="1100" dirty="0"/>
          </a:p>
        </p:txBody>
      </p:sp>
      <p:sp>
        <p:nvSpPr>
          <p:cNvPr id="16" name="field-tag"/>
          <p:cNvSpPr/>
          <p:nvPr/>
        </p:nvSpPr>
        <p:spPr>
          <a:xfrm>
            <a:off x="3154680" y="3246120"/>
            <a:ext cx="2468880" cy="310896"/>
          </a:xfrm>
          <a:prstGeom prst="roundRect">
            <a:avLst>
              <a:gd name="adj" fmla="val 17647"/>
            </a:avLst>
          </a:prstGeom>
          <a:solidFill>
            <a:srgbClr val="F1F7F7"/>
          </a:solidFill>
          <a:ln w="12700">
            <a:solidFill>
              <a:srgbClr val="F1F7F7"/>
            </a:solidFill>
            <a:prstDash val="solid"/>
          </a:ln>
        </p:spPr>
      </p:sp>
      <p:sp>
        <p:nvSpPr>
          <p:cNvPr id="17" name="dot"/>
          <p:cNvSpPr/>
          <p:nvPr/>
        </p:nvSpPr>
        <p:spPr>
          <a:xfrm>
            <a:off x="3264408" y="3364992"/>
            <a:ext cx="73152" cy="73152"/>
          </a:xfrm>
          <a:prstGeom prst="ellipse">
            <a:avLst/>
          </a:prstGeom>
          <a:solidFill>
            <a:srgbClr val="13A89E"/>
          </a:solidFill>
          <a:ln w="12700">
            <a:solidFill>
              <a:srgbClr val="13A89E"/>
            </a:solidFill>
            <a:prstDash val="solid"/>
          </a:ln>
        </p:spPr>
      </p:sp>
      <p:sp>
        <p:nvSpPr>
          <p:cNvPr id="18" name="Text 16"/>
          <p:cNvSpPr txBox="1"/>
          <p:nvPr/>
        </p:nvSpPr>
        <p:spPr>
          <a:xfrm>
            <a:off x="3410712" y="3246120"/>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Camera ID (auto, CAM-001…)</a:t>
            </a:r>
            <a:endParaRPr lang="en-US" sz="1100" dirty="0"/>
          </a:p>
        </p:txBody>
      </p:sp>
      <p:sp>
        <p:nvSpPr>
          <p:cNvPr id="19" name="field-tag"/>
          <p:cNvSpPr/>
          <p:nvPr/>
        </p:nvSpPr>
        <p:spPr>
          <a:xfrm>
            <a:off x="548640" y="3630168"/>
            <a:ext cx="2468880" cy="310896"/>
          </a:xfrm>
          <a:prstGeom prst="roundRect">
            <a:avLst>
              <a:gd name="adj" fmla="val 17647"/>
            </a:avLst>
          </a:prstGeom>
          <a:solidFill>
            <a:srgbClr val="F1F7F7"/>
          </a:solidFill>
          <a:ln w="12700">
            <a:solidFill>
              <a:srgbClr val="F1F7F7"/>
            </a:solidFill>
            <a:prstDash val="solid"/>
          </a:ln>
        </p:spPr>
      </p:sp>
      <p:sp>
        <p:nvSpPr>
          <p:cNvPr id="20" name="dot"/>
          <p:cNvSpPr/>
          <p:nvPr/>
        </p:nvSpPr>
        <p:spPr>
          <a:xfrm>
            <a:off x="658368" y="3749040"/>
            <a:ext cx="73152" cy="73152"/>
          </a:xfrm>
          <a:prstGeom prst="ellipse">
            <a:avLst/>
          </a:prstGeom>
          <a:solidFill>
            <a:srgbClr val="13A89E"/>
          </a:solidFill>
          <a:ln w="12700">
            <a:solidFill>
              <a:srgbClr val="13A89E"/>
            </a:solidFill>
            <a:prstDash val="solid"/>
          </a:ln>
        </p:spPr>
      </p:sp>
      <p:sp>
        <p:nvSpPr>
          <p:cNvPr id="21" name="Text 19"/>
          <p:cNvSpPr txBox="1"/>
          <p:nvPr/>
        </p:nvSpPr>
        <p:spPr>
          <a:xfrm>
            <a:off x="804672" y="3630168"/>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Type: Bullet / Dome / PTZ</a:t>
            </a:r>
            <a:endParaRPr lang="en-US" sz="1100" dirty="0"/>
          </a:p>
        </p:txBody>
      </p:sp>
      <p:sp>
        <p:nvSpPr>
          <p:cNvPr id="22" name="field-tag"/>
          <p:cNvSpPr/>
          <p:nvPr/>
        </p:nvSpPr>
        <p:spPr>
          <a:xfrm>
            <a:off x="3154680" y="3630168"/>
            <a:ext cx="2468880" cy="310896"/>
          </a:xfrm>
          <a:prstGeom prst="roundRect">
            <a:avLst>
              <a:gd name="adj" fmla="val 17647"/>
            </a:avLst>
          </a:prstGeom>
          <a:solidFill>
            <a:srgbClr val="F1F7F7"/>
          </a:solidFill>
          <a:ln w="12700">
            <a:solidFill>
              <a:srgbClr val="F1F7F7"/>
            </a:solidFill>
            <a:prstDash val="solid"/>
          </a:ln>
        </p:spPr>
      </p:sp>
      <p:sp>
        <p:nvSpPr>
          <p:cNvPr id="23" name="dot"/>
          <p:cNvSpPr/>
          <p:nvPr/>
        </p:nvSpPr>
        <p:spPr>
          <a:xfrm>
            <a:off x="3264408" y="3749040"/>
            <a:ext cx="73152" cy="73152"/>
          </a:xfrm>
          <a:prstGeom prst="ellipse">
            <a:avLst/>
          </a:prstGeom>
          <a:solidFill>
            <a:srgbClr val="13A89E"/>
          </a:solidFill>
          <a:ln w="12700">
            <a:solidFill>
              <a:srgbClr val="13A89E"/>
            </a:solidFill>
            <a:prstDash val="solid"/>
          </a:ln>
        </p:spPr>
      </p:sp>
      <p:sp>
        <p:nvSpPr>
          <p:cNvPr id="24" name="Text 22"/>
          <p:cNvSpPr txBox="1"/>
          <p:nvPr/>
        </p:nvSpPr>
        <p:spPr>
          <a:xfrm>
            <a:off x="3410712" y="3630168"/>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Phase and sector</a:t>
            </a:r>
            <a:endParaRPr lang="en-US" sz="1100" dirty="0"/>
          </a:p>
        </p:txBody>
      </p:sp>
      <p:sp>
        <p:nvSpPr>
          <p:cNvPr id="25" name="field-tag"/>
          <p:cNvSpPr/>
          <p:nvPr/>
        </p:nvSpPr>
        <p:spPr>
          <a:xfrm>
            <a:off x="548640" y="4014216"/>
            <a:ext cx="2468880" cy="310896"/>
          </a:xfrm>
          <a:prstGeom prst="roundRect">
            <a:avLst>
              <a:gd name="adj" fmla="val 17647"/>
            </a:avLst>
          </a:prstGeom>
          <a:solidFill>
            <a:srgbClr val="F1F7F7"/>
          </a:solidFill>
          <a:ln w="12700">
            <a:solidFill>
              <a:srgbClr val="F1F7F7"/>
            </a:solidFill>
            <a:prstDash val="solid"/>
          </a:ln>
        </p:spPr>
      </p:sp>
      <p:sp>
        <p:nvSpPr>
          <p:cNvPr id="26" name="dot"/>
          <p:cNvSpPr/>
          <p:nvPr/>
        </p:nvSpPr>
        <p:spPr>
          <a:xfrm>
            <a:off x="658368" y="4133088"/>
            <a:ext cx="73152" cy="73152"/>
          </a:xfrm>
          <a:prstGeom prst="ellipse">
            <a:avLst/>
          </a:prstGeom>
          <a:solidFill>
            <a:srgbClr val="13A89E"/>
          </a:solidFill>
          <a:ln w="12700">
            <a:solidFill>
              <a:srgbClr val="13A89E"/>
            </a:solidFill>
            <a:prstDash val="solid"/>
          </a:ln>
        </p:spPr>
      </p:sp>
      <p:sp>
        <p:nvSpPr>
          <p:cNvPr id="27" name="Text 25"/>
          <p:cNvSpPr txBox="1"/>
          <p:nvPr/>
        </p:nvSpPr>
        <p:spPr>
          <a:xfrm>
            <a:off x="804672" y="4014216"/>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Exact location</a:t>
            </a:r>
            <a:endParaRPr lang="en-US" sz="1100" dirty="0"/>
          </a:p>
        </p:txBody>
      </p:sp>
      <p:sp>
        <p:nvSpPr>
          <p:cNvPr id="28" name="field-tag"/>
          <p:cNvSpPr/>
          <p:nvPr/>
        </p:nvSpPr>
        <p:spPr>
          <a:xfrm>
            <a:off x="3154680" y="4014216"/>
            <a:ext cx="2468880" cy="310896"/>
          </a:xfrm>
          <a:prstGeom prst="roundRect">
            <a:avLst>
              <a:gd name="adj" fmla="val 17647"/>
            </a:avLst>
          </a:prstGeom>
          <a:solidFill>
            <a:srgbClr val="F1F7F7"/>
          </a:solidFill>
          <a:ln w="12700">
            <a:solidFill>
              <a:srgbClr val="F1F7F7"/>
            </a:solidFill>
            <a:prstDash val="solid"/>
          </a:ln>
        </p:spPr>
      </p:sp>
      <p:sp>
        <p:nvSpPr>
          <p:cNvPr id="29" name="dot"/>
          <p:cNvSpPr/>
          <p:nvPr/>
        </p:nvSpPr>
        <p:spPr>
          <a:xfrm>
            <a:off x="3264408" y="4133088"/>
            <a:ext cx="73152" cy="73152"/>
          </a:xfrm>
          <a:prstGeom prst="ellipse">
            <a:avLst/>
          </a:prstGeom>
          <a:solidFill>
            <a:srgbClr val="13A89E"/>
          </a:solidFill>
          <a:ln w="12700">
            <a:solidFill>
              <a:srgbClr val="13A89E"/>
            </a:solidFill>
            <a:prstDash val="solid"/>
          </a:ln>
        </p:spPr>
      </p:sp>
      <p:sp>
        <p:nvSpPr>
          <p:cNvPr id="30" name="Text 28"/>
          <p:cNvSpPr txBox="1"/>
          <p:nvPr/>
        </p:nvSpPr>
        <p:spPr>
          <a:xfrm>
            <a:off x="3410712" y="4014216"/>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Last maintenance date</a:t>
            </a:r>
            <a:endParaRPr lang="en-US" sz="1100" dirty="0"/>
          </a:p>
        </p:txBody>
      </p:sp>
      <p:sp>
        <p:nvSpPr>
          <p:cNvPr id="31" name="Text 29"/>
          <p:cNvSpPr txBox="1"/>
          <p:nvPr/>
        </p:nvSpPr>
        <p:spPr>
          <a:xfrm>
            <a:off x="548640" y="4507992"/>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CAMERA STATUS (CHANGE ANY TIME)</a:t>
            </a:r>
            <a:endParaRPr lang="en-US" sz="1000" dirty="0"/>
          </a:p>
        </p:txBody>
      </p:sp>
      <p:sp>
        <p:nvSpPr>
          <p:cNvPr id="32" name="flow-chip"/>
          <p:cNvSpPr/>
          <p:nvPr/>
        </p:nvSpPr>
        <p:spPr>
          <a:xfrm>
            <a:off x="548640" y="4782312"/>
            <a:ext cx="851489" cy="384048"/>
          </a:xfrm>
          <a:prstGeom prst="roundRect">
            <a:avLst>
              <a:gd name="adj" fmla="val 50000"/>
            </a:avLst>
          </a:prstGeom>
          <a:solidFill>
            <a:srgbClr val="F1F7F7"/>
          </a:solidFill>
          <a:ln w="12700">
            <a:solidFill>
              <a:srgbClr val="0E7C76"/>
            </a:solidFill>
            <a:prstDash val="solid"/>
          </a:ln>
        </p:spPr>
      </p:sp>
      <p:sp>
        <p:nvSpPr>
          <p:cNvPr id="33" name="Text 31"/>
          <p:cNvSpPr txBox="1"/>
          <p:nvPr/>
        </p:nvSpPr>
        <p:spPr>
          <a:xfrm>
            <a:off x="548640" y="4782312"/>
            <a:ext cx="851489" cy="384048"/>
          </a:xfrm>
          <a:prstGeom prst="rect">
            <a:avLst/>
          </a:prstGeom>
          <a:noFill/>
          <a:ln/>
        </p:spPr>
        <p:txBody>
          <a:bodyPr wrap="square" lIns="0" tIns="0" rIns="0" bIns="0" rtlCol="0" anchor="ctr"/>
          <a:lstStyle/>
          <a:p>
            <a:pPr algn="ctr" indent="0" marL="0">
              <a:buNone/>
            </a:pPr>
            <a:r>
              <a:rPr lang="en-US" sz="1200" b="1" dirty="0">
                <a:solidFill>
                  <a:srgbClr val="0E7C76"/>
                </a:solidFill>
                <a:latin typeface="Calibri" pitchFamily="34" charset="0"/>
                <a:ea typeface="Calibri" pitchFamily="34" charset="-122"/>
                <a:cs typeface="Calibri" pitchFamily="34" charset="-120"/>
              </a:rPr>
              <a:t>Working</a:t>
            </a:r>
            <a:endParaRPr lang="en-US" sz="1200" dirty="0"/>
          </a:p>
        </p:txBody>
      </p:sp>
      <p:pic>
        <p:nvPicPr>
          <p:cNvPr id="34" name="arrow" descr="preencoded.png">    </p:cNvPr>
          <p:cNvPicPr>
            <a:picLocks noChangeAspect="1"/>
          </p:cNvPicPr>
          <p:nvPr/>
        </p:nvPicPr>
        <p:blipFill>
          <a:blip r:embed="rId1"/>
          <a:stretch>
            <a:fillRect/>
          </a:stretch>
        </p:blipFill>
        <p:spPr>
          <a:xfrm>
            <a:off x="1445849" y="4873752"/>
            <a:ext cx="201168" cy="201168"/>
          </a:xfrm>
          <a:prstGeom prst="rect">
            <a:avLst/>
          </a:prstGeom>
        </p:spPr>
      </p:pic>
      <p:sp>
        <p:nvSpPr>
          <p:cNvPr id="35" name="flow-chip"/>
          <p:cNvSpPr/>
          <p:nvPr/>
        </p:nvSpPr>
        <p:spPr>
          <a:xfrm>
            <a:off x="1692737" y="4782312"/>
            <a:ext cx="1149949" cy="384048"/>
          </a:xfrm>
          <a:prstGeom prst="roundRect">
            <a:avLst>
              <a:gd name="adj" fmla="val 50000"/>
            </a:avLst>
          </a:prstGeom>
          <a:solidFill>
            <a:srgbClr val="F1F7F7"/>
          </a:solidFill>
          <a:ln w="12700">
            <a:solidFill>
              <a:srgbClr val="F0605D"/>
            </a:solidFill>
            <a:prstDash val="solid"/>
          </a:ln>
        </p:spPr>
      </p:sp>
      <p:sp>
        <p:nvSpPr>
          <p:cNvPr id="36" name="Text 33"/>
          <p:cNvSpPr txBox="1"/>
          <p:nvPr/>
        </p:nvSpPr>
        <p:spPr>
          <a:xfrm>
            <a:off x="1692737" y="4782312"/>
            <a:ext cx="1149949" cy="384048"/>
          </a:xfrm>
          <a:prstGeom prst="rect">
            <a:avLst/>
          </a:prstGeom>
          <a:noFill/>
          <a:ln/>
        </p:spPr>
        <p:txBody>
          <a:bodyPr wrap="square" lIns="0" tIns="0" rIns="0" bIns="0" rtlCol="0" anchor="ctr"/>
          <a:lstStyle/>
          <a:p>
            <a:pPr algn="ctr" indent="0" marL="0">
              <a:buNone/>
            </a:pPr>
            <a:r>
              <a:rPr lang="en-US" sz="1200" b="1" dirty="0">
                <a:solidFill>
                  <a:srgbClr val="F0605D"/>
                </a:solidFill>
                <a:latin typeface="Calibri" pitchFamily="34" charset="0"/>
                <a:ea typeface="Calibri" pitchFamily="34" charset="-122"/>
                <a:cs typeface="Calibri" pitchFamily="34" charset="-120"/>
              </a:rPr>
              <a:t>Not Working</a:t>
            </a:r>
            <a:endParaRPr lang="en-US" sz="1200" dirty="0"/>
          </a:p>
        </p:txBody>
      </p:sp>
      <p:pic>
        <p:nvPicPr>
          <p:cNvPr id="37" name="arrow" descr="preencoded.png">    </p:cNvPr>
          <p:cNvPicPr>
            <a:picLocks noChangeAspect="1"/>
          </p:cNvPicPr>
          <p:nvPr/>
        </p:nvPicPr>
        <p:blipFill>
          <a:blip r:embed="rId2"/>
          <a:stretch>
            <a:fillRect/>
          </a:stretch>
        </p:blipFill>
        <p:spPr>
          <a:xfrm>
            <a:off x="2888407" y="4873752"/>
            <a:ext cx="201168" cy="201168"/>
          </a:xfrm>
          <a:prstGeom prst="rect">
            <a:avLst/>
          </a:prstGeom>
        </p:spPr>
      </p:pic>
      <p:sp>
        <p:nvSpPr>
          <p:cNvPr id="38" name="flow-chip"/>
          <p:cNvSpPr/>
          <p:nvPr/>
        </p:nvSpPr>
        <p:spPr>
          <a:xfrm>
            <a:off x="3135295" y="4782312"/>
            <a:ext cx="1597640" cy="384048"/>
          </a:xfrm>
          <a:prstGeom prst="roundRect">
            <a:avLst>
              <a:gd name="adj" fmla="val 50000"/>
            </a:avLst>
          </a:prstGeom>
          <a:solidFill>
            <a:srgbClr val="F1F7F7"/>
          </a:solidFill>
          <a:ln w="12700">
            <a:solidFill>
              <a:srgbClr val="B57A0C"/>
            </a:solidFill>
            <a:prstDash val="solid"/>
          </a:ln>
        </p:spPr>
      </p:sp>
      <p:sp>
        <p:nvSpPr>
          <p:cNvPr id="39" name="Text 35"/>
          <p:cNvSpPr txBox="1"/>
          <p:nvPr/>
        </p:nvSpPr>
        <p:spPr>
          <a:xfrm>
            <a:off x="3135295" y="4782312"/>
            <a:ext cx="1597640" cy="384048"/>
          </a:xfrm>
          <a:prstGeom prst="rect">
            <a:avLst/>
          </a:prstGeom>
          <a:noFill/>
          <a:ln/>
        </p:spPr>
        <p:txBody>
          <a:bodyPr wrap="square" lIns="0" tIns="0" rIns="0" bIns="0" rtlCol="0" anchor="ctr"/>
          <a:lstStyle/>
          <a:p>
            <a:pPr algn="ctr" indent="0" marL="0">
              <a:buNone/>
            </a:pPr>
            <a:r>
              <a:rPr lang="en-US" sz="1200" b="1" dirty="0">
                <a:solidFill>
                  <a:srgbClr val="B57A0C"/>
                </a:solidFill>
                <a:latin typeface="Calibri" pitchFamily="34" charset="0"/>
                <a:ea typeface="Calibri" pitchFamily="34" charset="-122"/>
                <a:cs typeface="Calibri" pitchFamily="34" charset="-120"/>
              </a:rPr>
              <a:t>Under Maintenance</a:t>
            </a:r>
            <a:endParaRPr lang="en-US" sz="1200" dirty="0"/>
          </a:p>
        </p:txBody>
      </p:sp>
      <p:sp>
        <p:nvSpPr>
          <p:cNvPr id="40" name="icon-bg"/>
          <p:cNvSpPr/>
          <p:nvPr/>
        </p:nvSpPr>
        <p:spPr>
          <a:xfrm>
            <a:off x="548640" y="5376672"/>
            <a:ext cx="384048" cy="384048"/>
          </a:xfrm>
          <a:prstGeom prst="ellipse">
            <a:avLst/>
          </a:prstGeom>
          <a:solidFill>
            <a:srgbClr val="F4B942"/>
          </a:solidFill>
          <a:ln w="12700">
            <a:solidFill>
              <a:srgbClr val="F4B942"/>
            </a:solidFill>
            <a:prstDash val="solid"/>
          </a:ln>
        </p:spPr>
      </p:sp>
      <p:pic>
        <p:nvPicPr>
          <p:cNvPr id="41" name="icon" descr="preencoded.png">    </p:cNvPr>
          <p:cNvPicPr>
            <a:picLocks noChangeAspect="1"/>
          </p:cNvPicPr>
          <p:nvPr/>
        </p:nvPicPr>
        <p:blipFill>
          <a:blip r:embed="rId3"/>
          <a:stretch>
            <a:fillRect/>
          </a:stretch>
        </p:blipFill>
        <p:spPr>
          <a:xfrm>
            <a:off x="640812" y="5468844"/>
            <a:ext cx="199705" cy="199705"/>
          </a:xfrm>
          <a:prstGeom prst="rect">
            <a:avLst/>
          </a:prstGeom>
        </p:spPr>
      </p:pic>
      <p:sp>
        <p:nvSpPr>
          <p:cNvPr id="42" name="Text 37"/>
          <p:cNvSpPr txBox="1"/>
          <p:nvPr/>
        </p:nvSpPr>
        <p:spPr>
          <a:xfrm>
            <a:off x="1051560" y="5340096"/>
            <a:ext cx="4572000" cy="548640"/>
          </a:xfrm>
          <a:prstGeom prst="rect">
            <a:avLst/>
          </a:prstGeom>
          <a:noFill/>
          <a:ln/>
        </p:spPr>
        <p:txBody>
          <a:bodyPr wrap="square" lIns="0" tIns="0" rIns="0" bIns="0" rtlCol="0" anchor="ctr"/>
          <a:lstStyle/>
          <a:p>
            <a:pPr indent="0" marL="0">
              <a:buNone/>
            </a:pPr>
            <a:r>
              <a:rPr lang="en-US" sz="1150" dirty="0">
                <a:solidFill>
                  <a:srgbClr val="0B2135"/>
                </a:solidFill>
                <a:latin typeface="Calibri" pitchFamily="34" charset="0"/>
                <a:ea typeface="Calibri" pitchFamily="34" charset="-122"/>
                <a:cs typeface="Calibri" pitchFamily="34" charset="-120"/>
              </a:rPr>
              <a:t>Faulty count feeds the dashboard's CCTV Faults tile and the health donut.</a:t>
            </a:r>
            <a:endParaRPr lang="en-US" sz="1150" dirty="0"/>
          </a:p>
        </p:txBody>
      </p:sp>
      <p:pic>
        <p:nvPicPr>
          <p:cNvPr id="43" name="screenshot" descr="img/p_cctv.png">    </p:cNvPr>
          <p:cNvPicPr>
            <a:picLocks noChangeAspect="1"/>
          </p:cNvPicPr>
          <p:nvPr/>
        </p:nvPicPr>
        <p:blipFill>
          <a:blip r:embed="rId4"/>
          <a:stretch>
            <a:fillRect/>
          </a:stretch>
        </p:blipFill>
        <p:spPr>
          <a:xfrm>
            <a:off x="5989320" y="1261872"/>
            <a:ext cx="5669280" cy="2947050"/>
          </a:xfrm>
          <a:prstGeom prst="rect">
            <a:avLst/>
          </a:prstGeom>
          <a:effectLst>
            <a:outerShdw sx="100000" sy="100000" kx="0" ky="0" algn="bl" rotWithShape="0" blurRad="228600" dist="50800" dir="5400000">
              <a:srgbClr val="0B2135">
                <a:alpha val="22000"/>
              </a:srgbClr>
            </a:outerShdw>
          </a:effectLst>
        </p:spPr>
      </p:pic>
      <p:pic>
        <p:nvPicPr>
          <p:cNvPr id="44" name="form-inset" descr="img/modal_camera.png">    </p:cNvPr>
          <p:cNvPicPr>
            <a:picLocks noChangeAspect="1"/>
          </p:cNvPicPr>
          <p:nvPr/>
        </p:nvPicPr>
        <p:blipFill>
          <a:blip r:embed="rId5"/>
          <a:stretch>
            <a:fillRect/>
          </a:stretch>
        </p:blipFill>
        <p:spPr>
          <a:xfrm>
            <a:off x="9156931" y="3840480"/>
            <a:ext cx="2410229" cy="2331720"/>
          </a:xfrm>
          <a:prstGeom prst="rect">
            <a:avLst/>
          </a:prstGeom>
          <a:effectLst>
            <a:outerShdw sx="100000" sy="100000" kx="0" ky="0" algn="bl" rotWithShape="0" blurRad="279400" dist="63500" dir="5400000">
              <a:srgbClr val="0B2135">
                <a:alpha val="30000"/>
              </a:srgbClr>
            </a:outerShdw>
          </a:effectLst>
        </p:spPr>
      </p:pic>
      <p:sp>
        <p:nvSpPr>
          <p:cNvPr id="45" name="Text 38"/>
          <p:cNvSpPr txBox="1"/>
          <p:nvPr/>
        </p:nvSpPr>
        <p:spPr>
          <a:xfrm>
            <a:off x="5989320" y="4483242"/>
            <a:ext cx="310896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SUMMARY CARDS ON THIS PAGE</a:t>
            </a:r>
            <a:endParaRPr lang="en-US" sz="1000" dirty="0"/>
          </a:p>
        </p:txBody>
      </p:sp>
      <p:sp>
        <p:nvSpPr>
          <p:cNvPr id="46" name="dot"/>
          <p:cNvSpPr/>
          <p:nvPr/>
        </p:nvSpPr>
        <p:spPr>
          <a:xfrm>
            <a:off x="5989320" y="4867290"/>
            <a:ext cx="128016" cy="128016"/>
          </a:xfrm>
          <a:prstGeom prst="ellipse">
            <a:avLst/>
          </a:prstGeom>
          <a:solidFill>
            <a:srgbClr val="5B8DEF"/>
          </a:solidFill>
          <a:ln w="12700">
            <a:solidFill>
              <a:srgbClr val="5B8DEF"/>
            </a:solidFill>
            <a:prstDash val="solid"/>
          </a:ln>
        </p:spPr>
      </p:sp>
      <p:sp>
        <p:nvSpPr>
          <p:cNvPr id="47" name="Text 40"/>
          <p:cNvSpPr txBox="1"/>
          <p:nvPr/>
        </p:nvSpPr>
        <p:spPr>
          <a:xfrm>
            <a:off x="6217920" y="4775850"/>
            <a:ext cx="2743200" cy="310896"/>
          </a:xfrm>
          <a:prstGeom prst="rect">
            <a:avLst/>
          </a:prstGeom>
          <a:noFill/>
          <a:ln/>
        </p:spPr>
        <p:txBody>
          <a:bodyPr wrap="square" lIns="0" tIns="0" rIns="0" bIns="0" rtlCol="0" anchor="ctr"/>
          <a:lstStyle/>
          <a:p>
            <a:pPr indent="0" marL="0">
              <a:buNone/>
            </a:pPr>
            <a:r>
              <a:rPr lang="en-US" sz="1200" dirty="0">
                <a:solidFill>
                  <a:srgbClr val="0B2135"/>
                </a:solidFill>
                <a:latin typeface="Calibri" pitchFamily="34" charset="0"/>
                <a:ea typeface="Calibri" pitchFamily="34" charset="-122"/>
                <a:cs typeface="Calibri" pitchFamily="34" charset="-120"/>
              </a:rPr>
              <a:t>Total cameras</a:t>
            </a:r>
            <a:endParaRPr lang="en-US" sz="1200" dirty="0"/>
          </a:p>
        </p:txBody>
      </p:sp>
      <p:sp>
        <p:nvSpPr>
          <p:cNvPr id="48" name="dot"/>
          <p:cNvSpPr/>
          <p:nvPr/>
        </p:nvSpPr>
        <p:spPr>
          <a:xfrm>
            <a:off x="5989320" y="5251338"/>
            <a:ext cx="128016" cy="128016"/>
          </a:xfrm>
          <a:prstGeom prst="ellipse">
            <a:avLst/>
          </a:prstGeom>
          <a:solidFill>
            <a:srgbClr val="13A89E"/>
          </a:solidFill>
          <a:ln w="12700">
            <a:solidFill>
              <a:srgbClr val="13A89E"/>
            </a:solidFill>
            <a:prstDash val="solid"/>
          </a:ln>
        </p:spPr>
      </p:sp>
      <p:sp>
        <p:nvSpPr>
          <p:cNvPr id="49" name="Text 42"/>
          <p:cNvSpPr txBox="1"/>
          <p:nvPr/>
        </p:nvSpPr>
        <p:spPr>
          <a:xfrm>
            <a:off x="6217920" y="5159898"/>
            <a:ext cx="2743200" cy="310896"/>
          </a:xfrm>
          <a:prstGeom prst="rect">
            <a:avLst/>
          </a:prstGeom>
          <a:noFill/>
          <a:ln/>
        </p:spPr>
        <p:txBody>
          <a:bodyPr wrap="square" lIns="0" tIns="0" rIns="0" bIns="0" rtlCol="0" anchor="ctr"/>
          <a:lstStyle/>
          <a:p>
            <a:pPr indent="0" marL="0">
              <a:buNone/>
            </a:pPr>
            <a:r>
              <a:rPr lang="en-US" sz="1200" dirty="0">
                <a:solidFill>
                  <a:srgbClr val="0B2135"/>
                </a:solidFill>
                <a:latin typeface="Calibri" pitchFamily="34" charset="0"/>
                <a:ea typeface="Calibri" pitchFamily="34" charset="-122"/>
                <a:cs typeface="Calibri" pitchFamily="34" charset="-120"/>
              </a:rPr>
              <a:t>Working</a:t>
            </a:r>
            <a:endParaRPr lang="en-US" sz="1200" dirty="0"/>
          </a:p>
        </p:txBody>
      </p:sp>
      <p:sp>
        <p:nvSpPr>
          <p:cNvPr id="50" name="dot"/>
          <p:cNvSpPr/>
          <p:nvPr/>
        </p:nvSpPr>
        <p:spPr>
          <a:xfrm>
            <a:off x="5989320" y="5635386"/>
            <a:ext cx="128016" cy="128016"/>
          </a:xfrm>
          <a:prstGeom prst="ellipse">
            <a:avLst/>
          </a:prstGeom>
          <a:solidFill>
            <a:srgbClr val="F0605D"/>
          </a:solidFill>
          <a:ln w="12700">
            <a:solidFill>
              <a:srgbClr val="F0605D"/>
            </a:solidFill>
            <a:prstDash val="solid"/>
          </a:ln>
        </p:spPr>
      </p:sp>
      <p:sp>
        <p:nvSpPr>
          <p:cNvPr id="51" name="Text 44"/>
          <p:cNvSpPr txBox="1"/>
          <p:nvPr/>
        </p:nvSpPr>
        <p:spPr>
          <a:xfrm>
            <a:off x="6217920" y="5543946"/>
            <a:ext cx="2743200" cy="310896"/>
          </a:xfrm>
          <a:prstGeom prst="rect">
            <a:avLst/>
          </a:prstGeom>
          <a:noFill/>
          <a:ln/>
        </p:spPr>
        <p:txBody>
          <a:bodyPr wrap="square" lIns="0" tIns="0" rIns="0" bIns="0" rtlCol="0" anchor="ctr"/>
          <a:lstStyle/>
          <a:p>
            <a:pPr indent="0" marL="0">
              <a:buNone/>
            </a:pPr>
            <a:r>
              <a:rPr lang="en-US" sz="1200" dirty="0">
                <a:solidFill>
                  <a:srgbClr val="0B2135"/>
                </a:solidFill>
                <a:latin typeface="Calibri" pitchFamily="34" charset="0"/>
                <a:ea typeface="Calibri" pitchFamily="34" charset="-122"/>
                <a:cs typeface="Calibri" pitchFamily="34" charset="-120"/>
              </a:rPr>
              <a:t>Faulty</a:t>
            </a:r>
            <a:endParaRPr lang="en-US" sz="1200" dirty="0"/>
          </a:p>
        </p:txBody>
      </p:sp>
      <p:sp>
        <p:nvSpPr>
          <p:cNvPr id="52" name="dot"/>
          <p:cNvSpPr/>
          <p:nvPr/>
        </p:nvSpPr>
        <p:spPr>
          <a:xfrm>
            <a:off x="5989320" y="6019434"/>
            <a:ext cx="128016" cy="128016"/>
          </a:xfrm>
          <a:prstGeom prst="ellipse">
            <a:avLst/>
          </a:prstGeom>
          <a:solidFill>
            <a:srgbClr val="F4B942"/>
          </a:solidFill>
          <a:ln w="12700">
            <a:solidFill>
              <a:srgbClr val="F4B942"/>
            </a:solidFill>
            <a:prstDash val="solid"/>
          </a:ln>
        </p:spPr>
      </p:sp>
      <p:sp>
        <p:nvSpPr>
          <p:cNvPr id="53" name="Text 46"/>
          <p:cNvSpPr txBox="1"/>
          <p:nvPr/>
        </p:nvSpPr>
        <p:spPr>
          <a:xfrm>
            <a:off x="6217920" y="5927994"/>
            <a:ext cx="2743200" cy="310896"/>
          </a:xfrm>
          <a:prstGeom prst="rect">
            <a:avLst/>
          </a:prstGeom>
          <a:noFill/>
          <a:ln/>
        </p:spPr>
        <p:txBody>
          <a:bodyPr wrap="square" lIns="0" tIns="0" rIns="0" bIns="0" rtlCol="0" anchor="ctr"/>
          <a:lstStyle/>
          <a:p>
            <a:pPr indent="0" marL="0">
              <a:buNone/>
            </a:pPr>
            <a:r>
              <a:rPr lang="en-US" sz="1200" dirty="0">
                <a:solidFill>
                  <a:srgbClr val="0B2135"/>
                </a:solidFill>
                <a:latin typeface="Calibri" pitchFamily="34" charset="0"/>
                <a:ea typeface="Calibri" pitchFamily="34" charset="-122"/>
                <a:cs typeface="Calibri" pitchFamily="34" charset="-120"/>
              </a:rPr>
              <a:t>In maintenance</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t"/>
          <a:lstStyle/>
          <a:p>
            <a:pPr indent="0" marL="0">
              <a:buNone/>
            </a:pPr>
            <a:r>
              <a:rPr lang="en-US" sz="1100" b="1" spc="300" kern="0" dirty="0">
                <a:solidFill>
                  <a:srgbClr val="0E7C76"/>
                </a:solidFill>
                <a:latin typeface="Calibri" pitchFamily="34" charset="0"/>
                <a:ea typeface="Calibri" pitchFamily="34" charset="-122"/>
                <a:cs typeface="Calibri" pitchFamily="34" charset="-120"/>
              </a:rPr>
              <a:t>MODULE 04 · SAFETY  ·  STREET LIGHTS &amp; ASSETS</a:t>
            </a:r>
            <a:endParaRPr lang="en-US" sz="1100" dirty="0"/>
          </a:p>
        </p:txBody>
      </p:sp>
      <p:sp>
        <p:nvSpPr>
          <p:cNvPr id="3" name="Text 1"/>
          <p:cNvSpPr/>
          <p:nvPr>
            <p:ph idx="101" type="title" hasCustomPrompt="1"/>
          </p:nvPr>
        </p:nvSpPr>
        <p:spPr>
          <a:xfrm>
            <a:off x="548640" y="457200"/>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Street Lights &amp; Assets: shared infrastructure</a:t>
            </a:r>
            <a:endParaRPr lang="en-US" sz="3000" dirty="0"/>
          </a:p>
        </p:txBody>
      </p:sp>
      <p:sp>
        <p:nvSpPr>
          <p:cNvPr id="4" name="Text 2"/>
          <p:cNvSpPr txBox="1"/>
          <p:nvPr/>
        </p:nvSpPr>
        <p:spPr>
          <a:xfrm>
            <a:off x="548640" y="1261872"/>
            <a:ext cx="5074920" cy="822960"/>
          </a:xfrm>
          <a:prstGeom prst="rect">
            <a:avLst/>
          </a:prstGeom>
          <a:noFill/>
          <a:ln/>
        </p:spPr>
        <p:txBody>
          <a:bodyPr wrap="square" lIns="0" tIns="0" rIns="0" bIns="0" rtlCol="0" anchor="t"/>
          <a:lstStyle/>
          <a:p>
            <a:pPr indent="0" marL="0">
              <a:buNone/>
            </a:pPr>
            <a:r>
              <a:rPr lang="en-US" sz="1400" dirty="0">
                <a:solidFill>
                  <a:srgbClr val="16384F"/>
                </a:solidFill>
                <a:latin typeface="Calibri" pitchFamily="34" charset="0"/>
                <a:ea typeface="Calibri" pitchFamily="34" charset="-122"/>
                <a:cs typeface="Calibri" pitchFamily="34" charset="-120"/>
              </a:rPr>
              <a:t>Tracks the shared equipment a community depends on — street lights, water pumps, generators and lifts — so faults are visible and get fixed.</a:t>
            </a:r>
            <a:endParaRPr lang="en-US" sz="1400" dirty="0"/>
          </a:p>
        </p:txBody>
      </p:sp>
      <p:sp>
        <p:nvSpPr>
          <p:cNvPr id="5" name="Text 3"/>
          <p:cNvSpPr txBox="1"/>
          <p:nvPr/>
        </p:nvSpPr>
        <p:spPr>
          <a:xfrm>
            <a:off x="548640" y="2176272"/>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WHO USES IT</a:t>
            </a:r>
            <a:endParaRPr lang="en-US" sz="1000" dirty="0"/>
          </a:p>
        </p:txBody>
      </p:sp>
      <p:sp>
        <p:nvSpPr>
          <p:cNvPr id="6" name="role-chip"/>
          <p:cNvSpPr/>
          <p:nvPr/>
        </p:nvSpPr>
        <p:spPr>
          <a:xfrm>
            <a:off x="548640" y="2450592"/>
            <a:ext cx="1115751" cy="329184"/>
          </a:xfrm>
          <a:prstGeom prst="roundRect">
            <a:avLst>
              <a:gd name="adj" fmla="val 50000"/>
            </a:avLst>
          </a:prstGeom>
          <a:solidFill>
            <a:srgbClr val="0B2135"/>
          </a:solidFill>
          <a:ln w="12700">
            <a:solidFill>
              <a:srgbClr val="0B2135"/>
            </a:solidFill>
            <a:prstDash val="solid"/>
          </a:ln>
        </p:spPr>
      </p:sp>
      <p:sp>
        <p:nvSpPr>
          <p:cNvPr id="7" name="Text 5"/>
          <p:cNvSpPr txBox="1"/>
          <p:nvPr/>
        </p:nvSpPr>
        <p:spPr>
          <a:xfrm>
            <a:off x="548640" y="2450592"/>
            <a:ext cx="1115751"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Super Admin</a:t>
            </a:r>
            <a:endParaRPr lang="en-US" sz="1150" dirty="0"/>
          </a:p>
        </p:txBody>
      </p:sp>
      <p:sp>
        <p:nvSpPr>
          <p:cNvPr id="8" name="role-chip"/>
          <p:cNvSpPr/>
          <p:nvPr/>
        </p:nvSpPr>
        <p:spPr>
          <a:xfrm>
            <a:off x="1774119" y="2450592"/>
            <a:ext cx="972739" cy="329184"/>
          </a:xfrm>
          <a:prstGeom prst="roundRect">
            <a:avLst>
              <a:gd name="adj" fmla="val 50000"/>
            </a:avLst>
          </a:prstGeom>
          <a:solidFill>
            <a:srgbClr val="0E7C76"/>
          </a:solidFill>
          <a:ln w="12700">
            <a:solidFill>
              <a:srgbClr val="0E7C76"/>
            </a:solidFill>
            <a:prstDash val="solid"/>
          </a:ln>
        </p:spPr>
      </p:sp>
      <p:sp>
        <p:nvSpPr>
          <p:cNvPr id="9" name="Text 7"/>
          <p:cNvSpPr txBox="1"/>
          <p:nvPr/>
        </p:nvSpPr>
        <p:spPr>
          <a:xfrm>
            <a:off x="1774119" y="2450592"/>
            <a:ext cx="972739"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Volunteer</a:t>
            </a:r>
            <a:endParaRPr lang="en-US" sz="1150" dirty="0"/>
          </a:p>
        </p:txBody>
      </p:sp>
      <p:sp>
        <p:nvSpPr>
          <p:cNvPr id="10" name="Text 8"/>
          <p:cNvSpPr txBox="1"/>
          <p:nvPr/>
        </p:nvSpPr>
        <p:spPr>
          <a:xfrm>
            <a:off x="548640" y="2971800"/>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WHAT GETS RECORDED</a:t>
            </a:r>
            <a:endParaRPr lang="en-US" sz="1000" dirty="0"/>
          </a:p>
        </p:txBody>
      </p:sp>
      <p:sp>
        <p:nvSpPr>
          <p:cNvPr id="11" name="field-tag"/>
          <p:cNvSpPr/>
          <p:nvPr/>
        </p:nvSpPr>
        <p:spPr>
          <a:xfrm>
            <a:off x="548640" y="3246120"/>
            <a:ext cx="2468880" cy="310896"/>
          </a:xfrm>
          <a:prstGeom prst="roundRect">
            <a:avLst>
              <a:gd name="adj" fmla="val 17647"/>
            </a:avLst>
          </a:prstGeom>
          <a:solidFill>
            <a:srgbClr val="F1F7F7"/>
          </a:solidFill>
          <a:ln w="12700">
            <a:solidFill>
              <a:srgbClr val="F1F7F7"/>
            </a:solidFill>
            <a:prstDash val="solid"/>
          </a:ln>
        </p:spPr>
      </p:sp>
      <p:sp>
        <p:nvSpPr>
          <p:cNvPr id="12" name="dot"/>
          <p:cNvSpPr/>
          <p:nvPr/>
        </p:nvSpPr>
        <p:spPr>
          <a:xfrm>
            <a:off x="658368" y="3364992"/>
            <a:ext cx="73152" cy="73152"/>
          </a:xfrm>
          <a:prstGeom prst="ellipse">
            <a:avLst/>
          </a:prstGeom>
          <a:solidFill>
            <a:srgbClr val="13A89E"/>
          </a:solidFill>
          <a:ln w="12700">
            <a:solidFill>
              <a:srgbClr val="13A89E"/>
            </a:solidFill>
            <a:prstDash val="solid"/>
          </a:ln>
        </p:spPr>
      </p:sp>
      <p:sp>
        <p:nvSpPr>
          <p:cNvPr id="13" name="Text 11"/>
          <p:cNvSpPr txBox="1"/>
          <p:nvPr/>
        </p:nvSpPr>
        <p:spPr>
          <a:xfrm>
            <a:off x="804672" y="3246120"/>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Asset name</a:t>
            </a:r>
            <a:endParaRPr lang="en-US" sz="1100" dirty="0"/>
          </a:p>
        </p:txBody>
      </p:sp>
      <p:sp>
        <p:nvSpPr>
          <p:cNvPr id="14" name="field-tag"/>
          <p:cNvSpPr/>
          <p:nvPr/>
        </p:nvSpPr>
        <p:spPr>
          <a:xfrm>
            <a:off x="3154680" y="3246120"/>
            <a:ext cx="2468880" cy="310896"/>
          </a:xfrm>
          <a:prstGeom prst="roundRect">
            <a:avLst>
              <a:gd name="adj" fmla="val 17647"/>
            </a:avLst>
          </a:prstGeom>
          <a:solidFill>
            <a:srgbClr val="F1F7F7"/>
          </a:solidFill>
          <a:ln w="12700">
            <a:solidFill>
              <a:srgbClr val="F1F7F7"/>
            </a:solidFill>
            <a:prstDash val="solid"/>
          </a:ln>
        </p:spPr>
      </p:sp>
      <p:sp>
        <p:nvSpPr>
          <p:cNvPr id="15" name="dot"/>
          <p:cNvSpPr/>
          <p:nvPr/>
        </p:nvSpPr>
        <p:spPr>
          <a:xfrm>
            <a:off x="3264408" y="3364992"/>
            <a:ext cx="73152" cy="73152"/>
          </a:xfrm>
          <a:prstGeom prst="ellipse">
            <a:avLst/>
          </a:prstGeom>
          <a:solidFill>
            <a:srgbClr val="13A89E"/>
          </a:solidFill>
          <a:ln w="12700">
            <a:solidFill>
              <a:srgbClr val="13A89E"/>
            </a:solidFill>
            <a:prstDash val="solid"/>
          </a:ln>
        </p:spPr>
      </p:sp>
      <p:sp>
        <p:nvSpPr>
          <p:cNvPr id="16" name="Text 14"/>
          <p:cNvSpPr txBox="1"/>
          <p:nvPr/>
        </p:nvSpPr>
        <p:spPr>
          <a:xfrm>
            <a:off x="3410712" y="3246120"/>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Type: Streetlight / Water Pump / Generator / Lift</a:t>
            </a:r>
            <a:endParaRPr lang="en-US" sz="1100" dirty="0"/>
          </a:p>
        </p:txBody>
      </p:sp>
      <p:sp>
        <p:nvSpPr>
          <p:cNvPr id="17" name="field-tag"/>
          <p:cNvSpPr/>
          <p:nvPr/>
        </p:nvSpPr>
        <p:spPr>
          <a:xfrm>
            <a:off x="548640" y="3630168"/>
            <a:ext cx="2468880" cy="310896"/>
          </a:xfrm>
          <a:prstGeom prst="roundRect">
            <a:avLst>
              <a:gd name="adj" fmla="val 17647"/>
            </a:avLst>
          </a:prstGeom>
          <a:solidFill>
            <a:srgbClr val="F1F7F7"/>
          </a:solidFill>
          <a:ln w="12700">
            <a:solidFill>
              <a:srgbClr val="F1F7F7"/>
            </a:solidFill>
            <a:prstDash val="solid"/>
          </a:ln>
        </p:spPr>
      </p:sp>
      <p:sp>
        <p:nvSpPr>
          <p:cNvPr id="18" name="dot"/>
          <p:cNvSpPr/>
          <p:nvPr/>
        </p:nvSpPr>
        <p:spPr>
          <a:xfrm>
            <a:off x="658368" y="3749040"/>
            <a:ext cx="73152" cy="73152"/>
          </a:xfrm>
          <a:prstGeom prst="ellipse">
            <a:avLst/>
          </a:prstGeom>
          <a:solidFill>
            <a:srgbClr val="13A89E"/>
          </a:solidFill>
          <a:ln w="12700">
            <a:solidFill>
              <a:srgbClr val="13A89E"/>
            </a:solidFill>
            <a:prstDash val="solid"/>
          </a:ln>
        </p:spPr>
      </p:sp>
      <p:sp>
        <p:nvSpPr>
          <p:cNvPr id="19" name="Text 17"/>
          <p:cNvSpPr txBox="1"/>
          <p:nvPr/>
        </p:nvSpPr>
        <p:spPr>
          <a:xfrm>
            <a:off x="804672" y="3630168"/>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Phase and sector</a:t>
            </a:r>
            <a:endParaRPr lang="en-US" sz="1100" dirty="0"/>
          </a:p>
        </p:txBody>
      </p:sp>
      <p:sp>
        <p:nvSpPr>
          <p:cNvPr id="20" name="field-tag"/>
          <p:cNvSpPr/>
          <p:nvPr/>
        </p:nvSpPr>
        <p:spPr>
          <a:xfrm>
            <a:off x="3154680" y="3630168"/>
            <a:ext cx="2468880" cy="310896"/>
          </a:xfrm>
          <a:prstGeom prst="roundRect">
            <a:avLst>
              <a:gd name="adj" fmla="val 17647"/>
            </a:avLst>
          </a:prstGeom>
          <a:solidFill>
            <a:srgbClr val="F1F7F7"/>
          </a:solidFill>
          <a:ln w="12700">
            <a:solidFill>
              <a:srgbClr val="F1F7F7"/>
            </a:solidFill>
            <a:prstDash val="solid"/>
          </a:ln>
        </p:spPr>
      </p:sp>
      <p:sp>
        <p:nvSpPr>
          <p:cNvPr id="21" name="dot"/>
          <p:cNvSpPr/>
          <p:nvPr/>
        </p:nvSpPr>
        <p:spPr>
          <a:xfrm>
            <a:off x="3264408" y="3749040"/>
            <a:ext cx="73152" cy="73152"/>
          </a:xfrm>
          <a:prstGeom prst="ellipse">
            <a:avLst/>
          </a:prstGeom>
          <a:solidFill>
            <a:srgbClr val="13A89E"/>
          </a:solidFill>
          <a:ln w="12700">
            <a:solidFill>
              <a:srgbClr val="13A89E"/>
            </a:solidFill>
            <a:prstDash val="solid"/>
          </a:ln>
        </p:spPr>
      </p:sp>
      <p:sp>
        <p:nvSpPr>
          <p:cNvPr id="22" name="Text 20"/>
          <p:cNvSpPr txBox="1"/>
          <p:nvPr/>
        </p:nvSpPr>
        <p:spPr>
          <a:xfrm>
            <a:off x="3410712" y="3630168"/>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Location (e.g. Pole 12)</a:t>
            </a:r>
            <a:endParaRPr lang="en-US" sz="1100" dirty="0"/>
          </a:p>
        </p:txBody>
      </p:sp>
      <p:sp>
        <p:nvSpPr>
          <p:cNvPr id="23" name="Text 21"/>
          <p:cNvSpPr txBox="1"/>
          <p:nvPr/>
        </p:nvSpPr>
        <p:spPr>
          <a:xfrm>
            <a:off x="548640" y="4123944"/>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ASSET STATUS</a:t>
            </a:r>
            <a:endParaRPr lang="en-US" sz="1000" dirty="0"/>
          </a:p>
        </p:txBody>
      </p:sp>
      <p:sp>
        <p:nvSpPr>
          <p:cNvPr id="24" name="flow-chip"/>
          <p:cNvSpPr/>
          <p:nvPr/>
        </p:nvSpPr>
        <p:spPr>
          <a:xfrm>
            <a:off x="548640" y="4398264"/>
            <a:ext cx="851489" cy="384048"/>
          </a:xfrm>
          <a:prstGeom prst="roundRect">
            <a:avLst>
              <a:gd name="adj" fmla="val 50000"/>
            </a:avLst>
          </a:prstGeom>
          <a:solidFill>
            <a:srgbClr val="F1F7F7"/>
          </a:solidFill>
          <a:ln w="12700">
            <a:solidFill>
              <a:srgbClr val="0E7C76"/>
            </a:solidFill>
            <a:prstDash val="solid"/>
          </a:ln>
        </p:spPr>
      </p:sp>
      <p:sp>
        <p:nvSpPr>
          <p:cNvPr id="25" name="Text 23"/>
          <p:cNvSpPr txBox="1"/>
          <p:nvPr/>
        </p:nvSpPr>
        <p:spPr>
          <a:xfrm>
            <a:off x="548640" y="4398264"/>
            <a:ext cx="851489" cy="384048"/>
          </a:xfrm>
          <a:prstGeom prst="rect">
            <a:avLst/>
          </a:prstGeom>
          <a:noFill/>
          <a:ln/>
        </p:spPr>
        <p:txBody>
          <a:bodyPr wrap="square" lIns="0" tIns="0" rIns="0" bIns="0" rtlCol="0" anchor="ctr"/>
          <a:lstStyle/>
          <a:p>
            <a:pPr algn="ctr" indent="0" marL="0">
              <a:buNone/>
            </a:pPr>
            <a:r>
              <a:rPr lang="en-US" sz="1200" b="1" dirty="0">
                <a:solidFill>
                  <a:srgbClr val="0E7C76"/>
                </a:solidFill>
                <a:latin typeface="Calibri" pitchFamily="34" charset="0"/>
                <a:ea typeface="Calibri" pitchFamily="34" charset="-122"/>
                <a:cs typeface="Calibri" pitchFamily="34" charset="-120"/>
              </a:rPr>
              <a:t>Working</a:t>
            </a:r>
            <a:endParaRPr lang="en-US" sz="1200" dirty="0"/>
          </a:p>
        </p:txBody>
      </p:sp>
      <p:pic>
        <p:nvPicPr>
          <p:cNvPr id="26" name="arrow" descr="preencoded.png">    </p:cNvPr>
          <p:cNvPicPr>
            <a:picLocks noChangeAspect="1"/>
          </p:cNvPicPr>
          <p:nvPr/>
        </p:nvPicPr>
        <p:blipFill>
          <a:blip r:embed="rId1"/>
          <a:stretch>
            <a:fillRect/>
          </a:stretch>
        </p:blipFill>
        <p:spPr>
          <a:xfrm>
            <a:off x="1445849" y="4489704"/>
            <a:ext cx="201168" cy="201168"/>
          </a:xfrm>
          <a:prstGeom prst="rect">
            <a:avLst/>
          </a:prstGeom>
        </p:spPr>
      </p:pic>
      <p:sp>
        <p:nvSpPr>
          <p:cNvPr id="27" name="flow-chip"/>
          <p:cNvSpPr/>
          <p:nvPr/>
        </p:nvSpPr>
        <p:spPr>
          <a:xfrm>
            <a:off x="1692737" y="4398264"/>
            <a:ext cx="776874" cy="384048"/>
          </a:xfrm>
          <a:prstGeom prst="roundRect">
            <a:avLst>
              <a:gd name="adj" fmla="val 50000"/>
            </a:avLst>
          </a:prstGeom>
          <a:solidFill>
            <a:srgbClr val="F1F7F7"/>
          </a:solidFill>
          <a:ln w="12700">
            <a:solidFill>
              <a:srgbClr val="F0605D"/>
            </a:solidFill>
            <a:prstDash val="solid"/>
          </a:ln>
        </p:spPr>
      </p:sp>
      <p:sp>
        <p:nvSpPr>
          <p:cNvPr id="28" name="Text 25"/>
          <p:cNvSpPr txBox="1"/>
          <p:nvPr/>
        </p:nvSpPr>
        <p:spPr>
          <a:xfrm>
            <a:off x="1692737" y="4398264"/>
            <a:ext cx="776874" cy="384048"/>
          </a:xfrm>
          <a:prstGeom prst="rect">
            <a:avLst/>
          </a:prstGeom>
          <a:noFill/>
          <a:ln/>
        </p:spPr>
        <p:txBody>
          <a:bodyPr wrap="square" lIns="0" tIns="0" rIns="0" bIns="0" rtlCol="0" anchor="ctr"/>
          <a:lstStyle/>
          <a:p>
            <a:pPr algn="ctr" indent="0" marL="0">
              <a:buNone/>
            </a:pPr>
            <a:r>
              <a:rPr lang="en-US" sz="1200" b="1" dirty="0">
                <a:solidFill>
                  <a:srgbClr val="F0605D"/>
                </a:solidFill>
                <a:latin typeface="Calibri" pitchFamily="34" charset="0"/>
                <a:ea typeface="Calibri" pitchFamily="34" charset="-122"/>
                <a:cs typeface="Calibri" pitchFamily="34" charset="-120"/>
              </a:rPr>
              <a:t>Faulty</a:t>
            </a:r>
            <a:endParaRPr lang="en-US" sz="1200" dirty="0"/>
          </a:p>
        </p:txBody>
      </p:sp>
      <p:sp>
        <p:nvSpPr>
          <p:cNvPr id="29" name="icon-bg"/>
          <p:cNvSpPr/>
          <p:nvPr/>
        </p:nvSpPr>
        <p:spPr>
          <a:xfrm>
            <a:off x="548640" y="4992624"/>
            <a:ext cx="384048" cy="384048"/>
          </a:xfrm>
          <a:prstGeom prst="ellipse">
            <a:avLst/>
          </a:prstGeom>
          <a:solidFill>
            <a:srgbClr val="F4B942"/>
          </a:solidFill>
          <a:ln w="12700">
            <a:solidFill>
              <a:srgbClr val="F4B942"/>
            </a:solidFill>
            <a:prstDash val="solid"/>
          </a:ln>
        </p:spPr>
      </p:sp>
      <p:pic>
        <p:nvPicPr>
          <p:cNvPr id="30" name="icon" descr="preencoded.png">    </p:cNvPr>
          <p:cNvPicPr>
            <a:picLocks noChangeAspect="1"/>
          </p:cNvPicPr>
          <p:nvPr/>
        </p:nvPicPr>
        <p:blipFill>
          <a:blip r:embed="rId2"/>
          <a:stretch>
            <a:fillRect/>
          </a:stretch>
        </p:blipFill>
        <p:spPr>
          <a:xfrm>
            <a:off x="640812" y="5084796"/>
            <a:ext cx="199705" cy="199705"/>
          </a:xfrm>
          <a:prstGeom prst="rect">
            <a:avLst/>
          </a:prstGeom>
        </p:spPr>
      </p:pic>
      <p:sp>
        <p:nvSpPr>
          <p:cNvPr id="31" name="Text 27"/>
          <p:cNvSpPr txBox="1"/>
          <p:nvPr/>
        </p:nvSpPr>
        <p:spPr>
          <a:xfrm>
            <a:off x="1051560" y="4956048"/>
            <a:ext cx="4572000" cy="548640"/>
          </a:xfrm>
          <a:prstGeom prst="rect">
            <a:avLst/>
          </a:prstGeom>
          <a:noFill/>
          <a:ln/>
        </p:spPr>
        <p:txBody>
          <a:bodyPr wrap="square" lIns="0" tIns="0" rIns="0" bIns="0" rtlCol="0" anchor="ctr"/>
          <a:lstStyle/>
          <a:p>
            <a:pPr indent="0" marL="0">
              <a:buNone/>
            </a:pPr>
            <a:r>
              <a:rPr lang="en-US" sz="1150" dirty="0">
                <a:solidFill>
                  <a:srgbClr val="0B2135"/>
                </a:solidFill>
                <a:latin typeface="Calibri" pitchFamily="34" charset="0"/>
                <a:ea typeface="Calibri" pitchFamily="34" charset="-122"/>
                <a:cs typeface="Calibri" pitchFamily="34" charset="-120"/>
              </a:rPr>
              <a:t>Summary cards show total, working and faulty assets for the selected phase. Demo data: 30 street lights, 3 faulty.</a:t>
            </a:r>
            <a:endParaRPr lang="en-US" sz="1150" dirty="0"/>
          </a:p>
        </p:txBody>
      </p:sp>
      <p:pic>
        <p:nvPicPr>
          <p:cNvPr id="32" name="screenshot" descr="img/p_infra.png">    </p:cNvPr>
          <p:cNvPicPr>
            <a:picLocks noChangeAspect="1"/>
          </p:cNvPicPr>
          <p:nvPr/>
        </p:nvPicPr>
        <p:blipFill>
          <a:blip r:embed="rId3"/>
          <a:stretch>
            <a:fillRect/>
          </a:stretch>
        </p:blipFill>
        <p:spPr>
          <a:xfrm>
            <a:off x="5989320" y="1261872"/>
            <a:ext cx="5669280" cy="2947050"/>
          </a:xfrm>
          <a:prstGeom prst="rect">
            <a:avLst/>
          </a:prstGeom>
          <a:effectLst>
            <a:outerShdw sx="100000" sy="100000" kx="0" ky="0" algn="bl" rotWithShape="0" blurRad="228600" dist="50800" dir="5400000">
              <a:srgbClr val="0B2135">
                <a:alpha val="22000"/>
              </a:srgbClr>
            </a:outerShdw>
          </a:effectLst>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t"/>
          <a:lstStyle/>
          <a:p>
            <a:pPr indent="0" marL="0">
              <a:buNone/>
            </a:pPr>
            <a:r>
              <a:rPr lang="en-US" sz="1100" b="1" spc="300" kern="0" dirty="0">
                <a:solidFill>
                  <a:srgbClr val="0E7C76"/>
                </a:solidFill>
                <a:latin typeface="Calibri" pitchFamily="34" charset="0"/>
                <a:ea typeface="Calibri" pitchFamily="34" charset="-122"/>
                <a:cs typeface="Calibri" pitchFamily="34" charset="-120"/>
              </a:rPr>
              <a:t>MODULE 05 · SAFETY  ·  GUARD ROUNDS</a:t>
            </a:r>
            <a:endParaRPr lang="en-US" sz="1100" dirty="0"/>
          </a:p>
        </p:txBody>
      </p:sp>
      <p:sp>
        <p:nvSpPr>
          <p:cNvPr id="3" name="Text 1"/>
          <p:cNvSpPr/>
          <p:nvPr>
            <p:ph idx="101" type="title" hasCustomPrompt="1"/>
          </p:nvPr>
        </p:nvSpPr>
        <p:spPr>
          <a:xfrm>
            <a:off x="548640" y="457200"/>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Guard Rounds: proof the perimeter is patrolled</a:t>
            </a:r>
            <a:endParaRPr lang="en-US" sz="3000" dirty="0"/>
          </a:p>
        </p:txBody>
      </p:sp>
      <p:sp>
        <p:nvSpPr>
          <p:cNvPr id="4" name="Text 2"/>
          <p:cNvSpPr txBox="1"/>
          <p:nvPr/>
        </p:nvSpPr>
        <p:spPr>
          <a:xfrm>
            <a:off x="548640" y="1261872"/>
            <a:ext cx="5074920" cy="822960"/>
          </a:xfrm>
          <a:prstGeom prst="rect">
            <a:avLst/>
          </a:prstGeom>
          <a:noFill/>
          <a:ln/>
        </p:spPr>
        <p:txBody>
          <a:bodyPr wrap="square" lIns="0" tIns="0" rIns="0" bIns="0" rtlCol="0" anchor="t"/>
          <a:lstStyle/>
          <a:p>
            <a:pPr indent="0" marL="0">
              <a:buNone/>
            </a:pPr>
            <a:r>
              <a:rPr lang="en-US" sz="1400" dirty="0">
                <a:solidFill>
                  <a:srgbClr val="16384F"/>
                </a:solidFill>
                <a:latin typeface="Calibri" pitchFamily="34" charset="0"/>
                <a:ea typeface="Calibri" pitchFamily="34" charset="-122"/>
                <a:cs typeface="Calibri" pitchFamily="34" charset="-120"/>
              </a:rPr>
              <a:t>A log of every patrol round, so the committee and residents can see that guards actually walked their routes — and which rounds were missed.</a:t>
            </a:r>
            <a:endParaRPr lang="en-US" sz="1400" dirty="0"/>
          </a:p>
        </p:txBody>
      </p:sp>
      <p:sp>
        <p:nvSpPr>
          <p:cNvPr id="5" name="Text 3"/>
          <p:cNvSpPr txBox="1"/>
          <p:nvPr/>
        </p:nvSpPr>
        <p:spPr>
          <a:xfrm>
            <a:off x="548640" y="2176272"/>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WHO USES IT</a:t>
            </a:r>
            <a:endParaRPr lang="en-US" sz="1000" dirty="0"/>
          </a:p>
        </p:txBody>
      </p:sp>
      <p:sp>
        <p:nvSpPr>
          <p:cNvPr id="6" name="role-chip"/>
          <p:cNvSpPr/>
          <p:nvPr/>
        </p:nvSpPr>
        <p:spPr>
          <a:xfrm>
            <a:off x="548640" y="2450592"/>
            <a:ext cx="1115751" cy="329184"/>
          </a:xfrm>
          <a:prstGeom prst="roundRect">
            <a:avLst>
              <a:gd name="adj" fmla="val 50000"/>
            </a:avLst>
          </a:prstGeom>
          <a:solidFill>
            <a:srgbClr val="0B2135"/>
          </a:solidFill>
          <a:ln w="12700">
            <a:solidFill>
              <a:srgbClr val="0B2135"/>
            </a:solidFill>
            <a:prstDash val="solid"/>
          </a:ln>
        </p:spPr>
      </p:sp>
      <p:sp>
        <p:nvSpPr>
          <p:cNvPr id="7" name="Text 5"/>
          <p:cNvSpPr txBox="1"/>
          <p:nvPr/>
        </p:nvSpPr>
        <p:spPr>
          <a:xfrm>
            <a:off x="548640" y="2450592"/>
            <a:ext cx="1115751"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Super Admin</a:t>
            </a:r>
            <a:endParaRPr lang="en-US" sz="1150" dirty="0"/>
          </a:p>
        </p:txBody>
      </p:sp>
      <p:sp>
        <p:nvSpPr>
          <p:cNvPr id="8" name="role-chip"/>
          <p:cNvSpPr/>
          <p:nvPr/>
        </p:nvSpPr>
        <p:spPr>
          <a:xfrm>
            <a:off x="1774119" y="2450592"/>
            <a:ext cx="972739" cy="329184"/>
          </a:xfrm>
          <a:prstGeom prst="roundRect">
            <a:avLst>
              <a:gd name="adj" fmla="val 50000"/>
            </a:avLst>
          </a:prstGeom>
          <a:solidFill>
            <a:srgbClr val="0E7C76"/>
          </a:solidFill>
          <a:ln w="12700">
            <a:solidFill>
              <a:srgbClr val="0E7C76"/>
            </a:solidFill>
            <a:prstDash val="solid"/>
          </a:ln>
        </p:spPr>
      </p:sp>
      <p:sp>
        <p:nvSpPr>
          <p:cNvPr id="9" name="Text 7"/>
          <p:cNvSpPr txBox="1"/>
          <p:nvPr/>
        </p:nvSpPr>
        <p:spPr>
          <a:xfrm>
            <a:off x="1774119" y="2450592"/>
            <a:ext cx="972739"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Volunteer</a:t>
            </a:r>
            <a:endParaRPr lang="en-US" sz="1150" dirty="0"/>
          </a:p>
        </p:txBody>
      </p:sp>
      <p:sp>
        <p:nvSpPr>
          <p:cNvPr id="10" name="role-chip"/>
          <p:cNvSpPr/>
          <p:nvPr/>
        </p:nvSpPr>
        <p:spPr>
          <a:xfrm>
            <a:off x="2856586" y="2450592"/>
            <a:ext cx="686714" cy="329184"/>
          </a:xfrm>
          <a:prstGeom prst="roundRect">
            <a:avLst>
              <a:gd name="adj" fmla="val 50000"/>
            </a:avLst>
          </a:prstGeom>
          <a:solidFill>
            <a:srgbClr val="B57A0C"/>
          </a:solidFill>
          <a:ln w="12700">
            <a:solidFill>
              <a:srgbClr val="B57A0C"/>
            </a:solidFill>
            <a:prstDash val="solid"/>
          </a:ln>
        </p:spPr>
      </p:sp>
      <p:sp>
        <p:nvSpPr>
          <p:cNvPr id="11" name="Text 9"/>
          <p:cNvSpPr txBox="1"/>
          <p:nvPr/>
        </p:nvSpPr>
        <p:spPr>
          <a:xfrm>
            <a:off x="2856586" y="2450592"/>
            <a:ext cx="68671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Guard</a:t>
            </a:r>
            <a:endParaRPr lang="en-US" sz="1150" dirty="0"/>
          </a:p>
        </p:txBody>
      </p:sp>
      <p:sp>
        <p:nvSpPr>
          <p:cNvPr id="12" name="Text 10"/>
          <p:cNvSpPr txBox="1"/>
          <p:nvPr/>
        </p:nvSpPr>
        <p:spPr>
          <a:xfrm>
            <a:off x="548640" y="2971800"/>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WHAT GETS RECORDED</a:t>
            </a:r>
            <a:endParaRPr lang="en-US" sz="1000" dirty="0"/>
          </a:p>
        </p:txBody>
      </p:sp>
      <p:sp>
        <p:nvSpPr>
          <p:cNvPr id="13" name="field-tag"/>
          <p:cNvSpPr/>
          <p:nvPr/>
        </p:nvSpPr>
        <p:spPr>
          <a:xfrm>
            <a:off x="548640" y="3246120"/>
            <a:ext cx="2468880" cy="310896"/>
          </a:xfrm>
          <a:prstGeom prst="roundRect">
            <a:avLst>
              <a:gd name="adj" fmla="val 17647"/>
            </a:avLst>
          </a:prstGeom>
          <a:solidFill>
            <a:srgbClr val="F1F7F7"/>
          </a:solidFill>
          <a:ln w="12700">
            <a:solidFill>
              <a:srgbClr val="F1F7F7"/>
            </a:solidFill>
            <a:prstDash val="solid"/>
          </a:ln>
        </p:spPr>
      </p:sp>
      <p:sp>
        <p:nvSpPr>
          <p:cNvPr id="14" name="dot"/>
          <p:cNvSpPr/>
          <p:nvPr/>
        </p:nvSpPr>
        <p:spPr>
          <a:xfrm>
            <a:off x="658368" y="3364992"/>
            <a:ext cx="73152" cy="73152"/>
          </a:xfrm>
          <a:prstGeom prst="ellipse">
            <a:avLst/>
          </a:prstGeom>
          <a:solidFill>
            <a:srgbClr val="13A89E"/>
          </a:solidFill>
          <a:ln w="12700">
            <a:solidFill>
              <a:srgbClr val="13A89E"/>
            </a:solidFill>
            <a:prstDash val="solid"/>
          </a:ln>
        </p:spPr>
      </p:sp>
      <p:sp>
        <p:nvSpPr>
          <p:cNvPr id="15" name="Text 13"/>
          <p:cNvSpPr txBox="1"/>
          <p:nvPr/>
        </p:nvSpPr>
        <p:spPr>
          <a:xfrm>
            <a:off x="804672" y="3246120"/>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Date and time (pre-filled to now)</a:t>
            </a:r>
            <a:endParaRPr lang="en-US" sz="1100" dirty="0"/>
          </a:p>
        </p:txBody>
      </p:sp>
      <p:sp>
        <p:nvSpPr>
          <p:cNvPr id="16" name="field-tag"/>
          <p:cNvSpPr/>
          <p:nvPr/>
        </p:nvSpPr>
        <p:spPr>
          <a:xfrm>
            <a:off x="3154680" y="3246120"/>
            <a:ext cx="2468880" cy="310896"/>
          </a:xfrm>
          <a:prstGeom prst="roundRect">
            <a:avLst>
              <a:gd name="adj" fmla="val 17647"/>
            </a:avLst>
          </a:prstGeom>
          <a:solidFill>
            <a:srgbClr val="F1F7F7"/>
          </a:solidFill>
          <a:ln w="12700">
            <a:solidFill>
              <a:srgbClr val="F1F7F7"/>
            </a:solidFill>
            <a:prstDash val="solid"/>
          </a:ln>
        </p:spPr>
      </p:sp>
      <p:sp>
        <p:nvSpPr>
          <p:cNvPr id="17" name="dot"/>
          <p:cNvSpPr/>
          <p:nvPr/>
        </p:nvSpPr>
        <p:spPr>
          <a:xfrm>
            <a:off x="3264408" y="3364992"/>
            <a:ext cx="73152" cy="73152"/>
          </a:xfrm>
          <a:prstGeom prst="ellipse">
            <a:avLst/>
          </a:prstGeom>
          <a:solidFill>
            <a:srgbClr val="13A89E"/>
          </a:solidFill>
          <a:ln w="12700">
            <a:solidFill>
              <a:srgbClr val="13A89E"/>
            </a:solidFill>
            <a:prstDash val="solid"/>
          </a:ln>
        </p:spPr>
      </p:sp>
      <p:sp>
        <p:nvSpPr>
          <p:cNvPr id="18" name="Text 16"/>
          <p:cNvSpPr txBox="1"/>
          <p:nvPr/>
        </p:nvSpPr>
        <p:spPr>
          <a:xfrm>
            <a:off x="3410712" y="3246120"/>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Guard name</a:t>
            </a:r>
            <a:endParaRPr lang="en-US" sz="1100" dirty="0"/>
          </a:p>
        </p:txBody>
      </p:sp>
      <p:sp>
        <p:nvSpPr>
          <p:cNvPr id="19" name="field-tag"/>
          <p:cNvSpPr/>
          <p:nvPr/>
        </p:nvSpPr>
        <p:spPr>
          <a:xfrm>
            <a:off x="548640" y="3630168"/>
            <a:ext cx="2468880" cy="310896"/>
          </a:xfrm>
          <a:prstGeom prst="roundRect">
            <a:avLst>
              <a:gd name="adj" fmla="val 17647"/>
            </a:avLst>
          </a:prstGeom>
          <a:solidFill>
            <a:srgbClr val="F1F7F7"/>
          </a:solidFill>
          <a:ln w="12700">
            <a:solidFill>
              <a:srgbClr val="F1F7F7"/>
            </a:solidFill>
            <a:prstDash val="solid"/>
          </a:ln>
        </p:spPr>
      </p:sp>
      <p:sp>
        <p:nvSpPr>
          <p:cNvPr id="20" name="dot"/>
          <p:cNvSpPr/>
          <p:nvPr/>
        </p:nvSpPr>
        <p:spPr>
          <a:xfrm>
            <a:off x="658368" y="3749040"/>
            <a:ext cx="73152" cy="73152"/>
          </a:xfrm>
          <a:prstGeom prst="ellipse">
            <a:avLst/>
          </a:prstGeom>
          <a:solidFill>
            <a:srgbClr val="13A89E"/>
          </a:solidFill>
          <a:ln w="12700">
            <a:solidFill>
              <a:srgbClr val="13A89E"/>
            </a:solidFill>
            <a:prstDash val="solid"/>
          </a:ln>
        </p:spPr>
      </p:sp>
      <p:sp>
        <p:nvSpPr>
          <p:cNvPr id="21" name="Text 19"/>
          <p:cNvSpPr txBox="1"/>
          <p:nvPr/>
        </p:nvSpPr>
        <p:spPr>
          <a:xfrm>
            <a:off x="804672" y="3630168"/>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Route / area (e.g. Peripheral)</a:t>
            </a:r>
            <a:endParaRPr lang="en-US" sz="1100" dirty="0"/>
          </a:p>
        </p:txBody>
      </p:sp>
      <p:sp>
        <p:nvSpPr>
          <p:cNvPr id="22" name="field-tag"/>
          <p:cNvSpPr/>
          <p:nvPr/>
        </p:nvSpPr>
        <p:spPr>
          <a:xfrm>
            <a:off x="3154680" y="3630168"/>
            <a:ext cx="2468880" cy="310896"/>
          </a:xfrm>
          <a:prstGeom prst="roundRect">
            <a:avLst>
              <a:gd name="adj" fmla="val 17647"/>
            </a:avLst>
          </a:prstGeom>
          <a:solidFill>
            <a:srgbClr val="F1F7F7"/>
          </a:solidFill>
          <a:ln w="12700">
            <a:solidFill>
              <a:srgbClr val="F1F7F7"/>
            </a:solidFill>
            <a:prstDash val="solid"/>
          </a:ln>
        </p:spPr>
      </p:sp>
      <p:sp>
        <p:nvSpPr>
          <p:cNvPr id="23" name="dot"/>
          <p:cNvSpPr/>
          <p:nvPr/>
        </p:nvSpPr>
        <p:spPr>
          <a:xfrm>
            <a:off x="3264408" y="3749040"/>
            <a:ext cx="73152" cy="73152"/>
          </a:xfrm>
          <a:prstGeom prst="ellipse">
            <a:avLst/>
          </a:prstGeom>
          <a:solidFill>
            <a:srgbClr val="13A89E"/>
          </a:solidFill>
          <a:ln w="12700">
            <a:solidFill>
              <a:srgbClr val="13A89E"/>
            </a:solidFill>
            <a:prstDash val="solid"/>
          </a:ln>
        </p:spPr>
      </p:sp>
      <p:sp>
        <p:nvSpPr>
          <p:cNvPr id="24" name="Text 22"/>
          <p:cNvSpPr txBox="1"/>
          <p:nvPr/>
        </p:nvSpPr>
        <p:spPr>
          <a:xfrm>
            <a:off x="3410712" y="3630168"/>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Phase and sector</a:t>
            </a:r>
            <a:endParaRPr lang="en-US" sz="1100" dirty="0"/>
          </a:p>
        </p:txBody>
      </p:sp>
      <p:sp>
        <p:nvSpPr>
          <p:cNvPr id="25" name="field-tag"/>
          <p:cNvSpPr/>
          <p:nvPr/>
        </p:nvSpPr>
        <p:spPr>
          <a:xfrm>
            <a:off x="548640" y="4014216"/>
            <a:ext cx="2468880" cy="310896"/>
          </a:xfrm>
          <a:prstGeom prst="roundRect">
            <a:avLst>
              <a:gd name="adj" fmla="val 17647"/>
            </a:avLst>
          </a:prstGeom>
          <a:solidFill>
            <a:srgbClr val="F1F7F7"/>
          </a:solidFill>
          <a:ln w="12700">
            <a:solidFill>
              <a:srgbClr val="F1F7F7"/>
            </a:solidFill>
            <a:prstDash val="solid"/>
          </a:ln>
        </p:spPr>
      </p:sp>
      <p:sp>
        <p:nvSpPr>
          <p:cNvPr id="26" name="dot"/>
          <p:cNvSpPr/>
          <p:nvPr/>
        </p:nvSpPr>
        <p:spPr>
          <a:xfrm>
            <a:off x="658368" y="4133088"/>
            <a:ext cx="73152" cy="73152"/>
          </a:xfrm>
          <a:prstGeom prst="ellipse">
            <a:avLst/>
          </a:prstGeom>
          <a:solidFill>
            <a:srgbClr val="13A89E"/>
          </a:solidFill>
          <a:ln w="12700">
            <a:solidFill>
              <a:srgbClr val="13A89E"/>
            </a:solidFill>
            <a:prstDash val="solid"/>
          </a:ln>
        </p:spPr>
      </p:sp>
      <p:sp>
        <p:nvSpPr>
          <p:cNvPr id="27" name="Text 25"/>
          <p:cNvSpPr txBox="1"/>
          <p:nvPr/>
        </p:nvSpPr>
        <p:spPr>
          <a:xfrm>
            <a:off x="804672" y="4014216"/>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Notes (optional)</a:t>
            </a:r>
            <a:endParaRPr lang="en-US" sz="1100" dirty="0"/>
          </a:p>
        </p:txBody>
      </p:sp>
      <p:sp>
        <p:nvSpPr>
          <p:cNvPr id="28" name="field-tag"/>
          <p:cNvSpPr/>
          <p:nvPr/>
        </p:nvSpPr>
        <p:spPr>
          <a:xfrm>
            <a:off x="3154680" y="4014216"/>
            <a:ext cx="2468880" cy="310896"/>
          </a:xfrm>
          <a:prstGeom prst="roundRect">
            <a:avLst>
              <a:gd name="adj" fmla="val 17647"/>
            </a:avLst>
          </a:prstGeom>
          <a:solidFill>
            <a:srgbClr val="F1F7F7"/>
          </a:solidFill>
          <a:ln w="12700">
            <a:solidFill>
              <a:srgbClr val="F1F7F7"/>
            </a:solidFill>
            <a:prstDash val="solid"/>
          </a:ln>
        </p:spPr>
      </p:sp>
      <p:sp>
        <p:nvSpPr>
          <p:cNvPr id="29" name="dot"/>
          <p:cNvSpPr/>
          <p:nvPr/>
        </p:nvSpPr>
        <p:spPr>
          <a:xfrm>
            <a:off x="3264408" y="4133088"/>
            <a:ext cx="73152" cy="73152"/>
          </a:xfrm>
          <a:prstGeom prst="ellipse">
            <a:avLst/>
          </a:prstGeom>
          <a:solidFill>
            <a:srgbClr val="13A89E"/>
          </a:solidFill>
          <a:ln w="12700">
            <a:solidFill>
              <a:srgbClr val="13A89E"/>
            </a:solidFill>
            <a:prstDash val="solid"/>
          </a:ln>
        </p:spPr>
      </p:sp>
      <p:sp>
        <p:nvSpPr>
          <p:cNvPr id="30" name="Text 28"/>
          <p:cNvSpPr txBox="1"/>
          <p:nvPr/>
        </p:nvSpPr>
        <p:spPr>
          <a:xfrm>
            <a:off x="3410712" y="4014216"/>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Round result</a:t>
            </a:r>
            <a:endParaRPr lang="en-US" sz="1100" dirty="0"/>
          </a:p>
        </p:txBody>
      </p:sp>
      <p:sp>
        <p:nvSpPr>
          <p:cNvPr id="31" name="Text 29"/>
          <p:cNvSpPr txBox="1"/>
          <p:nvPr/>
        </p:nvSpPr>
        <p:spPr>
          <a:xfrm>
            <a:off x="548640" y="4507992"/>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ROUND RESULT</a:t>
            </a:r>
            <a:endParaRPr lang="en-US" sz="1000" dirty="0"/>
          </a:p>
        </p:txBody>
      </p:sp>
      <p:sp>
        <p:nvSpPr>
          <p:cNvPr id="32" name="flow-chip"/>
          <p:cNvSpPr/>
          <p:nvPr/>
        </p:nvSpPr>
        <p:spPr>
          <a:xfrm>
            <a:off x="548640" y="4782312"/>
            <a:ext cx="1000719" cy="384048"/>
          </a:xfrm>
          <a:prstGeom prst="roundRect">
            <a:avLst>
              <a:gd name="adj" fmla="val 50000"/>
            </a:avLst>
          </a:prstGeom>
          <a:solidFill>
            <a:srgbClr val="F1F7F7"/>
          </a:solidFill>
          <a:ln w="12700">
            <a:solidFill>
              <a:srgbClr val="0E7C76"/>
            </a:solidFill>
            <a:prstDash val="solid"/>
          </a:ln>
        </p:spPr>
      </p:sp>
      <p:sp>
        <p:nvSpPr>
          <p:cNvPr id="33" name="Text 31"/>
          <p:cNvSpPr txBox="1"/>
          <p:nvPr/>
        </p:nvSpPr>
        <p:spPr>
          <a:xfrm>
            <a:off x="548640" y="4782312"/>
            <a:ext cx="1000719" cy="384048"/>
          </a:xfrm>
          <a:prstGeom prst="rect">
            <a:avLst/>
          </a:prstGeom>
          <a:noFill/>
          <a:ln/>
        </p:spPr>
        <p:txBody>
          <a:bodyPr wrap="square" lIns="0" tIns="0" rIns="0" bIns="0" rtlCol="0" anchor="ctr"/>
          <a:lstStyle/>
          <a:p>
            <a:pPr algn="ctr" indent="0" marL="0">
              <a:buNone/>
            </a:pPr>
            <a:r>
              <a:rPr lang="en-US" sz="1200" b="1" dirty="0">
                <a:solidFill>
                  <a:srgbClr val="0E7C76"/>
                </a:solidFill>
                <a:latin typeface="Calibri" pitchFamily="34" charset="0"/>
                <a:ea typeface="Calibri" pitchFamily="34" charset="-122"/>
                <a:cs typeface="Calibri" pitchFamily="34" charset="-120"/>
              </a:rPr>
              <a:t>Completed</a:t>
            </a:r>
            <a:endParaRPr lang="en-US" sz="1200" dirty="0"/>
          </a:p>
        </p:txBody>
      </p:sp>
      <p:pic>
        <p:nvPicPr>
          <p:cNvPr id="34" name="arrow" descr="preencoded.png">    </p:cNvPr>
          <p:cNvPicPr>
            <a:picLocks noChangeAspect="1"/>
          </p:cNvPicPr>
          <p:nvPr/>
        </p:nvPicPr>
        <p:blipFill>
          <a:blip r:embed="rId1"/>
          <a:stretch>
            <a:fillRect/>
          </a:stretch>
        </p:blipFill>
        <p:spPr>
          <a:xfrm>
            <a:off x="1595079" y="4873752"/>
            <a:ext cx="201168" cy="201168"/>
          </a:xfrm>
          <a:prstGeom prst="rect">
            <a:avLst/>
          </a:prstGeom>
        </p:spPr>
      </p:pic>
      <p:sp>
        <p:nvSpPr>
          <p:cNvPr id="35" name="flow-chip"/>
          <p:cNvSpPr/>
          <p:nvPr/>
        </p:nvSpPr>
        <p:spPr>
          <a:xfrm>
            <a:off x="1841967" y="4782312"/>
            <a:ext cx="1746870" cy="384048"/>
          </a:xfrm>
          <a:prstGeom prst="roundRect">
            <a:avLst>
              <a:gd name="adj" fmla="val 50000"/>
            </a:avLst>
          </a:prstGeom>
          <a:solidFill>
            <a:srgbClr val="F1F7F7"/>
          </a:solidFill>
          <a:ln w="12700">
            <a:solidFill>
              <a:srgbClr val="F0605D"/>
            </a:solidFill>
            <a:prstDash val="solid"/>
          </a:ln>
        </p:spPr>
      </p:sp>
      <p:sp>
        <p:nvSpPr>
          <p:cNvPr id="36" name="Text 33"/>
          <p:cNvSpPr txBox="1"/>
          <p:nvPr/>
        </p:nvSpPr>
        <p:spPr>
          <a:xfrm>
            <a:off x="1841967" y="4782312"/>
            <a:ext cx="1746870" cy="384048"/>
          </a:xfrm>
          <a:prstGeom prst="rect">
            <a:avLst/>
          </a:prstGeom>
          <a:noFill/>
          <a:ln/>
        </p:spPr>
        <p:txBody>
          <a:bodyPr wrap="square" lIns="0" tIns="0" rIns="0" bIns="0" rtlCol="0" anchor="ctr"/>
          <a:lstStyle/>
          <a:p>
            <a:pPr algn="ctr" indent="0" marL="0">
              <a:buNone/>
            </a:pPr>
            <a:r>
              <a:rPr lang="en-US" sz="1200" b="1" dirty="0">
                <a:solidFill>
                  <a:srgbClr val="F0605D"/>
                </a:solidFill>
                <a:latin typeface="Calibri" pitchFamily="34" charset="0"/>
                <a:ea typeface="Calibri" pitchFamily="34" charset="-122"/>
                <a:cs typeface="Calibri" pitchFamily="34" charset="-120"/>
              </a:rPr>
              <a:t>Missed / Incomplete</a:t>
            </a:r>
            <a:endParaRPr lang="en-US" sz="1200" dirty="0"/>
          </a:p>
        </p:txBody>
      </p:sp>
      <p:sp>
        <p:nvSpPr>
          <p:cNvPr id="37" name="icon-bg"/>
          <p:cNvSpPr/>
          <p:nvPr/>
        </p:nvSpPr>
        <p:spPr>
          <a:xfrm>
            <a:off x="548640" y="5376672"/>
            <a:ext cx="384048" cy="384048"/>
          </a:xfrm>
          <a:prstGeom prst="ellipse">
            <a:avLst/>
          </a:prstGeom>
          <a:solidFill>
            <a:srgbClr val="F4B942"/>
          </a:solidFill>
          <a:ln w="12700">
            <a:solidFill>
              <a:srgbClr val="F4B942"/>
            </a:solidFill>
            <a:prstDash val="solid"/>
          </a:ln>
        </p:spPr>
      </p:sp>
      <p:pic>
        <p:nvPicPr>
          <p:cNvPr id="38" name="icon" descr="preencoded.png">    </p:cNvPr>
          <p:cNvPicPr>
            <a:picLocks noChangeAspect="1"/>
          </p:cNvPicPr>
          <p:nvPr/>
        </p:nvPicPr>
        <p:blipFill>
          <a:blip r:embed="rId2"/>
          <a:stretch>
            <a:fillRect/>
          </a:stretch>
        </p:blipFill>
        <p:spPr>
          <a:xfrm>
            <a:off x="640812" y="5468844"/>
            <a:ext cx="199705" cy="199705"/>
          </a:xfrm>
          <a:prstGeom prst="rect">
            <a:avLst/>
          </a:prstGeom>
        </p:spPr>
      </p:pic>
      <p:sp>
        <p:nvSpPr>
          <p:cNvPr id="39" name="Text 35"/>
          <p:cNvSpPr txBox="1"/>
          <p:nvPr/>
        </p:nvSpPr>
        <p:spPr>
          <a:xfrm>
            <a:off x="1051560" y="5340096"/>
            <a:ext cx="4572000" cy="548640"/>
          </a:xfrm>
          <a:prstGeom prst="rect">
            <a:avLst/>
          </a:prstGeom>
          <a:noFill/>
          <a:ln/>
        </p:spPr>
        <p:txBody>
          <a:bodyPr wrap="square" lIns="0" tIns="0" rIns="0" bIns="0" rtlCol="0" anchor="ctr"/>
          <a:lstStyle/>
          <a:p>
            <a:pPr indent="0" marL="0">
              <a:buNone/>
            </a:pPr>
            <a:r>
              <a:rPr lang="en-US" sz="1150" dirty="0">
                <a:solidFill>
                  <a:srgbClr val="0B2135"/>
                </a:solidFill>
                <a:latin typeface="Calibri" pitchFamily="34" charset="0"/>
                <a:ea typeface="Calibri" pitchFamily="34" charset="-122"/>
                <a:cs typeface="Calibri" pitchFamily="34" charset="-120"/>
              </a:rPr>
              <a:t>Completed rounds also appear on the Security page as a 'Patrol Rounds 2/3' card.</a:t>
            </a:r>
            <a:endParaRPr lang="en-US" sz="1150" dirty="0"/>
          </a:p>
        </p:txBody>
      </p:sp>
      <p:pic>
        <p:nvPicPr>
          <p:cNvPr id="40" name="screenshot" descr="img/p_patrols.png">    </p:cNvPr>
          <p:cNvPicPr>
            <a:picLocks noChangeAspect="1"/>
          </p:cNvPicPr>
          <p:nvPr/>
        </p:nvPicPr>
        <p:blipFill>
          <a:blip r:embed="rId3"/>
          <a:stretch>
            <a:fillRect/>
          </a:stretch>
        </p:blipFill>
        <p:spPr>
          <a:xfrm>
            <a:off x="5989320" y="1261872"/>
            <a:ext cx="5669280" cy="2134445"/>
          </a:xfrm>
          <a:prstGeom prst="rect">
            <a:avLst/>
          </a:prstGeom>
          <a:effectLst>
            <a:outerShdw sx="100000" sy="100000" kx="0" ky="0" algn="bl" rotWithShape="0" blurRad="228600" dist="50800" dir="5400000">
              <a:srgbClr val="0B2135">
                <a:alpha val="22000"/>
              </a:srgbClr>
            </a:outerShdw>
          </a:effectLst>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t"/>
          <a:lstStyle/>
          <a:p>
            <a:pPr indent="0" marL="0">
              <a:buNone/>
            </a:pPr>
            <a:r>
              <a:rPr lang="en-US" sz="1100" b="1" spc="300" kern="0" dirty="0">
                <a:solidFill>
                  <a:srgbClr val="0E7C76"/>
                </a:solidFill>
                <a:latin typeface="Calibri" pitchFamily="34" charset="0"/>
                <a:ea typeface="Calibri" pitchFamily="34" charset="-122"/>
                <a:cs typeface="Calibri" pitchFamily="34" charset="-120"/>
              </a:rPr>
              <a:t>MODULE 06 · GATE  ·  VISITORS (WALK-IN)</a:t>
            </a:r>
            <a:endParaRPr lang="en-US" sz="1100" dirty="0"/>
          </a:p>
        </p:txBody>
      </p:sp>
      <p:sp>
        <p:nvSpPr>
          <p:cNvPr id="3" name="Text 1"/>
          <p:cNvSpPr/>
          <p:nvPr>
            <p:ph idx="101" type="title" hasCustomPrompt="1"/>
          </p:nvPr>
        </p:nvSpPr>
        <p:spPr>
          <a:xfrm>
            <a:off x="548640" y="457200"/>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Visitors: a digital gate register</a:t>
            </a:r>
            <a:endParaRPr lang="en-US" sz="3000" dirty="0"/>
          </a:p>
        </p:txBody>
      </p:sp>
      <p:sp>
        <p:nvSpPr>
          <p:cNvPr id="4" name="Text 2"/>
          <p:cNvSpPr txBox="1"/>
          <p:nvPr/>
        </p:nvSpPr>
        <p:spPr>
          <a:xfrm>
            <a:off x="548640" y="1261872"/>
            <a:ext cx="5074920" cy="822960"/>
          </a:xfrm>
          <a:prstGeom prst="rect">
            <a:avLst/>
          </a:prstGeom>
          <a:noFill/>
          <a:ln/>
        </p:spPr>
        <p:txBody>
          <a:bodyPr wrap="square" lIns="0" tIns="0" rIns="0" bIns="0" rtlCol="0" anchor="t"/>
          <a:lstStyle/>
          <a:p>
            <a:pPr indent="0" marL="0">
              <a:buNone/>
            </a:pPr>
            <a:r>
              <a:rPr lang="en-US" sz="1400" dirty="0">
                <a:solidFill>
                  <a:srgbClr val="16384F"/>
                </a:solidFill>
                <a:latin typeface="Calibri" pitchFamily="34" charset="0"/>
                <a:ea typeface="Calibri" pitchFamily="34" charset="-122"/>
                <a:cs typeface="Calibri" pitchFamily="34" charset="-120"/>
              </a:rPr>
              <a:t>Replaces the paper book at the gate. The guard records each walk-in visitor in seconds, and the host is alerted straight away.</a:t>
            </a:r>
            <a:endParaRPr lang="en-US" sz="1400" dirty="0"/>
          </a:p>
        </p:txBody>
      </p:sp>
      <p:sp>
        <p:nvSpPr>
          <p:cNvPr id="5" name="Text 3"/>
          <p:cNvSpPr txBox="1"/>
          <p:nvPr/>
        </p:nvSpPr>
        <p:spPr>
          <a:xfrm>
            <a:off x="548640" y="2176272"/>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WHO USES IT</a:t>
            </a:r>
            <a:endParaRPr lang="en-US" sz="1000" dirty="0"/>
          </a:p>
        </p:txBody>
      </p:sp>
      <p:sp>
        <p:nvSpPr>
          <p:cNvPr id="6" name="role-chip"/>
          <p:cNvSpPr/>
          <p:nvPr/>
        </p:nvSpPr>
        <p:spPr>
          <a:xfrm>
            <a:off x="548640" y="2450592"/>
            <a:ext cx="1115751" cy="329184"/>
          </a:xfrm>
          <a:prstGeom prst="roundRect">
            <a:avLst>
              <a:gd name="adj" fmla="val 50000"/>
            </a:avLst>
          </a:prstGeom>
          <a:solidFill>
            <a:srgbClr val="0B2135"/>
          </a:solidFill>
          <a:ln w="12700">
            <a:solidFill>
              <a:srgbClr val="0B2135"/>
            </a:solidFill>
            <a:prstDash val="solid"/>
          </a:ln>
        </p:spPr>
      </p:sp>
      <p:sp>
        <p:nvSpPr>
          <p:cNvPr id="7" name="Text 5"/>
          <p:cNvSpPr txBox="1"/>
          <p:nvPr/>
        </p:nvSpPr>
        <p:spPr>
          <a:xfrm>
            <a:off x="548640" y="2450592"/>
            <a:ext cx="1115751"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Super Admin</a:t>
            </a:r>
            <a:endParaRPr lang="en-US" sz="1150" dirty="0"/>
          </a:p>
        </p:txBody>
      </p:sp>
      <p:sp>
        <p:nvSpPr>
          <p:cNvPr id="8" name="role-chip"/>
          <p:cNvSpPr/>
          <p:nvPr/>
        </p:nvSpPr>
        <p:spPr>
          <a:xfrm>
            <a:off x="1774119" y="2450592"/>
            <a:ext cx="972739" cy="329184"/>
          </a:xfrm>
          <a:prstGeom prst="roundRect">
            <a:avLst>
              <a:gd name="adj" fmla="val 50000"/>
            </a:avLst>
          </a:prstGeom>
          <a:solidFill>
            <a:srgbClr val="0E7C76"/>
          </a:solidFill>
          <a:ln w="12700">
            <a:solidFill>
              <a:srgbClr val="0E7C76"/>
            </a:solidFill>
            <a:prstDash val="solid"/>
          </a:ln>
        </p:spPr>
      </p:sp>
      <p:sp>
        <p:nvSpPr>
          <p:cNvPr id="9" name="Text 7"/>
          <p:cNvSpPr txBox="1"/>
          <p:nvPr/>
        </p:nvSpPr>
        <p:spPr>
          <a:xfrm>
            <a:off x="1774119" y="2450592"/>
            <a:ext cx="972739"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Volunteer</a:t>
            </a:r>
            <a:endParaRPr lang="en-US" sz="1150" dirty="0"/>
          </a:p>
        </p:txBody>
      </p:sp>
      <p:sp>
        <p:nvSpPr>
          <p:cNvPr id="10" name="role-chip"/>
          <p:cNvSpPr/>
          <p:nvPr/>
        </p:nvSpPr>
        <p:spPr>
          <a:xfrm>
            <a:off x="2856586" y="2450592"/>
            <a:ext cx="686714" cy="329184"/>
          </a:xfrm>
          <a:prstGeom prst="roundRect">
            <a:avLst>
              <a:gd name="adj" fmla="val 50000"/>
            </a:avLst>
          </a:prstGeom>
          <a:solidFill>
            <a:srgbClr val="B57A0C"/>
          </a:solidFill>
          <a:ln w="12700">
            <a:solidFill>
              <a:srgbClr val="B57A0C"/>
            </a:solidFill>
            <a:prstDash val="solid"/>
          </a:ln>
        </p:spPr>
      </p:sp>
      <p:sp>
        <p:nvSpPr>
          <p:cNvPr id="11" name="Text 9"/>
          <p:cNvSpPr txBox="1"/>
          <p:nvPr/>
        </p:nvSpPr>
        <p:spPr>
          <a:xfrm>
            <a:off x="2856586" y="2450592"/>
            <a:ext cx="68671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Guard</a:t>
            </a:r>
            <a:endParaRPr lang="en-US" sz="1150" dirty="0"/>
          </a:p>
        </p:txBody>
      </p:sp>
      <p:sp>
        <p:nvSpPr>
          <p:cNvPr id="12" name="Text 10"/>
          <p:cNvSpPr txBox="1"/>
          <p:nvPr/>
        </p:nvSpPr>
        <p:spPr>
          <a:xfrm>
            <a:off x="548640" y="2971800"/>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WHAT GETS RECORDED</a:t>
            </a:r>
            <a:endParaRPr lang="en-US" sz="1000" dirty="0"/>
          </a:p>
        </p:txBody>
      </p:sp>
      <p:sp>
        <p:nvSpPr>
          <p:cNvPr id="13" name="field-tag"/>
          <p:cNvSpPr/>
          <p:nvPr/>
        </p:nvSpPr>
        <p:spPr>
          <a:xfrm>
            <a:off x="548640" y="3246120"/>
            <a:ext cx="2468880" cy="310896"/>
          </a:xfrm>
          <a:prstGeom prst="roundRect">
            <a:avLst>
              <a:gd name="adj" fmla="val 17647"/>
            </a:avLst>
          </a:prstGeom>
          <a:solidFill>
            <a:srgbClr val="F1F7F7"/>
          </a:solidFill>
          <a:ln w="12700">
            <a:solidFill>
              <a:srgbClr val="F1F7F7"/>
            </a:solidFill>
            <a:prstDash val="solid"/>
          </a:ln>
        </p:spPr>
      </p:sp>
      <p:sp>
        <p:nvSpPr>
          <p:cNvPr id="14" name="dot"/>
          <p:cNvSpPr/>
          <p:nvPr/>
        </p:nvSpPr>
        <p:spPr>
          <a:xfrm>
            <a:off x="658368" y="3364992"/>
            <a:ext cx="73152" cy="73152"/>
          </a:xfrm>
          <a:prstGeom prst="ellipse">
            <a:avLst/>
          </a:prstGeom>
          <a:solidFill>
            <a:srgbClr val="13A89E"/>
          </a:solidFill>
          <a:ln w="12700">
            <a:solidFill>
              <a:srgbClr val="13A89E"/>
            </a:solidFill>
            <a:prstDash val="solid"/>
          </a:ln>
        </p:spPr>
      </p:sp>
      <p:sp>
        <p:nvSpPr>
          <p:cNvPr id="15" name="Text 13"/>
          <p:cNvSpPr txBox="1"/>
          <p:nvPr/>
        </p:nvSpPr>
        <p:spPr>
          <a:xfrm>
            <a:off x="804672" y="3246120"/>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Visitor name</a:t>
            </a:r>
            <a:endParaRPr lang="en-US" sz="1100" dirty="0"/>
          </a:p>
        </p:txBody>
      </p:sp>
      <p:sp>
        <p:nvSpPr>
          <p:cNvPr id="16" name="field-tag"/>
          <p:cNvSpPr/>
          <p:nvPr/>
        </p:nvSpPr>
        <p:spPr>
          <a:xfrm>
            <a:off x="3154680" y="3246120"/>
            <a:ext cx="2468880" cy="310896"/>
          </a:xfrm>
          <a:prstGeom prst="roundRect">
            <a:avLst>
              <a:gd name="adj" fmla="val 17647"/>
            </a:avLst>
          </a:prstGeom>
          <a:solidFill>
            <a:srgbClr val="F1F7F7"/>
          </a:solidFill>
          <a:ln w="12700">
            <a:solidFill>
              <a:srgbClr val="F1F7F7"/>
            </a:solidFill>
            <a:prstDash val="solid"/>
          </a:ln>
        </p:spPr>
      </p:sp>
      <p:sp>
        <p:nvSpPr>
          <p:cNvPr id="17" name="dot"/>
          <p:cNvSpPr/>
          <p:nvPr/>
        </p:nvSpPr>
        <p:spPr>
          <a:xfrm>
            <a:off x="3264408" y="3364992"/>
            <a:ext cx="73152" cy="73152"/>
          </a:xfrm>
          <a:prstGeom prst="ellipse">
            <a:avLst/>
          </a:prstGeom>
          <a:solidFill>
            <a:srgbClr val="13A89E"/>
          </a:solidFill>
          <a:ln w="12700">
            <a:solidFill>
              <a:srgbClr val="13A89E"/>
            </a:solidFill>
            <a:prstDash val="solid"/>
          </a:ln>
        </p:spPr>
      </p:sp>
      <p:sp>
        <p:nvSpPr>
          <p:cNvPr id="18" name="Text 16"/>
          <p:cNvSpPr txBox="1"/>
          <p:nvPr/>
        </p:nvSpPr>
        <p:spPr>
          <a:xfrm>
            <a:off x="3410712" y="3246120"/>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Mobile number</a:t>
            </a:r>
            <a:endParaRPr lang="en-US" sz="1100" dirty="0"/>
          </a:p>
        </p:txBody>
      </p:sp>
      <p:sp>
        <p:nvSpPr>
          <p:cNvPr id="19" name="field-tag"/>
          <p:cNvSpPr/>
          <p:nvPr/>
        </p:nvSpPr>
        <p:spPr>
          <a:xfrm>
            <a:off x="548640" y="3630168"/>
            <a:ext cx="2468880" cy="310896"/>
          </a:xfrm>
          <a:prstGeom prst="roundRect">
            <a:avLst>
              <a:gd name="adj" fmla="val 17647"/>
            </a:avLst>
          </a:prstGeom>
          <a:solidFill>
            <a:srgbClr val="F1F7F7"/>
          </a:solidFill>
          <a:ln w="12700">
            <a:solidFill>
              <a:srgbClr val="F1F7F7"/>
            </a:solidFill>
            <a:prstDash val="solid"/>
          </a:ln>
        </p:spPr>
      </p:sp>
      <p:sp>
        <p:nvSpPr>
          <p:cNvPr id="20" name="dot"/>
          <p:cNvSpPr/>
          <p:nvPr/>
        </p:nvSpPr>
        <p:spPr>
          <a:xfrm>
            <a:off x="658368" y="3749040"/>
            <a:ext cx="73152" cy="73152"/>
          </a:xfrm>
          <a:prstGeom prst="ellipse">
            <a:avLst/>
          </a:prstGeom>
          <a:solidFill>
            <a:srgbClr val="13A89E"/>
          </a:solidFill>
          <a:ln w="12700">
            <a:solidFill>
              <a:srgbClr val="13A89E"/>
            </a:solidFill>
            <a:prstDash val="solid"/>
          </a:ln>
        </p:spPr>
      </p:sp>
      <p:sp>
        <p:nvSpPr>
          <p:cNvPr id="21" name="Text 19"/>
          <p:cNvSpPr txBox="1"/>
          <p:nvPr/>
        </p:nvSpPr>
        <p:spPr>
          <a:xfrm>
            <a:off x="804672" y="3630168"/>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Host house (e.g. P1-104)</a:t>
            </a:r>
            <a:endParaRPr lang="en-US" sz="1100" dirty="0"/>
          </a:p>
        </p:txBody>
      </p:sp>
      <p:sp>
        <p:nvSpPr>
          <p:cNvPr id="22" name="field-tag"/>
          <p:cNvSpPr/>
          <p:nvPr/>
        </p:nvSpPr>
        <p:spPr>
          <a:xfrm>
            <a:off x="3154680" y="3630168"/>
            <a:ext cx="2468880" cy="310896"/>
          </a:xfrm>
          <a:prstGeom prst="roundRect">
            <a:avLst>
              <a:gd name="adj" fmla="val 17647"/>
            </a:avLst>
          </a:prstGeom>
          <a:solidFill>
            <a:srgbClr val="F1F7F7"/>
          </a:solidFill>
          <a:ln w="12700">
            <a:solidFill>
              <a:srgbClr val="F1F7F7"/>
            </a:solidFill>
            <a:prstDash val="solid"/>
          </a:ln>
        </p:spPr>
      </p:sp>
      <p:sp>
        <p:nvSpPr>
          <p:cNvPr id="23" name="dot"/>
          <p:cNvSpPr/>
          <p:nvPr/>
        </p:nvSpPr>
        <p:spPr>
          <a:xfrm>
            <a:off x="3264408" y="3749040"/>
            <a:ext cx="73152" cy="73152"/>
          </a:xfrm>
          <a:prstGeom prst="ellipse">
            <a:avLst/>
          </a:prstGeom>
          <a:solidFill>
            <a:srgbClr val="13A89E"/>
          </a:solidFill>
          <a:ln w="12700">
            <a:solidFill>
              <a:srgbClr val="13A89E"/>
            </a:solidFill>
            <a:prstDash val="solid"/>
          </a:ln>
        </p:spPr>
      </p:sp>
      <p:sp>
        <p:nvSpPr>
          <p:cNvPr id="24" name="Text 22"/>
          <p:cNvSpPr txBox="1"/>
          <p:nvPr/>
        </p:nvSpPr>
        <p:spPr>
          <a:xfrm>
            <a:off x="3410712" y="3630168"/>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Phase and sector</a:t>
            </a:r>
            <a:endParaRPr lang="en-US" sz="1100" dirty="0"/>
          </a:p>
        </p:txBody>
      </p:sp>
      <p:sp>
        <p:nvSpPr>
          <p:cNvPr id="25" name="field-tag"/>
          <p:cNvSpPr/>
          <p:nvPr/>
        </p:nvSpPr>
        <p:spPr>
          <a:xfrm>
            <a:off x="548640" y="4014216"/>
            <a:ext cx="2468880" cy="310896"/>
          </a:xfrm>
          <a:prstGeom prst="roundRect">
            <a:avLst>
              <a:gd name="adj" fmla="val 17647"/>
            </a:avLst>
          </a:prstGeom>
          <a:solidFill>
            <a:srgbClr val="F1F7F7"/>
          </a:solidFill>
          <a:ln w="12700">
            <a:solidFill>
              <a:srgbClr val="F1F7F7"/>
            </a:solidFill>
            <a:prstDash val="solid"/>
          </a:ln>
        </p:spPr>
      </p:sp>
      <p:sp>
        <p:nvSpPr>
          <p:cNvPr id="26" name="dot"/>
          <p:cNvSpPr/>
          <p:nvPr/>
        </p:nvSpPr>
        <p:spPr>
          <a:xfrm>
            <a:off x="658368" y="4133088"/>
            <a:ext cx="73152" cy="73152"/>
          </a:xfrm>
          <a:prstGeom prst="ellipse">
            <a:avLst/>
          </a:prstGeom>
          <a:solidFill>
            <a:srgbClr val="13A89E"/>
          </a:solidFill>
          <a:ln w="12700">
            <a:solidFill>
              <a:srgbClr val="13A89E"/>
            </a:solidFill>
            <a:prstDash val="solid"/>
          </a:ln>
        </p:spPr>
      </p:sp>
      <p:sp>
        <p:nvSpPr>
          <p:cNvPr id="27" name="Text 25"/>
          <p:cNvSpPr txBox="1"/>
          <p:nvPr/>
        </p:nvSpPr>
        <p:spPr>
          <a:xfrm>
            <a:off x="804672" y="4014216"/>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Purpose: Guest / Delivery / Service / Other</a:t>
            </a:r>
            <a:endParaRPr lang="en-US" sz="1100" dirty="0"/>
          </a:p>
        </p:txBody>
      </p:sp>
      <p:sp>
        <p:nvSpPr>
          <p:cNvPr id="28" name="field-tag"/>
          <p:cNvSpPr/>
          <p:nvPr/>
        </p:nvSpPr>
        <p:spPr>
          <a:xfrm>
            <a:off x="3154680" y="4014216"/>
            <a:ext cx="2468880" cy="310896"/>
          </a:xfrm>
          <a:prstGeom prst="roundRect">
            <a:avLst>
              <a:gd name="adj" fmla="val 17647"/>
            </a:avLst>
          </a:prstGeom>
          <a:solidFill>
            <a:srgbClr val="F1F7F7"/>
          </a:solidFill>
          <a:ln w="12700">
            <a:solidFill>
              <a:srgbClr val="F1F7F7"/>
            </a:solidFill>
            <a:prstDash val="solid"/>
          </a:ln>
        </p:spPr>
      </p:sp>
      <p:sp>
        <p:nvSpPr>
          <p:cNvPr id="29" name="dot"/>
          <p:cNvSpPr/>
          <p:nvPr/>
        </p:nvSpPr>
        <p:spPr>
          <a:xfrm>
            <a:off x="3264408" y="4133088"/>
            <a:ext cx="73152" cy="73152"/>
          </a:xfrm>
          <a:prstGeom prst="ellipse">
            <a:avLst/>
          </a:prstGeom>
          <a:solidFill>
            <a:srgbClr val="13A89E"/>
          </a:solidFill>
          <a:ln w="12700">
            <a:solidFill>
              <a:srgbClr val="13A89E"/>
            </a:solidFill>
            <a:prstDash val="solid"/>
          </a:ln>
        </p:spPr>
      </p:sp>
      <p:sp>
        <p:nvSpPr>
          <p:cNvPr id="30" name="Text 28"/>
          <p:cNvSpPr txBox="1"/>
          <p:nvPr/>
        </p:nvSpPr>
        <p:spPr>
          <a:xfrm>
            <a:off x="3410712" y="4014216"/>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Vehicle number</a:t>
            </a:r>
            <a:endParaRPr lang="en-US" sz="1100" dirty="0"/>
          </a:p>
        </p:txBody>
      </p:sp>
      <p:sp>
        <p:nvSpPr>
          <p:cNvPr id="31" name="field-tag"/>
          <p:cNvSpPr/>
          <p:nvPr/>
        </p:nvSpPr>
        <p:spPr>
          <a:xfrm>
            <a:off x="548640" y="4398264"/>
            <a:ext cx="2468880" cy="310896"/>
          </a:xfrm>
          <a:prstGeom prst="roundRect">
            <a:avLst>
              <a:gd name="adj" fmla="val 17647"/>
            </a:avLst>
          </a:prstGeom>
          <a:solidFill>
            <a:srgbClr val="F1F7F7"/>
          </a:solidFill>
          <a:ln w="12700">
            <a:solidFill>
              <a:srgbClr val="F1F7F7"/>
            </a:solidFill>
            <a:prstDash val="solid"/>
          </a:ln>
        </p:spPr>
      </p:sp>
      <p:sp>
        <p:nvSpPr>
          <p:cNvPr id="32" name="dot"/>
          <p:cNvSpPr/>
          <p:nvPr/>
        </p:nvSpPr>
        <p:spPr>
          <a:xfrm>
            <a:off x="658368" y="4517136"/>
            <a:ext cx="73152" cy="73152"/>
          </a:xfrm>
          <a:prstGeom prst="ellipse">
            <a:avLst/>
          </a:prstGeom>
          <a:solidFill>
            <a:srgbClr val="13A89E"/>
          </a:solidFill>
          <a:ln w="12700">
            <a:solidFill>
              <a:srgbClr val="13A89E"/>
            </a:solidFill>
            <a:prstDash val="solid"/>
          </a:ln>
        </p:spPr>
      </p:sp>
      <p:sp>
        <p:nvSpPr>
          <p:cNvPr id="33" name="Text 31"/>
          <p:cNvSpPr txBox="1"/>
          <p:nvPr/>
        </p:nvSpPr>
        <p:spPr>
          <a:xfrm>
            <a:off x="804672" y="4398264"/>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Entry gate (5 gates)</a:t>
            </a:r>
            <a:endParaRPr lang="en-US" sz="1100" dirty="0"/>
          </a:p>
        </p:txBody>
      </p:sp>
      <p:sp>
        <p:nvSpPr>
          <p:cNvPr id="34" name="field-tag"/>
          <p:cNvSpPr/>
          <p:nvPr/>
        </p:nvSpPr>
        <p:spPr>
          <a:xfrm>
            <a:off x="3154680" y="4398264"/>
            <a:ext cx="2468880" cy="310896"/>
          </a:xfrm>
          <a:prstGeom prst="roundRect">
            <a:avLst>
              <a:gd name="adj" fmla="val 17647"/>
            </a:avLst>
          </a:prstGeom>
          <a:solidFill>
            <a:srgbClr val="F1F7F7"/>
          </a:solidFill>
          <a:ln w="12700">
            <a:solidFill>
              <a:srgbClr val="F1F7F7"/>
            </a:solidFill>
            <a:prstDash val="solid"/>
          </a:ln>
        </p:spPr>
      </p:sp>
      <p:sp>
        <p:nvSpPr>
          <p:cNvPr id="35" name="dot"/>
          <p:cNvSpPr/>
          <p:nvPr/>
        </p:nvSpPr>
        <p:spPr>
          <a:xfrm>
            <a:off x="3264408" y="4517136"/>
            <a:ext cx="73152" cy="73152"/>
          </a:xfrm>
          <a:prstGeom prst="ellipse">
            <a:avLst/>
          </a:prstGeom>
          <a:solidFill>
            <a:srgbClr val="13A89E"/>
          </a:solidFill>
          <a:ln w="12700">
            <a:solidFill>
              <a:srgbClr val="13A89E"/>
            </a:solidFill>
            <a:prstDash val="solid"/>
          </a:ln>
        </p:spPr>
      </p:sp>
      <p:sp>
        <p:nvSpPr>
          <p:cNvPr id="36" name="Text 34"/>
          <p:cNvSpPr txBox="1"/>
          <p:nvPr/>
        </p:nvSpPr>
        <p:spPr>
          <a:xfrm>
            <a:off x="3410712" y="4398264"/>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Entry time (auto)</a:t>
            </a:r>
            <a:endParaRPr lang="en-US" sz="1100" dirty="0"/>
          </a:p>
        </p:txBody>
      </p:sp>
      <p:sp>
        <p:nvSpPr>
          <p:cNvPr id="37" name="Text 35"/>
          <p:cNvSpPr txBox="1"/>
          <p:nvPr/>
        </p:nvSpPr>
        <p:spPr>
          <a:xfrm>
            <a:off x="548640" y="4892040"/>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VISITOR STATUS</a:t>
            </a:r>
            <a:endParaRPr lang="en-US" sz="1000" dirty="0"/>
          </a:p>
        </p:txBody>
      </p:sp>
      <p:sp>
        <p:nvSpPr>
          <p:cNvPr id="38" name="flow-chip"/>
          <p:cNvSpPr/>
          <p:nvPr/>
        </p:nvSpPr>
        <p:spPr>
          <a:xfrm>
            <a:off x="548640" y="5166360"/>
            <a:ext cx="776874" cy="384048"/>
          </a:xfrm>
          <a:prstGeom prst="roundRect">
            <a:avLst>
              <a:gd name="adj" fmla="val 50000"/>
            </a:avLst>
          </a:prstGeom>
          <a:solidFill>
            <a:srgbClr val="F1F7F7"/>
          </a:solidFill>
          <a:ln w="12700">
            <a:solidFill>
              <a:srgbClr val="B57A0C"/>
            </a:solidFill>
            <a:prstDash val="solid"/>
          </a:ln>
        </p:spPr>
      </p:sp>
      <p:sp>
        <p:nvSpPr>
          <p:cNvPr id="39" name="Text 37"/>
          <p:cNvSpPr txBox="1"/>
          <p:nvPr/>
        </p:nvSpPr>
        <p:spPr>
          <a:xfrm>
            <a:off x="548640" y="5166360"/>
            <a:ext cx="776874" cy="384048"/>
          </a:xfrm>
          <a:prstGeom prst="rect">
            <a:avLst/>
          </a:prstGeom>
          <a:noFill/>
          <a:ln/>
        </p:spPr>
        <p:txBody>
          <a:bodyPr wrap="square" lIns="0" tIns="0" rIns="0" bIns="0" rtlCol="0" anchor="ctr"/>
          <a:lstStyle/>
          <a:p>
            <a:pPr algn="ctr" indent="0" marL="0">
              <a:buNone/>
            </a:pPr>
            <a:r>
              <a:rPr lang="en-US" sz="1200" b="1" dirty="0">
                <a:solidFill>
                  <a:srgbClr val="B57A0C"/>
                </a:solidFill>
                <a:latin typeface="Calibri" pitchFamily="34" charset="0"/>
                <a:ea typeface="Calibri" pitchFamily="34" charset="-122"/>
                <a:cs typeface="Calibri" pitchFamily="34" charset="-120"/>
              </a:rPr>
              <a:t>Inside</a:t>
            </a:r>
            <a:endParaRPr lang="en-US" sz="1200" dirty="0"/>
          </a:p>
        </p:txBody>
      </p:sp>
      <p:pic>
        <p:nvPicPr>
          <p:cNvPr id="40" name="arrow" descr="preencoded.png">    </p:cNvPr>
          <p:cNvPicPr>
            <a:picLocks noChangeAspect="1"/>
          </p:cNvPicPr>
          <p:nvPr/>
        </p:nvPicPr>
        <p:blipFill>
          <a:blip r:embed="rId1"/>
          <a:stretch>
            <a:fillRect/>
          </a:stretch>
        </p:blipFill>
        <p:spPr>
          <a:xfrm>
            <a:off x="1371234" y="5257800"/>
            <a:ext cx="201168" cy="201168"/>
          </a:xfrm>
          <a:prstGeom prst="rect">
            <a:avLst/>
          </a:prstGeom>
        </p:spPr>
      </p:pic>
      <p:sp>
        <p:nvSpPr>
          <p:cNvPr id="41" name="flow-chip"/>
          <p:cNvSpPr/>
          <p:nvPr/>
        </p:nvSpPr>
        <p:spPr>
          <a:xfrm>
            <a:off x="1618122" y="5166360"/>
            <a:ext cx="776874" cy="384048"/>
          </a:xfrm>
          <a:prstGeom prst="roundRect">
            <a:avLst>
              <a:gd name="adj" fmla="val 50000"/>
            </a:avLst>
          </a:prstGeom>
          <a:solidFill>
            <a:srgbClr val="F1F7F7"/>
          </a:solidFill>
          <a:ln w="12700">
            <a:solidFill>
              <a:srgbClr val="0E7C76"/>
            </a:solidFill>
            <a:prstDash val="solid"/>
          </a:ln>
        </p:spPr>
      </p:sp>
      <p:sp>
        <p:nvSpPr>
          <p:cNvPr id="42" name="Text 39"/>
          <p:cNvSpPr txBox="1"/>
          <p:nvPr/>
        </p:nvSpPr>
        <p:spPr>
          <a:xfrm>
            <a:off x="1618122" y="5166360"/>
            <a:ext cx="776874" cy="384048"/>
          </a:xfrm>
          <a:prstGeom prst="rect">
            <a:avLst/>
          </a:prstGeom>
          <a:noFill/>
          <a:ln/>
        </p:spPr>
        <p:txBody>
          <a:bodyPr wrap="square" lIns="0" tIns="0" rIns="0" bIns="0" rtlCol="0" anchor="ctr"/>
          <a:lstStyle/>
          <a:p>
            <a:pPr algn="ctr" indent="0" marL="0">
              <a:buNone/>
            </a:pPr>
            <a:r>
              <a:rPr lang="en-US" sz="1200" b="1" dirty="0">
                <a:solidFill>
                  <a:srgbClr val="0E7C76"/>
                </a:solidFill>
                <a:latin typeface="Calibri" pitchFamily="34" charset="0"/>
                <a:ea typeface="Calibri" pitchFamily="34" charset="-122"/>
                <a:cs typeface="Calibri" pitchFamily="34" charset="-120"/>
              </a:rPr>
              <a:t>Exited</a:t>
            </a:r>
            <a:endParaRPr lang="en-US" sz="1200" dirty="0"/>
          </a:p>
        </p:txBody>
      </p:sp>
      <p:sp>
        <p:nvSpPr>
          <p:cNvPr id="43" name="icon-bg"/>
          <p:cNvSpPr/>
          <p:nvPr/>
        </p:nvSpPr>
        <p:spPr>
          <a:xfrm>
            <a:off x="548640" y="5760720"/>
            <a:ext cx="384048" cy="384048"/>
          </a:xfrm>
          <a:prstGeom prst="ellipse">
            <a:avLst/>
          </a:prstGeom>
          <a:solidFill>
            <a:srgbClr val="F4B942"/>
          </a:solidFill>
          <a:ln w="12700">
            <a:solidFill>
              <a:srgbClr val="F4B942"/>
            </a:solidFill>
            <a:prstDash val="solid"/>
          </a:ln>
        </p:spPr>
      </p:sp>
      <p:pic>
        <p:nvPicPr>
          <p:cNvPr id="44" name="icon" descr="preencoded.png">    </p:cNvPr>
          <p:cNvPicPr>
            <a:picLocks noChangeAspect="1"/>
          </p:cNvPicPr>
          <p:nvPr/>
        </p:nvPicPr>
        <p:blipFill>
          <a:blip r:embed="rId2"/>
          <a:stretch>
            <a:fillRect/>
          </a:stretch>
        </p:blipFill>
        <p:spPr>
          <a:xfrm>
            <a:off x="640812" y="5852892"/>
            <a:ext cx="199705" cy="199705"/>
          </a:xfrm>
          <a:prstGeom prst="rect">
            <a:avLst/>
          </a:prstGeom>
        </p:spPr>
      </p:pic>
      <p:sp>
        <p:nvSpPr>
          <p:cNvPr id="45" name="Text 41"/>
          <p:cNvSpPr txBox="1"/>
          <p:nvPr/>
        </p:nvSpPr>
        <p:spPr>
          <a:xfrm>
            <a:off x="1051560" y="5724144"/>
            <a:ext cx="4572000" cy="548640"/>
          </a:xfrm>
          <a:prstGeom prst="rect">
            <a:avLst/>
          </a:prstGeom>
          <a:noFill/>
          <a:ln/>
        </p:spPr>
        <p:txBody>
          <a:bodyPr wrap="square" lIns="0" tIns="0" rIns="0" bIns="0" rtlCol="0" anchor="ctr"/>
          <a:lstStyle/>
          <a:p>
            <a:pPr indent="0" marL="0">
              <a:buNone/>
            </a:pPr>
            <a:r>
              <a:rPr lang="en-US" sz="1150" dirty="0">
                <a:solidFill>
                  <a:srgbClr val="0B2135"/>
                </a:solidFill>
                <a:latin typeface="Calibri" pitchFamily="34" charset="0"/>
                <a:ea typeface="Calibri" pitchFamily="34" charset="-122"/>
                <a:cs typeface="Calibri" pitchFamily="34" charset="-120"/>
              </a:rPr>
              <a:t>On entry, the host gets a WhatsApp alert (simulated in the prototype — see the pop-up on the right).</a:t>
            </a:r>
            <a:endParaRPr lang="en-US" sz="1150" dirty="0"/>
          </a:p>
        </p:txBody>
      </p:sp>
      <p:pic>
        <p:nvPicPr>
          <p:cNvPr id="46" name="screenshot" descr="img/p_toast_visitor.png">    </p:cNvPr>
          <p:cNvPicPr>
            <a:picLocks noChangeAspect="1"/>
          </p:cNvPicPr>
          <p:nvPr/>
        </p:nvPicPr>
        <p:blipFill>
          <a:blip r:embed="rId3"/>
          <a:stretch>
            <a:fillRect/>
          </a:stretch>
        </p:blipFill>
        <p:spPr>
          <a:xfrm>
            <a:off x="6080145" y="1261872"/>
            <a:ext cx="5578455" cy="3566160"/>
          </a:xfrm>
          <a:prstGeom prst="rect">
            <a:avLst/>
          </a:prstGeom>
          <a:effectLst>
            <a:outerShdw sx="100000" sy="100000" kx="0" ky="0" algn="bl" rotWithShape="0" blurRad="228600" dist="50800" dir="5400000">
              <a:srgbClr val="0B2135">
                <a:alpha val="22000"/>
              </a:srgbClr>
            </a:outerShdw>
          </a:effectLst>
        </p:spPr>
      </p:pic>
      <p:pic>
        <p:nvPicPr>
          <p:cNvPr id="47" name="form-inset" descr="img/modal_visitor.png">    </p:cNvPr>
          <p:cNvPicPr>
            <a:picLocks noChangeAspect="1"/>
          </p:cNvPicPr>
          <p:nvPr/>
        </p:nvPicPr>
        <p:blipFill>
          <a:blip r:embed="rId4"/>
          <a:stretch>
            <a:fillRect/>
          </a:stretch>
        </p:blipFill>
        <p:spPr>
          <a:xfrm>
            <a:off x="9193719" y="3520440"/>
            <a:ext cx="2373441" cy="2651760"/>
          </a:xfrm>
          <a:prstGeom prst="rect">
            <a:avLst/>
          </a:prstGeom>
          <a:effectLst>
            <a:outerShdw sx="100000" sy="100000" kx="0" ky="0" algn="bl" rotWithShape="0" blurRad="279400" dist="63500" dir="5400000">
              <a:srgbClr val="0B2135">
                <a:alpha val="30000"/>
              </a:srgbClr>
            </a:outerShdw>
          </a:effectLst>
        </p:spPr>
      </p:pic>
      <p:sp>
        <p:nvSpPr>
          <p:cNvPr id="48" name="Text 42"/>
          <p:cNvSpPr txBox="1"/>
          <p:nvPr/>
        </p:nvSpPr>
        <p:spPr>
          <a:xfrm>
            <a:off x="5989320" y="5102352"/>
            <a:ext cx="310896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HOST ALERT ON ENTRY</a:t>
            </a:r>
            <a:endParaRPr lang="en-US" sz="1000" dirty="0"/>
          </a:p>
        </p:txBody>
      </p:sp>
      <p:pic>
        <p:nvPicPr>
          <p:cNvPr id="49" name="whatsapp-alert" descr="img/toast.png">    </p:cNvPr>
          <p:cNvPicPr>
            <a:picLocks noChangeAspect="1"/>
          </p:cNvPicPr>
          <p:nvPr/>
        </p:nvPicPr>
        <p:blipFill>
          <a:blip r:embed="rId5"/>
          <a:stretch>
            <a:fillRect/>
          </a:stretch>
        </p:blipFill>
        <p:spPr>
          <a:xfrm>
            <a:off x="5989320" y="5394960"/>
            <a:ext cx="3017520" cy="452628"/>
          </a:xfrm>
          <a:prstGeom prst="rect">
            <a:avLst/>
          </a:prstGeom>
          <a:effectLst>
            <a:outerShdw sx="100000" sy="100000" kx="0" ky="0" algn="bl" rotWithShape="0" blurRad="177800" dist="38100" dir="5400000">
              <a:srgbClr val="0B2135">
                <a:alpha val="25000"/>
              </a:srgbClr>
            </a:outerShdw>
          </a:effectLst>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t"/>
          <a:lstStyle/>
          <a:p>
            <a:pPr indent="0" marL="0">
              <a:buNone/>
            </a:pPr>
            <a:r>
              <a:rPr lang="en-US" sz="1100" b="1" spc="300" kern="0" dirty="0">
                <a:solidFill>
                  <a:srgbClr val="0E7C76"/>
                </a:solidFill>
                <a:latin typeface="Calibri" pitchFamily="34" charset="0"/>
                <a:ea typeface="Calibri" pitchFamily="34" charset="-122"/>
                <a:cs typeface="Calibri" pitchFamily="34" charset="-120"/>
              </a:rPr>
              <a:t>MODULE 06 · GATE  ·  VISITORS (PRE-APPROVED)</a:t>
            </a:r>
            <a:endParaRPr lang="en-US" sz="1100" dirty="0"/>
          </a:p>
        </p:txBody>
      </p:sp>
      <p:sp>
        <p:nvSpPr>
          <p:cNvPr id="3" name="Text 1"/>
          <p:cNvSpPr/>
          <p:nvPr>
            <p:ph idx="101" type="title" hasCustomPrompt="1"/>
          </p:nvPr>
        </p:nvSpPr>
        <p:spPr>
          <a:xfrm>
            <a:off x="548640" y="457200"/>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Pre-approval: expected guests walk straight in</a:t>
            </a:r>
            <a:endParaRPr lang="en-US" sz="3000" dirty="0"/>
          </a:p>
        </p:txBody>
      </p:sp>
      <p:sp>
        <p:nvSpPr>
          <p:cNvPr id="4" name="card"/>
          <p:cNvSpPr/>
          <p:nvPr/>
        </p:nvSpPr>
        <p:spPr>
          <a:xfrm>
            <a:off x="548640" y="1371600"/>
            <a:ext cx="2560320" cy="2011680"/>
          </a:xfrm>
          <a:prstGeom prst="roundRect">
            <a:avLst>
              <a:gd name="adj" fmla="val 5455"/>
            </a:avLst>
          </a:prstGeom>
          <a:solidFill>
            <a:srgbClr val="E6F4F2"/>
          </a:solidFill>
          <a:ln w="9525">
            <a:solidFill>
              <a:srgbClr val="E6F4F2"/>
            </a:solidFill>
            <a:prstDash val="solid"/>
          </a:ln>
        </p:spPr>
      </p:sp>
      <p:sp>
        <p:nvSpPr>
          <p:cNvPr id="5" name="icon-bg"/>
          <p:cNvSpPr/>
          <p:nvPr/>
        </p:nvSpPr>
        <p:spPr>
          <a:xfrm>
            <a:off x="777240" y="1600200"/>
            <a:ext cx="548640" cy="548640"/>
          </a:xfrm>
          <a:prstGeom prst="ellipse">
            <a:avLst/>
          </a:prstGeom>
          <a:solidFill>
            <a:srgbClr val="13A89E"/>
          </a:solidFill>
          <a:ln w="12700">
            <a:solidFill>
              <a:srgbClr val="13A89E"/>
            </a:solidFill>
            <a:prstDash val="solid"/>
          </a:ln>
        </p:spPr>
      </p:sp>
      <p:pic>
        <p:nvPicPr>
          <p:cNvPr id="6" name="icon" descr="preencoded.png">    </p:cNvPr>
          <p:cNvPicPr>
            <a:picLocks noChangeAspect="1"/>
          </p:cNvPicPr>
          <p:nvPr/>
        </p:nvPicPr>
        <p:blipFill>
          <a:blip r:embed="rId1"/>
          <a:stretch>
            <a:fillRect/>
          </a:stretch>
        </p:blipFill>
        <p:spPr>
          <a:xfrm>
            <a:off x="908914" y="1731874"/>
            <a:ext cx="285293" cy="285293"/>
          </a:xfrm>
          <a:prstGeom prst="rect">
            <a:avLst/>
          </a:prstGeom>
        </p:spPr>
      </p:pic>
      <p:sp>
        <p:nvSpPr>
          <p:cNvPr id="7" name="Text 4"/>
          <p:cNvSpPr txBox="1"/>
          <p:nvPr/>
        </p:nvSpPr>
        <p:spPr>
          <a:xfrm>
            <a:off x="1463040" y="1645920"/>
            <a:ext cx="1600200" cy="45720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1. Pre-approve</a:t>
            </a:r>
            <a:endParaRPr lang="en-US" sz="1500" dirty="0"/>
          </a:p>
        </p:txBody>
      </p:sp>
      <p:sp>
        <p:nvSpPr>
          <p:cNvPr id="8" name="Text 5"/>
          <p:cNvSpPr txBox="1"/>
          <p:nvPr/>
        </p:nvSpPr>
        <p:spPr>
          <a:xfrm>
            <a:off x="777240" y="2286000"/>
            <a:ext cx="2148840" cy="1005840"/>
          </a:xfrm>
          <a:prstGeom prst="rect">
            <a:avLst/>
          </a:prstGeom>
          <a:noFill/>
          <a:ln/>
        </p:spPr>
        <p:txBody>
          <a:bodyPr wrap="square" lIns="0" tIns="0" rIns="0" bIns="0" rtlCol="0" anchor="t"/>
          <a:lstStyle/>
          <a:p>
            <a:pPr indent="0" marL="0">
              <a:buNone/>
            </a:pPr>
            <a:r>
              <a:rPr lang="en-US" sz="1200" dirty="0">
                <a:solidFill>
                  <a:srgbClr val="5B6B78"/>
                </a:solidFill>
                <a:latin typeface="Calibri" pitchFamily="34" charset="0"/>
                <a:ea typeface="Calibri" pitchFamily="34" charset="-122"/>
                <a:cs typeface="Calibri" pitchFamily="34" charset="-120"/>
              </a:rPr>
              <a:t>Host or admin enters the visitor's name, mobile, host house and expected date and time.</a:t>
            </a:r>
            <a:endParaRPr lang="en-US" sz="1200" dirty="0"/>
          </a:p>
        </p:txBody>
      </p:sp>
      <p:pic>
        <p:nvPicPr>
          <p:cNvPr id="9" name="arrow" descr="preencoded.png">    </p:cNvPr>
          <p:cNvPicPr>
            <a:picLocks noChangeAspect="1"/>
          </p:cNvPicPr>
          <p:nvPr/>
        </p:nvPicPr>
        <p:blipFill>
          <a:blip r:embed="rId2"/>
          <a:stretch>
            <a:fillRect/>
          </a:stretch>
        </p:blipFill>
        <p:spPr>
          <a:xfrm>
            <a:off x="3136392" y="2240280"/>
            <a:ext cx="228600" cy="228600"/>
          </a:xfrm>
          <a:prstGeom prst="rect">
            <a:avLst/>
          </a:prstGeom>
        </p:spPr>
      </p:pic>
      <p:sp>
        <p:nvSpPr>
          <p:cNvPr id="10" name="card"/>
          <p:cNvSpPr/>
          <p:nvPr/>
        </p:nvSpPr>
        <p:spPr>
          <a:xfrm>
            <a:off x="3383280" y="1371600"/>
            <a:ext cx="2560320" cy="2011680"/>
          </a:xfrm>
          <a:prstGeom prst="roundRect">
            <a:avLst>
              <a:gd name="adj" fmla="val 5455"/>
            </a:avLst>
          </a:prstGeom>
          <a:solidFill>
            <a:srgbClr val="FFFFFF"/>
          </a:solidFill>
          <a:ln w="9525">
            <a:solidFill>
              <a:srgbClr val="D5E3E3"/>
            </a:solidFill>
            <a:prstDash val="solid"/>
          </a:ln>
          <a:effectLst>
            <a:outerShdw sx="100000" sy="100000" kx="0" ky="0" algn="bl" rotWithShape="0" blurRad="152400" dist="38100" dir="5400000">
              <a:srgbClr val="0B2135">
                <a:alpha val="16000"/>
              </a:srgbClr>
            </a:outerShdw>
          </a:effectLst>
        </p:spPr>
      </p:sp>
      <p:sp>
        <p:nvSpPr>
          <p:cNvPr id="11" name="icon-bg"/>
          <p:cNvSpPr/>
          <p:nvPr/>
        </p:nvSpPr>
        <p:spPr>
          <a:xfrm>
            <a:off x="3611880" y="1600200"/>
            <a:ext cx="548640" cy="548640"/>
          </a:xfrm>
          <a:prstGeom prst="ellipse">
            <a:avLst/>
          </a:prstGeom>
          <a:solidFill>
            <a:srgbClr val="13A89E"/>
          </a:solidFill>
          <a:ln w="12700">
            <a:solidFill>
              <a:srgbClr val="13A89E"/>
            </a:solidFill>
            <a:prstDash val="solid"/>
          </a:ln>
        </p:spPr>
      </p:sp>
      <p:pic>
        <p:nvPicPr>
          <p:cNvPr id="12" name="icon" descr="preencoded.png">    </p:cNvPr>
          <p:cNvPicPr>
            <a:picLocks noChangeAspect="1"/>
          </p:cNvPicPr>
          <p:nvPr/>
        </p:nvPicPr>
        <p:blipFill>
          <a:blip r:embed="rId3"/>
          <a:stretch>
            <a:fillRect/>
          </a:stretch>
        </p:blipFill>
        <p:spPr>
          <a:xfrm>
            <a:off x="3743554" y="1731874"/>
            <a:ext cx="285293" cy="285293"/>
          </a:xfrm>
          <a:prstGeom prst="rect">
            <a:avLst/>
          </a:prstGeom>
        </p:spPr>
      </p:pic>
      <p:sp>
        <p:nvSpPr>
          <p:cNvPr id="13" name="Text 8"/>
          <p:cNvSpPr txBox="1"/>
          <p:nvPr/>
        </p:nvSpPr>
        <p:spPr>
          <a:xfrm>
            <a:off x="4297680" y="1645920"/>
            <a:ext cx="1600200" cy="45720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2. Pass sent</a:t>
            </a:r>
            <a:endParaRPr lang="en-US" sz="1500" dirty="0"/>
          </a:p>
        </p:txBody>
      </p:sp>
      <p:sp>
        <p:nvSpPr>
          <p:cNvPr id="14" name="Text 9"/>
          <p:cNvSpPr txBox="1"/>
          <p:nvPr/>
        </p:nvSpPr>
        <p:spPr>
          <a:xfrm>
            <a:off x="3611880" y="2286000"/>
            <a:ext cx="2148840" cy="1005840"/>
          </a:xfrm>
          <a:prstGeom prst="rect">
            <a:avLst/>
          </a:prstGeom>
          <a:noFill/>
          <a:ln/>
        </p:spPr>
        <p:txBody>
          <a:bodyPr wrap="square" lIns="0" tIns="0" rIns="0" bIns="0" rtlCol="0" anchor="t"/>
          <a:lstStyle/>
          <a:p>
            <a:pPr indent="0" marL="0">
              <a:buNone/>
            </a:pPr>
            <a:r>
              <a:rPr lang="en-US" sz="1200" dirty="0">
                <a:solidFill>
                  <a:srgbClr val="5B6B78"/>
                </a:solidFill>
                <a:latin typeface="Calibri" pitchFamily="34" charset="0"/>
                <a:ea typeface="Calibri" pitchFamily="34" charset="-122"/>
                <a:cs typeface="Calibri" pitchFamily="34" charset="-120"/>
              </a:rPr>
              <a:t>A pass is generated and sent to the visitor's mobile. Status: Pre-approved, gate: Pending.</a:t>
            </a:r>
            <a:endParaRPr lang="en-US" sz="1200" dirty="0"/>
          </a:p>
        </p:txBody>
      </p:sp>
      <p:pic>
        <p:nvPicPr>
          <p:cNvPr id="15" name="arrow" descr="preencoded.png">    </p:cNvPr>
          <p:cNvPicPr>
            <a:picLocks noChangeAspect="1"/>
          </p:cNvPicPr>
          <p:nvPr/>
        </p:nvPicPr>
        <p:blipFill>
          <a:blip r:embed="rId4"/>
          <a:stretch>
            <a:fillRect/>
          </a:stretch>
        </p:blipFill>
        <p:spPr>
          <a:xfrm>
            <a:off x="5971032" y="2240280"/>
            <a:ext cx="228600" cy="228600"/>
          </a:xfrm>
          <a:prstGeom prst="rect">
            <a:avLst/>
          </a:prstGeom>
        </p:spPr>
      </p:pic>
      <p:sp>
        <p:nvSpPr>
          <p:cNvPr id="16" name="card"/>
          <p:cNvSpPr/>
          <p:nvPr/>
        </p:nvSpPr>
        <p:spPr>
          <a:xfrm>
            <a:off x="6217920" y="1371600"/>
            <a:ext cx="2560320" cy="2011680"/>
          </a:xfrm>
          <a:prstGeom prst="roundRect">
            <a:avLst>
              <a:gd name="adj" fmla="val 5455"/>
            </a:avLst>
          </a:prstGeom>
          <a:solidFill>
            <a:srgbClr val="FFFFFF"/>
          </a:solidFill>
          <a:ln w="9525">
            <a:solidFill>
              <a:srgbClr val="D5E3E3"/>
            </a:solidFill>
            <a:prstDash val="solid"/>
          </a:ln>
          <a:effectLst>
            <a:outerShdw sx="100000" sy="100000" kx="0" ky="0" algn="bl" rotWithShape="0" blurRad="152400" dist="38100" dir="5400000">
              <a:srgbClr val="0B2135">
                <a:alpha val="16000"/>
              </a:srgbClr>
            </a:outerShdw>
          </a:effectLst>
        </p:spPr>
      </p:sp>
      <p:sp>
        <p:nvSpPr>
          <p:cNvPr id="17" name="icon-bg"/>
          <p:cNvSpPr/>
          <p:nvPr/>
        </p:nvSpPr>
        <p:spPr>
          <a:xfrm>
            <a:off x="6446520" y="1600200"/>
            <a:ext cx="548640" cy="548640"/>
          </a:xfrm>
          <a:prstGeom prst="ellipse">
            <a:avLst/>
          </a:prstGeom>
          <a:solidFill>
            <a:srgbClr val="13A89E"/>
          </a:solidFill>
          <a:ln w="12700">
            <a:solidFill>
              <a:srgbClr val="13A89E"/>
            </a:solidFill>
            <a:prstDash val="solid"/>
          </a:ln>
        </p:spPr>
      </p:sp>
      <p:pic>
        <p:nvPicPr>
          <p:cNvPr id="18" name="icon" descr="preencoded.png">    </p:cNvPr>
          <p:cNvPicPr>
            <a:picLocks noChangeAspect="1"/>
          </p:cNvPicPr>
          <p:nvPr/>
        </p:nvPicPr>
        <p:blipFill>
          <a:blip r:embed="rId5"/>
          <a:stretch>
            <a:fillRect/>
          </a:stretch>
        </p:blipFill>
        <p:spPr>
          <a:xfrm>
            <a:off x="6578194" y="1731874"/>
            <a:ext cx="285293" cy="285293"/>
          </a:xfrm>
          <a:prstGeom prst="rect">
            <a:avLst/>
          </a:prstGeom>
        </p:spPr>
      </p:pic>
      <p:sp>
        <p:nvSpPr>
          <p:cNvPr id="19" name="Text 12"/>
          <p:cNvSpPr txBox="1"/>
          <p:nvPr/>
        </p:nvSpPr>
        <p:spPr>
          <a:xfrm>
            <a:off x="7132320" y="1645920"/>
            <a:ext cx="1600200" cy="45720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3. Mark Entered</a:t>
            </a:r>
            <a:endParaRPr lang="en-US" sz="1500" dirty="0"/>
          </a:p>
        </p:txBody>
      </p:sp>
      <p:sp>
        <p:nvSpPr>
          <p:cNvPr id="20" name="Text 13"/>
          <p:cNvSpPr txBox="1"/>
          <p:nvPr/>
        </p:nvSpPr>
        <p:spPr>
          <a:xfrm>
            <a:off x="6446520" y="2286000"/>
            <a:ext cx="2148840" cy="1005840"/>
          </a:xfrm>
          <a:prstGeom prst="rect">
            <a:avLst/>
          </a:prstGeom>
          <a:noFill/>
          <a:ln/>
        </p:spPr>
        <p:txBody>
          <a:bodyPr wrap="square" lIns="0" tIns="0" rIns="0" bIns="0" rtlCol="0" anchor="t"/>
          <a:lstStyle/>
          <a:p>
            <a:pPr indent="0" marL="0">
              <a:buNone/>
            </a:pPr>
            <a:r>
              <a:rPr lang="en-US" sz="1200" dirty="0">
                <a:solidFill>
                  <a:srgbClr val="5B6B78"/>
                </a:solidFill>
                <a:latin typeface="Calibri" pitchFamily="34" charset="0"/>
                <a:ea typeface="Calibri" pitchFamily="34" charset="-122"/>
                <a:cs typeface="Calibri" pitchFamily="34" charset="-120"/>
              </a:rPr>
              <a:t>At the gate the guard finds the name and taps Mark Entered. Status becomes Inside.</a:t>
            </a:r>
            <a:endParaRPr lang="en-US" sz="1200" dirty="0"/>
          </a:p>
        </p:txBody>
      </p:sp>
      <p:pic>
        <p:nvPicPr>
          <p:cNvPr id="21" name="arrow" descr="preencoded.png">    </p:cNvPr>
          <p:cNvPicPr>
            <a:picLocks noChangeAspect="1"/>
          </p:cNvPicPr>
          <p:nvPr/>
        </p:nvPicPr>
        <p:blipFill>
          <a:blip r:embed="rId6"/>
          <a:stretch>
            <a:fillRect/>
          </a:stretch>
        </p:blipFill>
        <p:spPr>
          <a:xfrm>
            <a:off x="8805672" y="2240280"/>
            <a:ext cx="228600" cy="228600"/>
          </a:xfrm>
          <a:prstGeom prst="rect">
            <a:avLst/>
          </a:prstGeom>
        </p:spPr>
      </p:pic>
      <p:sp>
        <p:nvSpPr>
          <p:cNvPr id="22" name="card"/>
          <p:cNvSpPr/>
          <p:nvPr/>
        </p:nvSpPr>
        <p:spPr>
          <a:xfrm>
            <a:off x="9052560" y="1371600"/>
            <a:ext cx="2560320" cy="2011680"/>
          </a:xfrm>
          <a:prstGeom prst="roundRect">
            <a:avLst>
              <a:gd name="adj" fmla="val 5455"/>
            </a:avLst>
          </a:prstGeom>
          <a:solidFill>
            <a:srgbClr val="FFFFFF"/>
          </a:solidFill>
          <a:ln w="9525">
            <a:solidFill>
              <a:srgbClr val="D5E3E3"/>
            </a:solidFill>
            <a:prstDash val="solid"/>
          </a:ln>
          <a:effectLst>
            <a:outerShdw sx="100000" sy="100000" kx="0" ky="0" algn="bl" rotWithShape="0" blurRad="152400" dist="38100" dir="5400000">
              <a:srgbClr val="0B2135">
                <a:alpha val="16000"/>
              </a:srgbClr>
            </a:outerShdw>
          </a:effectLst>
        </p:spPr>
      </p:sp>
      <p:sp>
        <p:nvSpPr>
          <p:cNvPr id="23" name="icon-bg"/>
          <p:cNvSpPr/>
          <p:nvPr/>
        </p:nvSpPr>
        <p:spPr>
          <a:xfrm>
            <a:off x="9281160" y="1600200"/>
            <a:ext cx="548640" cy="548640"/>
          </a:xfrm>
          <a:prstGeom prst="ellipse">
            <a:avLst/>
          </a:prstGeom>
          <a:solidFill>
            <a:srgbClr val="13A89E"/>
          </a:solidFill>
          <a:ln w="12700">
            <a:solidFill>
              <a:srgbClr val="13A89E"/>
            </a:solidFill>
            <a:prstDash val="solid"/>
          </a:ln>
        </p:spPr>
      </p:sp>
      <p:pic>
        <p:nvPicPr>
          <p:cNvPr id="24" name="icon" descr="preencoded.png">    </p:cNvPr>
          <p:cNvPicPr>
            <a:picLocks noChangeAspect="1"/>
          </p:cNvPicPr>
          <p:nvPr/>
        </p:nvPicPr>
        <p:blipFill>
          <a:blip r:embed="rId7"/>
          <a:stretch>
            <a:fillRect/>
          </a:stretch>
        </p:blipFill>
        <p:spPr>
          <a:xfrm>
            <a:off x="9412834" y="1731874"/>
            <a:ext cx="285293" cy="285293"/>
          </a:xfrm>
          <a:prstGeom prst="rect">
            <a:avLst/>
          </a:prstGeom>
        </p:spPr>
      </p:pic>
      <p:sp>
        <p:nvSpPr>
          <p:cNvPr id="25" name="Text 16"/>
          <p:cNvSpPr txBox="1"/>
          <p:nvPr/>
        </p:nvSpPr>
        <p:spPr>
          <a:xfrm>
            <a:off x="9966960" y="1645920"/>
            <a:ext cx="1600200" cy="45720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4. Mark Exit</a:t>
            </a:r>
            <a:endParaRPr lang="en-US" sz="1500" dirty="0"/>
          </a:p>
        </p:txBody>
      </p:sp>
      <p:sp>
        <p:nvSpPr>
          <p:cNvPr id="26" name="Text 17"/>
          <p:cNvSpPr txBox="1"/>
          <p:nvPr/>
        </p:nvSpPr>
        <p:spPr>
          <a:xfrm>
            <a:off x="9281160" y="2286000"/>
            <a:ext cx="2148840" cy="1005840"/>
          </a:xfrm>
          <a:prstGeom prst="rect">
            <a:avLst/>
          </a:prstGeom>
          <a:noFill/>
          <a:ln/>
        </p:spPr>
        <p:txBody>
          <a:bodyPr wrap="square" lIns="0" tIns="0" rIns="0" bIns="0" rtlCol="0" anchor="t"/>
          <a:lstStyle/>
          <a:p>
            <a:pPr indent="0" marL="0">
              <a:buNone/>
            </a:pPr>
            <a:r>
              <a:rPr lang="en-US" sz="1200" dirty="0">
                <a:solidFill>
                  <a:srgbClr val="5B6B78"/>
                </a:solidFill>
                <a:latin typeface="Calibri" pitchFamily="34" charset="0"/>
                <a:ea typeface="Calibri" pitchFamily="34" charset="-122"/>
                <a:cs typeface="Calibri" pitchFamily="34" charset="-120"/>
              </a:rPr>
              <a:t>When the visitor leaves, the exit time is stamped. Status becomes Exited.</a:t>
            </a:r>
            <a:endParaRPr lang="en-US" sz="1200" dirty="0"/>
          </a:p>
        </p:txBody>
      </p:sp>
      <p:pic>
        <p:nvPicPr>
          <p:cNvPr id="27" name="screenshot" descr="img/p_visitors.png">    </p:cNvPr>
          <p:cNvPicPr>
            <a:picLocks noChangeAspect="1"/>
          </p:cNvPicPr>
          <p:nvPr/>
        </p:nvPicPr>
        <p:blipFill>
          <a:blip r:embed="rId8"/>
          <a:stretch>
            <a:fillRect/>
          </a:stretch>
        </p:blipFill>
        <p:spPr>
          <a:xfrm>
            <a:off x="548640" y="3657600"/>
            <a:ext cx="6034628" cy="2560320"/>
          </a:xfrm>
          <a:prstGeom prst="rect">
            <a:avLst/>
          </a:prstGeom>
          <a:effectLst>
            <a:outerShdw sx="100000" sy="100000" kx="0" ky="0" algn="bl" rotWithShape="0" blurRad="228600" dist="50800" dir="5400000">
              <a:srgbClr val="0B2135">
                <a:alpha val="22000"/>
              </a:srgbClr>
            </a:outerShdw>
          </a:effectLst>
        </p:spPr>
      </p:pic>
      <p:pic>
        <p:nvPicPr>
          <p:cNvPr id="28" name="form-inset" descr="img/modal_preapprove.png">    </p:cNvPr>
          <p:cNvPicPr>
            <a:picLocks noChangeAspect="1"/>
          </p:cNvPicPr>
          <p:nvPr/>
        </p:nvPicPr>
        <p:blipFill>
          <a:blip r:embed="rId9"/>
          <a:stretch>
            <a:fillRect/>
          </a:stretch>
        </p:blipFill>
        <p:spPr>
          <a:xfrm>
            <a:off x="7178040" y="3611880"/>
            <a:ext cx="2339340" cy="2560320"/>
          </a:xfrm>
          <a:prstGeom prst="rect">
            <a:avLst/>
          </a:prstGeom>
          <a:effectLst>
            <a:outerShdw sx="100000" sy="100000" kx="0" ky="0" algn="bl" rotWithShape="0" blurRad="228600" dist="50800" dir="5400000">
              <a:srgbClr val="0B2135">
                <a:alpha val="25000"/>
              </a:srgbClr>
            </a:outerShdw>
          </a:effectLst>
        </p:spPr>
      </p:pic>
      <p:sp>
        <p:nvSpPr>
          <p:cNvPr id="29" name="Text 18"/>
          <p:cNvSpPr txBox="1"/>
          <p:nvPr/>
        </p:nvSpPr>
        <p:spPr>
          <a:xfrm>
            <a:off x="9692640" y="3657600"/>
            <a:ext cx="201168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ALL VISITOR STATUSES</a:t>
            </a:r>
            <a:endParaRPr lang="en-US" sz="1000" dirty="0"/>
          </a:p>
        </p:txBody>
      </p:sp>
      <p:sp>
        <p:nvSpPr>
          <p:cNvPr id="30" name="status-pill"/>
          <p:cNvSpPr/>
          <p:nvPr/>
        </p:nvSpPr>
        <p:spPr>
          <a:xfrm>
            <a:off x="9692640" y="3977640"/>
            <a:ext cx="1920240" cy="365760"/>
          </a:xfrm>
          <a:prstGeom prst="roundRect">
            <a:avLst>
              <a:gd name="adj" fmla="val 50000"/>
            </a:avLst>
          </a:prstGeom>
          <a:solidFill>
            <a:srgbClr val="F1F7F7"/>
          </a:solidFill>
          <a:ln w="12700">
            <a:solidFill>
              <a:srgbClr val="0891B2"/>
            </a:solidFill>
            <a:prstDash val="solid"/>
          </a:ln>
        </p:spPr>
      </p:sp>
      <p:sp>
        <p:nvSpPr>
          <p:cNvPr id="31" name="Text 20"/>
          <p:cNvSpPr txBox="1"/>
          <p:nvPr/>
        </p:nvSpPr>
        <p:spPr>
          <a:xfrm>
            <a:off x="9692640" y="3977640"/>
            <a:ext cx="1920240" cy="365760"/>
          </a:xfrm>
          <a:prstGeom prst="rect">
            <a:avLst/>
          </a:prstGeom>
          <a:noFill/>
          <a:ln/>
        </p:spPr>
        <p:txBody>
          <a:bodyPr wrap="square" lIns="0" tIns="0" rIns="0" bIns="0" rtlCol="0" anchor="ctr"/>
          <a:lstStyle/>
          <a:p>
            <a:pPr algn="ctr" indent="0" marL="0">
              <a:buNone/>
            </a:pPr>
            <a:r>
              <a:rPr lang="en-US" sz="1200" b="1" dirty="0">
                <a:solidFill>
                  <a:srgbClr val="0891B2"/>
                </a:solidFill>
                <a:latin typeface="Calibri" pitchFamily="34" charset="0"/>
                <a:ea typeface="Calibri" pitchFamily="34" charset="-122"/>
                <a:cs typeface="Calibri" pitchFamily="34" charset="-120"/>
              </a:rPr>
              <a:t>Pre-approved</a:t>
            </a:r>
            <a:endParaRPr lang="en-US" sz="1200" dirty="0"/>
          </a:p>
        </p:txBody>
      </p:sp>
      <p:sp>
        <p:nvSpPr>
          <p:cNvPr id="32" name="status-pill"/>
          <p:cNvSpPr/>
          <p:nvPr/>
        </p:nvSpPr>
        <p:spPr>
          <a:xfrm>
            <a:off x="9692640" y="4453128"/>
            <a:ext cx="1920240" cy="365760"/>
          </a:xfrm>
          <a:prstGeom prst="roundRect">
            <a:avLst>
              <a:gd name="adj" fmla="val 50000"/>
            </a:avLst>
          </a:prstGeom>
          <a:solidFill>
            <a:srgbClr val="F1F7F7"/>
          </a:solidFill>
          <a:ln w="12700">
            <a:solidFill>
              <a:srgbClr val="B57A0C"/>
            </a:solidFill>
            <a:prstDash val="solid"/>
          </a:ln>
        </p:spPr>
      </p:sp>
      <p:sp>
        <p:nvSpPr>
          <p:cNvPr id="33" name="Text 22"/>
          <p:cNvSpPr txBox="1"/>
          <p:nvPr/>
        </p:nvSpPr>
        <p:spPr>
          <a:xfrm>
            <a:off x="9692640" y="4453128"/>
            <a:ext cx="1920240" cy="365760"/>
          </a:xfrm>
          <a:prstGeom prst="rect">
            <a:avLst/>
          </a:prstGeom>
          <a:noFill/>
          <a:ln/>
        </p:spPr>
        <p:txBody>
          <a:bodyPr wrap="square" lIns="0" tIns="0" rIns="0" bIns="0" rtlCol="0" anchor="ctr"/>
          <a:lstStyle/>
          <a:p>
            <a:pPr algn="ctr" indent="0" marL="0">
              <a:buNone/>
            </a:pPr>
            <a:r>
              <a:rPr lang="en-US" sz="1200" b="1" dirty="0">
                <a:solidFill>
                  <a:srgbClr val="B57A0C"/>
                </a:solidFill>
                <a:latin typeface="Calibri" pitchFamily="34" charset="0"/>
                <a:ea typeface="Calibri" pitchFamily="34" charset="-122"/>
                <a:cs typeface="Calibri" pitchFamily="34" charset="-120"/>
              </a:rPr>
              <a:t>Inside</a:t>
            </a:r>
            <a:endParaRPr lang="en-US" sz="1200" dirty="0"/>
          </a:p>
        </p:txBody>
      </p:sp>
      <p:sp>
        <p:nvSpPr>
          <p:cNvPr id="34" name="status-pill"/>
          <p:cNvSpPr/>
          <p:nvPr/>
        </p:nvSpPr>
        <p:spPr>
          <a:xfrm>
            <a:off x="9692640" y="4928616"/>
            <a:ext cx="1920240" cy="365760"/>
          </a:xfrm>
          <a:prstGeom prst="roundRect">
            <a:avLst>
              <a:gd name="adj" fmla="val 50000"/>
            </a:avLst>
          </a:prstGeom>
          <a:solidFill>
            <a:srgbClr val="F1F7F7"/>
          </a:solidFill>
          <a:ln w="12700">
            <a:solidFill>
              <a:srgbClr val="0E7C76"/>
            </a:solidFill>
            <a:prstDash val="solid"/>
          </a:ln>
        </p:spPr>
      </p:sp>
      <p:sp>
        <p:nvSpPr>
          <p:cNvPr id="35" name="Text 24"/>
          <p:cNvSpPr txBox="1"/>
          <p:nvPr/>
        </p:nvSpPr>
        <p:spPr>
          <a:xfrm>
            <a:off x="9692640" y="4928616"/>
            <a:ext cx="1920240" cy="365760"/>
          </a:xfrm>
          <a:prstGeom prst="rect">
            <a:avLst/>
          </a:prstGeom>
          <a:noFill/>
          <a:ln/>
        </p:spPr>
        <p:txBody>
          <a:bodyPr wrap="square" lIns="0" tIns="0" rIns="0" bIns="0" rtlCol="0" anchor="ctr"/>
          <a:lstStyle/>
          <a:p>
            <a:pPr algn="ctr" indent="0" marL="0">
              <a:buNone/>
            </a:pPr>
            <a:r>
              <a:rPr lang="en-US" sz="1200" b="1" dirty="0">
                <a:solidFill>
                  <a:srgbClr val="0E7C76"/>
                </a:solidFill>
                <a:latin typeface="Calibri" pitchFamily="34" charset="0"/>
                <a:ea typeface="Calibri" pitchFamily="34" charset="-122"/>
                <a:cs typeface="Calibri" pitchFamily="34" charset="-120"/>
              </a:rPr>
              <a:t>Exited</a:t>
            </a:r>
            <a:endParaRPr lang="en-US" sz="1200" dirty="0"/>
          </a:p>
        </p:txBody>
      </p:sp>
      <p:sp>
        <p:nvSpPr>
          <p:cNvPr id="36" name="status-pill"/>
          <p:cNvSpPr/>
          <p:nvPr/>
        </p:nvSpPr>
        <p:spPr>
          <a:xfrm>
            <a:off x="9692640" y="5404104"/>
            <a:ext cx="1920240" cy="365760"/>
          </a:xfrm>
          <a:prstGeom prst="roundRect">
            <a:avLst>
              <a:gd name="adj" fmla="val 50000"/>
            </a:avLst>
          </a:prstGeom>
          <a:solidFill>
            <a:srgbClr val="F1F7F7"/>
          </a:solidFill>
          <a:ln w="12700">
            <a:solidFill>
              <a:srgbClr val="F0605D"/>
            </a:solidFill>
            <a:prstDash val="solid"/>
          </a:ln>
        </p:spPr>
      </p:sp>
      <p:sp>
        <p:nvSpPr>
          <p:cNvPr id="37" name="Text 26"/>
          <p:cNvSpPr txBox="1"/>
          <p:nvPr/>
        </p:nvSpPr>
        <p:spPr>
          <a:xfrm>
            <a:off x="9692640" y="5404104"/>
            <a:ext cx="1920240" cy="365760"/>
          </a:xfrm>
          <a:prstGeom prst="rect">
            <a:avLst/>
          </a:prstGeom>
          <a:noFill/>
          <a:ln/>
        </p:spPr>
        <p:txBody>
          <a:bodyPr wrap="square" lIns="0" tIns="0" rIns="0" bIns="0" rtlCol="0" anchor="ctr"/>
          <a:lstStyle/>
          <a:p>
            <a:pPr algn="ctr" indent="0" marL="0">
              <a:buNone/>
            </a:pPr>
            <a:r>
              <a:rPr lang="en-US" sz="1200" b="1" dirty="0">
                <a:solidFill>
                  <a:srgbClr val="F0605D"/>
                </a:solidFill>
                <a:latin typeface="Calibri" pitchFamily="34" charset="0"/>
                <a:ea typeface="Calibri" pitchFamily="34" charset="-122"/>
                <a:cs typeface="Calibri" pitchFamily="34" charset="-120"/>
              </a:rPr>
              <a:t>Denied</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t"/>
          <a:lstStyle/>
          <a:p>
            <a:pPr indent="0" marL="0">
              <a:buNone/>
            </a:pPr>
            <a:r>
              <a:rPr lang="en-US" sz="1100" b="1" spc="300" kern="0" dirty="0">
                <a:solidFill>
                  <a:srgbClr val="0E7C76"/>
                </a:solidFill>
                <a:latin typeface="Calibri" pitchFamily="34" charset="0"/>
                <a:ea typeface="Calibri" pitchFamily="34" charset="-122"/>
                <a:cs typeface="Calibri" pitchFamily="34" charset="-120"/>
              </a:rPr>
              <a:t>MODULE 07 · GATE  ·  VEHICLES</a:t>
            </a:r>
            <a:endParaRPr lang="en-US" sz="1100" dirty="0"/>
          </a:p>
        </p:txBody>
      </p:sp>
      <p:sp>
        <p:nvSpPr>
          <p:cNvPr id="3" name="Text 1"/>
          <p:cNvSpPr/>
          <p:nvPr>
            <p:ph idx="101" type="title" hasCustomPrompt="1"/>
          </p:nvPr>
        </p:nvSpPr>
        <p:spPr>
          <a:xfrm>
            <a:off x="548640" y="457200"/>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Vehicles: know a resident's car from a stranger's</a:t>
            </a:r>
            <a:endParaRPr lang="en-US" sz="3000" dirty="0"/>
          </a:p>
        </p:txBody>
      </p:sp>
      <p:sp>
        <p:nvSpPr>
          <p:cNvPr id="4" name="Text 2"/>
          <p:cNvSpPr txBox="1"/>
          <p:nvPr/>
        </p:nvSpPr>
        <p:spPr>
          <a:xfrm>
            <a:off x="548640" y="1261872"/>
            <a:ext cx="5074920" cy="822960"/>
          </a:xfrm>
          <a:prstGeom prst="rect">
            <a:avLst/>
          </a:prstGeom>
          <a:noFill/>
          <a:ln/>
        </p:spPr>
        <p:txBody>
          <a:bodyPr wrap="square" lIns="0" tIns="0" rIns="0" bIns="0" rtlCol="0" anchor="t"/>
          <a:lstStyle/>
          <a:p>
            <a:pPr indent="0" marL="0">
              <a:buNone/>
            </a:pPr>
            <a:r>
              <a:rPr lang="en-US" sz="1400" dirty="0">
                <a:solidFill>
                  <a:srgbClr val="16384F"/>
                </a:solidFill>
                <a:latin typeface="Calibri" pitchFamily="34" charset="0"/>
                <a:ea typeface="Calibri" pitchFamily="34" charset="-122"/>
                <a:cs typeface="Calibri" pitchFamily="34" charset="-120"/>
              </a:rPr>
              <a:t>A register of resident and authorised vehicles, linked to houses, so guards can check a number plate at the gate in seconds.</a:t>
            </a:r>
            <a:endParaRPr lang="en-US" sz="1400" dirty="0"/>
          </a:p>
        </p:txBody>
      </p:sp>
      <p:sp>
        <p:nvSpPr>
          <p:cNvPr id="5" name="Text 3"/>
          <p:cNvSpPr txBox="1"/>
          <p:nvPr/>
        </p:nvSpPr>
        <p:spPr>
          <a:xfrm>
            <a:off x="548640" y="2176272"/>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WHO USES IT</a:t>
            </a:r>
            <a:endParaRPr lang="en-US" sz="1000" dirty="0"/>
          </a:p>
        </p:txBody>
      </p:sp>
      <p:sp>
        <p:nvSpPr>
          <p:cNvPr id="6" name="role-chip"/>
          <p:cNvSpPr/>
          <p:nvPr/>
        </p:nvSpPr>
        <p:spPr>
          <a:xfrm>
            <a:off x="548640" y="2450592"/>
            <a:ext cx="1115751" cy="329184"/>
          </a:xfrm>
          <a:prstGeom prst="roundRect">
            <a:avLst>
              <a:gd name="adj" fmla="val 50000"/>
            </a:avLst>
          </a:prstGeom>
          <a:solidFill>
            <a:srgbClr val="0B2135"/>
          </a:solidFill>
          <a:ln w="12700">
            <a:solidFill>
              <a:srgbClr val="0B2135"/>
            </a:solidFill>
            <a:prstDash val="solid"/>
          </a:ln>
        </p:spPr>
      </p:sp>
      <p:sp>
        <p:nvSpPr>
          <p:cNvPr id="7" name="Text 5"/>
          <p:cNvSpPr txBox="1"/>
          <p:nvPr/>
        </p:nvSpPr>
        <p:spPr>
          <a:xfrm>
            <a:off x="548640" y="2450592"/>
            <a:ext cx="1115751"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Super Admin</a:t>
            </a:r>
            <a:endParaRPr lang="en-US" sz="1150" dirty="0"/>
          </a:p>
        </p:txBody>
      </p:sp>
      <p:sp>
        <p:nvSpPr>
          <p:cNvPr id="8" name="role-chip"/>
          <p:cNvSpPr/>
          <p:nvPr/>
        </p:nvSpPr>
        <p:spPr>
          <a:xfrm>
            <a:off x="1774119" y="2450592"/>
            <a:ext cx="972739" cy="329184"/>
          </a:xfrm>
          <a:prstGeom prst="roundRect">
            <a:avLst>
              <a:gd name="adj" fmla="val 50000"/>
            </a:avLst>
          </a:prstGeom>
          <a:solidFill>
            <a:srgbClr val="0E7C76"/>
          </a:solidFill>
          <a:ln w="12700">
            <a:solidFill>
              <a:srgbClr val="0E7C76"/>
            </a:solidFill>
            <a:prstDash val="solid"/>
          </a:ln>
        </p:spPr>
      </p:sp>
      <p:sp>
        <p:nvSpPr>
          <p:cNvPr id="9" name="Text 7"/>
          <p:cNvSpPr txBox="1"/>
          <p:nvPr/>
        </p:nvSpPr>
        <p:spPr>
          <a:xfrm>
            <a:off x="1774119" y="2450592"/>
            <a:ext cx="972739"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Volunteer</a:t>
            </a:r>
            <a:endParaRPr lang="en-US" sz="1150" dirty="0"/>
          </a:p>
        </p:txBody>
      </p:sp>
      <p:sp>
        <p:nvSpPr>
          <p:cNvPr id="10" name="role-chip"/>
          <p:cNvSpPr/>
          <p:nvPr/>
        </p:nvSpPr>
        <p:spPr>
          <a:xfrm>
            <a:off x="2856586" y="2450592"/>
            <a:ext cx="686714" cy="329184"/>
          </a:xfrm>
          <a:prstGeom prst="roundRect">
            <a:avLst>
              <a:gd name="adj" fmla="val 50000"/>
            </a:avLst>
          </a:prstGeom>
          <a:solidFill>
            <a:srgbClr val="B57A0C"/>
          </a:solidFill>
          <a:ln w="12700">
            <a:solidFill>
              <a:srgbClr val="B57A0C"/>
            </a:solidFill>
            <a:prstDash val="solid"/>
          </a:ln>
        </p:spPr>
      </p:sp>
      <p:sp>
        <p:nvSpPr>
          <p:cNvPr id="11" name="Text 9"/>
          <p:cNvSpPr txBox="1"/>
          <p:nvPr/>
        </p:nvSpPr>
        <p:spPr>
          <a:xfrm>
            <a:off x="2856586" y="2450592"/>
            <a:ext cx="68671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Guard</a:t>
            </a:r>
            <a:endParaRPr lang="en-US" sz="1150" dirty="0"/>
          </a:p>
        </p:txBody>
      </p:sp>
      <p:sp>
        <p:nvSpPr>
          <p:cNvPr id="12" name="Text 10"/>
          <p:cNvSpPr txBox="1"/>
          <p:nvPr/>
        </p:nvSpPr>
        <p:spPr>
          <a:xfrm>
            <a:off x="548640" y="2971800"/>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WHAT GETS RECORDED</a:t>
            </a:r>
            <a:endParaRPr lang="en-US" sz="1000" dirty="0"/>
          </a:p>
        </p:txBody>
      </p:sp>
      <p:sp>
        <p:nvSpPr>
          <p:cNvPr id="13" name="field-tag"/>
          <p:cNvSpPr/>
          <p:nvPr/>
        </p:nvSpPr>
        <p:spPr>
          <a:xfrm>
            <a:off x="548640" y="3246120"/>
            <a:ext cx="2468880" cy="310896"/>
          </a:xfrm>
          <a:prstGeom prst="roundRect">
            <a:avLst>
              <a:gd name="adj" fmla="val 17647"/>
            </a:avLst>
          </a:prstGeom>
          <a:solidFill>
            <a:srgbClr val="F1F7F7"/>
          </a:solidFill>
          <a:ln w="12700">
            <a:solidFill>
              <a:srgbClr val="F1F7F7"/>
            </a:solidFill>
            <a:prstDash val="solid"/>
          </a:ln>
        </p:spPr>
      </p:sp>
      <p:sp>
        <p:nvSpPr>
          <p:cNvPr id="14" name="dot"/>
          <p:cNvSpPr/>
          <p:nvPr/>
        </p:nvSpPr>
        <p:spPr>
          <a:xfrm>
            <a:off x="658368" y="3364992"/>
            <a:ext cx="73152" cy="73152"/>
          </a:xfrm>
          <a:prstGeom prst="ellipse">
            <a:avLst/>
          </a:prstGeom>
          <a:solidFill>
            <a:srgbClr val="13A89E"/>
          </a:solidFill>
          <a:ln w="12700">
            <a:solidFill>
              <a:srgbClr val="13A89E"/>
            </a:solidFill>
            <a:prstDash val="solid"/>
          </a:ln>
        </p:spPr>
      </p:sp>
      <p:sp>
        <p:nvSpPr>
          <p:cNvPr id="15" name="Text 13"/>
          <p:cNvSpPr txBox="1"/>
          <p:nvPr/>
        </p:nvSpPr>
        <p:spPr>
          <a:xfrm>
            <a:off x="804672" y="3246120"/>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License plate (e.g. MH12AB1234)</a:t>
            </a:r>
            <a:endParaRPr lang="en-US" sz="1100" dirty="0"/>
          </a:p>
        </p:txBody>
      </p:sp>
      <p:sp>
        <p:nvSpPr>
          <p:cNvPr id="16" name="field-tag"/>
          <p:cNvSpPr/>
          <p:nvPr/>
        </p:nvSpPr>
        <p:spPr>
          <a:xfrm>
            <a:off x="3154680" y="3246120"/>
            <a:ext cx="2468880" cy="310896"/>
          </a:xfrm>
          <a:prstGeom prst="roundRect">
            <a:avLst>
              <a:gd name="adj" fmla="val 17647"/>
            </a:avLst>
          </a:prstGeom>
          <a:solidFill>
            <a:srgbClr val="F1F7F7"/>
          </a:solidFill>
          <a:ln w="12700">
            <a:solidFill>
              <a:srgbClr val="F1F7F7"/>
            </a:solidFill>
            <a:prstDash val="solid"/>
          </a:ln>
        </p:spPr>
      </p:sp>
      <p:sp>
        <p:nvSpPr>
          <p:cNvPr id="17" name="dot"/>
          <p:cNvSpPr/>
          <p:nvPr/>
        </p:nvSpPr>
        <p:spPr>
          <a:xfrm>
            <a:off x="3264408" y="3364992"/>
            <a:ext cx="73152" cy="73152"/>
          </a:xfrm>
          <a:prstGeom prst="ellipse">
            <a:avLst/>
          </a:prstGeom>
          <a:solidFill>
            <a:srgbClr val="13A89E"/>
          </a:solidFill>
          <a:ln w="12700">
            <a:solidFill>
              <a:srgbClr val="13A89E"/>
            </a:solidFill>
            <a:prstDash val="solid"/>
          </a:ln>
        </p:spPr>
      </p:sp>
      <p:sp>
        <p:nvSpPr>
          <p:cNvPr id="18" name="Text 16"/>
          <p:cNvSpPr txBox="1"/>
          <p:nvPr/>
        </p:nvSpPr>
        <p:spPr>
          <a:xfrm>
            <a:off x="3410712" y="3246120"/>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Owner name</a:t>
            </a:r>
            <a:endParaRPr lang="en-US" sz="1100" dirty="0"/>
          </a:p>
        </p:txBody>
      </p:sp>
      <p:sp>
        <p:nvSpPr>
          <p:cNvPr id="19" name="field-tag"/>
          <p:cNvSpPr/>
          <p:nvPr/>
        </p:nvSpPr>
        <p:spPr>
          <a:xfrm>
            <a:off x="548640" y="3630168"/>
            <a:ext cx="2468880" cy="310896"/>
          </a:xfrm>
          <a:prstGeom prst="roundRect">
            <a:avLst>
              <a:gd name="adj" fmla="val 17647"/>
            </a:avLst>
          </a:prstGeom>
          <a:solidFill>
            <a:srgbClr val="F1F7F7"/>
          </a:solidFill>
          <a:ln w="12700">
            <a:solidFill>
              <a:srgbClr val="F1F7F7"/>
            </a:solidFill>
            <a:prstDash val="solid"/>
          </a:ln>
        </p:spPr>
      </p:sp>
      <p:sp>
        <p:nvSpPr>
          <p:cNvPr id="20" name="dot"/>
          <p:cNvSpPr/>
          <p:nvPr/>
        </p:nvSpPr>
        <p:spPr>
          <a:xfrm>
            <a:off x="658368" y="3749040"/>
            <a:ext cx="73152" cy="73152"/>
          </a:xfrm>
          <a:prstGeom prst="ellipse">
            <a:avLst/>
          </a:prstGeom>
          <a:solidFill>
            <a:srgbClr val="13A89E"/>
          </a:solidFill>
          <a:ln w="12700">
            <a:solidFill>
              <a:srgbClr val="13A89E"/>
            </a:solidFill>
            <a:prstDash val="solid"/>
          </a:ln>
        </p:spPr>
      </p:sp>
      <p:sp>
        <p:nvSpPr>
          <p:cNvPr id="21" name="Text 19"/>
          <p:cNvSpPr txBox="1"/>
          <p:nvPr/>
        </p:nvSpPr>
        <p:spPr>
          <a:xfrm>
            <a:off x="804672" y="3630168"/>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House / unit ID</a:t>
            </a:r>
            <a:endParaRPr lang="en-US" sz="1100" dirty="0"/>
          </a:p>
        </p:txBody>
      </p:sp>
      <p:sp>
        <p:nvSpPr>
          <p:cNvPr id="22" name="field-tag"/>
          <p:cNvSpPr/>
          <p:nvPr/>
        </p:nvSpPr>
        <p:spPr>
          <a:xfrm>
            <a:off x="3154680" y="3630168"/>
            <a:ext cx="2468880" cy="310896"/>
          </a:xfrm>
          <a:prstGeom prst="roundRect">
            <a:avLst>
              <a:gd name="adj" fmla="val 17647"/>
            </a:avLst>
          </a:prstGeom>
          <a:solidFill>
            <a:srgbClr val="F1F7F7"/>
          </a:solidFill>
          <a:ln w="12700">
            <a:solidFill>
              <a:srgbClr val="F1F7F7"/>
            </a:solidFill>
            <a:prstDash val="solid"/>
          </a:ln>
        </p:spPr>
      </p:sp>
      <p:sp>
        <p:nvSpPr>
          <p:cNvPr id="23" name="dot"/>
          <p:cNvSpPr/>
          <p:nvPr/>
        </p:nvSpPr>
        <p:spPr>
          <a:xfrm>
            <a:off x="3264408" y="3749040"/>
            <a:ext cx="73152" cy="73152"/>
          </a:xfrm>
          <a:prstGeom prst="ellipse">
            <a:avLst/>
          </a:prstGeom>
          <a:solidFill>
            <a:srgbClr val="13A89E"/>
          </a:solidFill>
          <a:ln w="12700">
            <a:solidFill>
              <a:srgbClr val="13A89E"/>
            </a:solidFill>
            <a:prstDash val="solid"/>
          </a:ln>
        </p:spPr>
      </p:sp>
      <p:sp>
        <p:nvSpPr>
          <p:cNvPr id="24" name="Text 22"/>
          <p:cNvSpPr txBox="1"/>
          <p:nvPr/>
        </p:nvSpPr>
        <p:spPr>
          <a:xfrm>
            <a:off x="3410712" y="3630168"/>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Type: Car / Two-Wheeler / Commercial</a:t>
            </a:r>
            <a:endParaRPr lang="en-US" sz="1100" dirty="0"/>
          </a:p>
        </p:txBody>
      </p:sp>
      <p:sp>
        <p:nvSpPr>
          <p:cNvPr id="25" name="field-tag"/>
          <p:cNvSpPr/>
          <p:nvPr/>
        </p:nvSpPr>
        <p:spPr>
          <a:xfrm>
            <a:off x="548640" y="4014216"/>
            <a:ext cx="2468880" cy="310896"/>
          </a:xfrm>
          <a:prstGeom prst="roundRect">
            <a:avLst>
              <a:gd name="adj" fmla="val 17647"/>
            </a:avLst>
          </a:prstGeom>
          <a:solidFill>
            <a:srgbClr val="F1F7F7"/>
          </a:solidFill>
          <a:ln w="12700">
            <a:solidFill>
              <a:srgbClr val="F1F7F7"/>
            </a:solidFill>
            <a:prstDash val="solid"/>
          </a:ln>
        </p:spPr>
      </p:sp>
      <p:sp>
        <p:nvSpPr>
          <p:cNvPr id="26" name="dot"/>
          <p:cNvSpPr/>
          <p:nvPr/>
        </p:nvSpPr>
        <p:spPr>
          <a:xfrm>
            <a:off x="658368" y="4133088"/>
            <a:ext cx="73152" cy="73152"/>
          </a:xfrm>
          <a:prstGeom prst="ellipse">
            <a:avLst/>
          </a:prstGeom>
          <a:solidFill>
            <a:srgbClr val="13A89E"/>
          </a:solidFill>
          <a:ln w="12700">
            <a:solidFill>
              <a:srgbClr val="13A89E"/>
            </a:solidFill>
            <a:prstDash val="solid"/>
          </a:ln>
        </p:spPr>
      </p:sp>
      <p:sp>
        <p:nvSpPr>
          <p:cNvPr id="27" name="Text 25"/>
          <p:cNvSpPr txBox="1"/>
          <p:nvPr/>
        </p:nvSpPr>
        <p:spPr>
          <a:xfrm>
            <a:off x="804672" y="4014216"/>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Phase and sector</a:t>
            </a:r>
            <a:endParaRPr lang="en-US" sz="1100" dirty="0"/>
          </a:p>
        </p:txBody>
      </p:sp>
      <p:sp>
        <p:nvSpPr>
          <p:cNvPr id="28" name="field-tag"/>
          <p:cNvSpPr/>
          <p:nvPr/>
        </p:nvSpPr>
        <p:spPr>
          <a:xfrm>
            <a:off x="3154680" y="4014216"/>
            <a:ext cx="2468880" cy="310896"/>
          </a:xfrm>
          <a:prstGeom prst="roundRect">
            <a:avLst>
              <a:gd name="adj" fmla="val 17647"/>
            </a:avLst>
          </a:prstGeom>
          <a:solidFill>
            <a:srgbClr val="F1F7F7"/>
          </a:solidFill>
          <a:ln w="12700">
            <a:solidFill>
              <a:srgbClr val="F1F7F7"/>
            </a:solidFill>
            <a:prstDash val="solid"/>
          </a:ln>
        </p:spPr>
      </p:sp>
      <p:sp>
        <p:nvSpPr>
          <p:cNvPr id="29" name="dot"/>
          <p:cNvSpPr/>
          <p:nvPr/>
        </p:nvSpPr>
        <p:spPr>
          <a:xfrm>
            <a:off x="3264408" y="4133088"/>
            <a:ext cx="73152" cy="73152"/>
          </a:xfrm>
          <a:prstGeom prst="ellipse">
            <a:avLst/>
          </a:prstGeom>
          <a:solidFill>
            <a:srgbClr val="13A89E"/>
          </a:solidFill>
          <a:ln w="12700">
            <a:solidFill>
              <a:srgbClr val="13A89E"/>
            </a:solidFill>
            <a:prstDash val="solid"/>
          </a:ln>
        </p:spPr>
      </p:sp>
      <p:sp>
        <p:nvSpPr>
          <p:cNvPr id="30" name="Text 28"/>
          <p:cNvSpPr txBox="1"/>
          <p:nvPr/>
        </p:nvSpPr>
        <p:spPr>
          <a:xfrm>
            <a:off x="3410712" y="4014216"/>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Registration date (auto)</a:t>
            </a:r>
            <a:endParaRPr lang="en-US" sz="1100" dirty="0"/>
          </a:p>
        </p:txBody>
      </p:sp>
      <p:sp>
        <p:nvSpPr>
          <p:cNvPr id="31" name="Text 29"/>
          <p:cNvSpPr txBox="1"/>
          <p:nvPr/>
        </p:nvSpPr>
        <p:spPr>
          <a:xfrm>
            <a:off x="548640" y="4507992"/>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LIFECYCLE</a:t>
            </a:r>
            <a:endParaRPr lang="en-US" sz="1000" dirty="0"/>
          </a:p>
        </p:txBody>
      </p:sp>
      <p:sp>
        <p:nvSpPr>
          <p:cNvPr id="32" name="flow-chip"/>
          <p:cNvSpPr/>
          <p:nvPr/>
        </p:nvSpPr>
        <p:spPr>
          <a:xfrm>
            <a:off x="548640" y="4782312"/>
            <a:ext cx="926104" cy="384048"/>
          </a:xfrm>
          <a:prstGeom prst="roundRect">
            <a:avLst>
              <a:gd name="adj" fmla="val 50000"/>
            </a:avLst>
          </a:prstGeom>
          <a:solidFill>
            <a:srgbClr val="F1F7F7"/>
          </a:solidFill>
          <a:ln w="12700">
            <a:solidFill>
              <a:srgbClr val="0B2135"/>
            </a:solidFill>
            <a:prstDash val="solid"/>
          </a:ln>
        </p:spPr>
      </p:sp>
      <p:sp>
        <p:nvSpPr>
          <p:cNvPr id="33" name="Text 31"/>
          <p:cNvSpPr txBox="1"/>
          <p:nvPr/>
        </p:nvSpPr>
        <p:spPr>
          <a:xfrm>
            <a:off x="548640" y="4782312"/>
            <a:ext cx="926104" cy="384048"/>
          </a:xfrm>
          <a:prstGeom prst="rect">
            <a:avLst/>
          </a:prstGeom>
          <a:noFill/>
          <a:ln/>
        </p:spPr>
        <p:txBody>
          <a:bodyPr wrap="square" lIns="0" tIns="0" rIns="0" bIns="0" rtlCol="0" anchor="ctr"/>
          <a:lstStyle/>
          <a:p>
            <a:pPr algn="ctr" indent="0" marL="0">
              <a:buNone/>
            </a:pPr>
            <a:r>
              <a:rPr lang="en-US" sz="1200" b="1" dirty="0">
                <a:solidFill>
                  <a:srgbClr val="0B2135"/>
                </a:solidFill>
                <a:latin typeface="Calibri" pitchFamily="34" charset="0"/>
                <a:ea typeface="Calibri" pitchFamily="34" charset="-122"/>
                <a:cs typeface="Calibri" pitchFamily="34" charset="-120"/>
              </a:rPr>
              <a:t>Register</a:t>
            </a:r>
            <a:endParaRPr lang="en-US" sz="1200" dirty="0"/>
          </a:p>
        </p:txBody>
      </p:sp>
      <p:pic>
        <p:nvPicPr>
          <p:cNvPr id="34" name="arrow" descr="preencoded.png">    </p:cNvPr>
          <p:cNvPicPr>
            <a:picLocks noChangeAspect="1"/>
          </p:cNvPicPr>
          <p:nvPr/>
        </p:nvPicPr>
        <p:blipFill>
          <a:blip r:embed="rId1"/>
          <a:stretch>
            <a:fillRect/>
          </a:stretch>
        </p:blipFill>
        <p:spPr>
          <a:xfrm>
            <a:off x="1520464" y="4873752"/>
            <a:ext cx="201168" cy="201168"/>
          </a:xfrm>
          <a:prstGeom prst="rect">
            <a:avLst/>
          </a:prstGeom>
        </p:spPr>
      </p:pic>
      <p:sp>
        <p:nvSpPr>
          <p:cNvPr id="35" name="flow-chip"/>
          <p:cNvSpPr/>
          <p:nvPr/>
        </p:nvSpPr>
        <p:spPr>
          <a:xfrm>
            <a:off x="1767352" y="4782312"/>
            <a:ext cx="1746870" cy="384048"/>
          </a:xfrm>
          <a:prstGeom prst="roundRect">
            <a:avLst>
              <a:gd name="adj" fmla="val 50000"/>
            </a:avLst>
          </a:prstGeom>
          <a:solidFill>
            <a:srgbClr val="F1F7F7"/>
          </a:solidFill>
          <a:ln w="12700">
            <a:solidFill>
              <a:srgbClr val="0B2135"/>
            </a:solidFill>
            <a:prstDash val="solid"/>
          </a:ln>
        </p:spPr>
      </p:sp>
      <p:sp>
        <p:nvSpPr>
          <p:cNvPr id="36" name="Text 33"/>
          <p:cNvSpPr txBox="1"/>
          <p:nvPr/>
        </p:nvSpPr>
        <p:spPr>
          <a:xfrm>
            <a:off x="1767352" y="4782312"/>
            <a:ext cx="1746870" cy="384048"/>
          </a:xfrm>
          <a:prstGeom prst="rect">
            <a:avLst/>
          </a:prstGeom>
          <a:noFill/>
          <a:ln/>
        </p:spPr>
        <p:txBody>
          <a:bodyPr wrap="square" lIns="0" tIns="0" rIns="0" bIns="0" rtlCol="0" anchor="ctr"/>
          <a:lstStyle/>
          <a:p>
            <a:pPr algn="ctr" indent="0" marL="0">
              <a:buNone/>
            </a:pPr>
            <a:r>
              <a:rPr lang="en-US" sz="1200" b="1" dirty="0">
                <a:solidFill>
                  <a:srgbClr val="0B2135"/>
                </a:solidFill>
                <a:latin typeface="Calibri" pitchFamily="34" charset="0"/>
                <a:ea typeface="Calibri" pitchFamily="34" charset="-122"/>
                <a:cs typeface="Calibri" pitchFamily="34" charset="-120"/>
              </a:rPr>
              <a:t>Listed in directory</a:t>
            </a:r>
            <a:endParaRPr lang="en-US" sz="1200" dirty="0"/>
          </a:p>
        </p:txBody>
      </p:sp>
      <p:pic>
        <p:nvPicPr>
          <p:cNvPr id="37" name="arrow" descr="preencoded.png">    </p:cNvPr>
          <p:cNvPicPr>
            <a:picLocks noChangeAspect="1"/>
          </p:cNvPicPr>
          <p:nvPr/>
        </p:nvPicPr>
        <p:blipFill>
          <a:blip r:embed="rId2"/>
          <a:stretch>
            <a:fillRect/>
          </a:stretch>
        </p:blipFill>
        <p:spPr>
          <a:xfrm>
            <a:off x="3559942" y="4873752"/>
            <a:ext cx="201168" cy="201168"/>
          </a:xfrm>
          <a:prstGeom prst="rect">
            <a:avLst/>
          </a:prstGeom>
        </p:spPr>
      </p:pic>
      <p:sp>
        <p:nvSpPr>
          <p:cNvPr id="38" name="flow-chip"/>
          <p:cNvSpPr/>
          <p:nvPr/>
        </p:nvSpPr>
        <p:spPr>
          <a:xfrm>
            <a:off x="3806830" y="4782312"/>
            <a:ext cx="1523025" cy="384048"/>
          </a:xfrm>
          <a:prstGeom prst="roundRect">
            <a:avLst>
              <a:gd name="adj" fmla="val 50000"/>
            </a:avLst>
          </a:prstGeom>
          <a:solidFill>
            <a:srgbClr val="E6F4F2"/>
          </a:solidFill>
          <a:ln w="12700">
            <a:solidFill>
              <a:srgbClr val="0B2135"/>
            </a:solidFill>
            <a:prstDash val="solid"/>
          </a:ln>
        </p:spPr>
      </p:sp>
      <p:sp>
        <p:nvSpPr>
          <p:cNvPr id="39" name="Text 35"/>
          <p:cNvSpPr txBox="1"/>
          <p:nvPr/>
        </p:nvSpPr>
        <p:spPr>
          <a:xfrm>
            <a:off x="3806830" y="4782312"/>
            <a:ext cx="1523025" cy="384048"/>
          </a:xfrm>
          <a:prstGeom prst="rect">
            <a:avLst/>
          </a:prstGeom>
          <a:noFill/>
          <a:ln/>
        </p:spPr>
        <p:txBody>
          <a:bodyPr wrap="square" lIns="0" tIns="0" rIns="0" bIns="0" rtlCol="0" anchor="ctr"/>
          <a:lstStyle/>
          <a:p>
            <a:pPr algn="ctr" indent="0" marL="0">
              <a:buNone/>
            </a:pPr>
            <a:r>
              <a:rPr lang="en-US" sz="1200" b="1" dirty="0">
                <a:solidFill>
                  <a:srgbClr val="0B2135"/>
                </a:solidFill>
                <a:latin typeface="Calibri" pitchFamily="34" charset="0"/>
                <a:ea typeface="Calibri" pitchFamily="34" charset="-122"/>
                <a:cs typeface="Calibri" pitchFamily="34" charset="-120"/>
              </a:rPr>
              <a:t>Remove when sold</a:t>
            </a:r>
            <a:endParaRPr lang="en-US" sz="1200" dirty="0"/>
          </a:p>
        </p:txBody>
      </p:sp>
      <p:sp>
        <p:nvSpPr>
          <p:cNvPr id="40" name="icon-bg"/>
          <p:cNvSpPr/>
          <p:nvPr/>
        </p:nvSpPr>
        <p:spPr>
          <a:xfrm>
            <a:off x="548640" y="5376672"/>
            <a:ext cx="384048" cy="384048"/>
          </a:xfrm>
          <a:prstGeom prst="ellipse">
            <a:avLst/>
          </a:prstGeom>
          <a:solidFill>
            <a:srgbClr val="F4B942"/>
          </a:solidFill>
          <a:ln w="12700">
            <a:solidFill>
              <a:srgbClr val="F4B942"/>
            </a:solidFill>
            <a:prstDash val="solid"/>
          </a:ln>
        </p:spPr>
      </p:sp>
      <p:pic>
        <p:nvPicPr>
          <p:cNvPr id="41" name="icon" descr="preencoded.png">    </p:cNvPr>
          <p:cNvPicPr>
            <a:picLocks noChangeAspect="1"/>
          </p:cNvPicPr>
          <p:nvPr/>
        </p:nvPicPr>
        <p:blipFill>
          <a:blip r:embed="rId3"/>
          <a:stretch>
            <a:fillRect/>
          </a:stretch>
        </p:blipFill>
        <p:spPr>
          <a:xfrm>
            <a:off x="640812" y="5468844"/>
            <a:ext cx="199705" cy="199705"/>
          </a:xfrm>
          <a:prstGeom prst="rect">
            <a:avLst/>
          </a:prstGeom>
        </p:spPr>
      </p:pic>
      <p:sp>
        <p:nvSpPr>
          <p:cNvPr id="42" name="Text 37"/>
          <p:cNvSpPr txBox="1"/>
          <p:nvPr/>
        </p:nvSpPr>
        <p:spPr>
          <a:xfrm>
            <a:off x="1051560" y="5340096"/>
            <a:ext cx="4572000" cy="548640"/>
          </a:xfrm>
          <a:prstGeom prst="rect">
            <a:avLst/>
          </a:prstGeom>
          <a:noFill/>
          <a:ln/>
        </p:spPr>
        <p:txBody>
          <a:bodyPr wrap="square" lIns="0" tIns="0" rIns="0" bIns="0" rtlCol="0" anchor="ctr"/>
          <a:lstStyle/>
          <a:p>
            <a:pPr indent="0" marL="0">
              <a:buNone/>
            </a:pPr>
            <a:r>
              <a:rPr lang="en-US" sz="1150" dirty="0">
                <a:solidFill>
                  <a:srgbClr val="0B2135"/>
                </a:solidFill>
                <a:latin typeface="Calibri" pitchFamily="34" charset="0"/>
                <a:ea typeface="Calibri" pitchFamily="34" charset="-122"/>
                <a:cs typeface="Calibri" pitchFamily="34" charset="-120"/>
              </a:rPr>
              <a:t>Visitor entries also capture vehicle numbers, and the dashboard counts Vehicles Today.</a:t>
            </a:r>
            <a:endParaRPr lang="en-US" sz="1150" dirty="0"/>
          </a:p>
        </p:txBody>
      </p:sp>
      <p:pic>
        <p:nvPicPr>
          <p:cNvPr id="43" name="screenshot" descr="img/p_vehicles.png">    </p:cNvPr>
          <p:cNvPicPr>
            <a:picLocks noChangeAspect="1"/>
          </p:cNvPicPr>
          <p:nvPr/>
        </p:nvPicPr>
        <p:blipFill>
          <a:blip r:embed="rId4"/>
          <a:stretch>
            <a:fillRect/>
          </a:stretch>
        </p:blipFill>
        <p:spPr>
          <a:xfrm>
            <a:off x="5989320" y="1261872"/>
            <a:ext cx="5669280" cy="2134445"/>
          </a:xfrm>
          <a:prstGeom prst="rect">
            <a:avLst/>
          </a:prstGeom>
          <a:effectLst>
            <a:outerShdw sx="100000" sy="100000" kx="0" ky="0" algn="bl" rotWithShape="0" blurRad="228600" dist="50800" dir="5400000">
              <a:srgbClr val="0B2135">
                <a:alpha val="22000"/>
              </a:srgbClr>
            </a:outerShdw>
          </a:effectLst>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t"/>
          <a:lstStyle/>
          <a:p>
            <a:pPr indent="0" marL="0">
              <a:buNone/>
            </a:pPr>
            <a:r>
              <a:rPr lang="en-US" sz="1100" b="1" spc="300" kern="0" dirty="0">
                <a:solidFill>
                  <a:srgbClr val="0E7C76"/>
                </a:solidFill>
                <a:latin typeface="Calibri" pitchFamily="34" charset="0"/>
                <a:ea typeface="Calibri" pitchFamily="34" charset="-122"/>
                <a:cs typeface="Calibri" pitchFamily="34" charset="-120"/>
              </a:rPr>
              <a:t>MODULE 08 · MONEY  ·  PAYMENTS</a:t>
            </a:r>
            <a:endParaRPr lang="en-US" sz="1100" dirty="0"/>
          </a:p>
        </p:txBody>
      </p:sp>
      <p:sp>
        <p:nvSpPr>
          <p:cNvPr id="3" name="Text 1"/>
          <p:cNvSpPr/>
          <p:nvPr>
            <p:ph idx="101" type="title" hasCustomPrompt="1"/>
          </p:nvPr>
        </p:nvSpPr>
        <p:spPr>
          <a:xfrm>
            <a:off x="548640" y="457200"/>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Payments: every rupee collected, with proof</a:t>
            </a:r>
            <a:endParaRPr lang="en-US" sz="3000" dirty="0"/>
          </a:p>
        </p:txBody>
      </p:sp>
      <p:sp>
        <p:nvSpPr>
          <p:cNvPr id="4" name="Text 2"/>
          <p:cNvSpPr txBox="1"/>
          <p:nvPr/>
        </p:nvSpPr>
        <p:spPr>
          <a:xfrm>
            <a:off x="548640" y="1261872"/>
            <a:ext cx="5074920" cy="822960"/>
          </a:xfrm>
          <a:prstGeom prst="rect">
            <a:avLst/>
          </a:prstGeom>
          <a:noFill/>
          <a:ln/>
        </p:spPr>
        <p:txBody>
          <a:bodyPr wrap="square" lIns="0" tIns="0" rIns="0" bIns="0" rtlCol="0" anchor="t"/>
          <a:lstStyle/>
          <a:p>
            <a:pPr indent="0" marL="0">
              <a:buNone/>
            </a:pPr>
            <a:r>
              <a:rPr lang="en-US" sz="1400" dirty="0">
                <a:solidFill>
                  <a:srgbClr val="16384F"/>
                </a:solidFill>
                <a:latin typeface="Calibri" pitchFamily="34" charset="0"/>
                <a:ea typeface="Calibri" pitchFamily="34" charset="-122"/>
                <a:cs typeface="Calibri" pitchFamily="34" charset="-120"/>
              </a:rPr>
              <a:t>Every maintenance fee and contribution is recorded against a house, with a proof screenshot, so dues are never a matter of memory.</a:t>
            </a:r>
            <a:endParaRPr lang="en-US" sz="1400" dirty="0"/>
          </a:p>
        </p:txBody>
      </p:sp>
      <p:sp>
        <p:nvSpPr>
          <p:cNvPr id="5" name="Text 3"/>
          <p:cNvSpPr txBox="1"/>
          <p:nvPr/>
        </p:nvSpPr>
        <p:spPr>
          <a:xfrm>
            <a:off x="548640" y="2176272"/>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WHO USES IT</a:t>
            </a:r>
            <a:endParaRPr lang="en-US" sz="1000" dirty="0"/>
          </a:p>
        </p:txBody>
      </p:sp>
      <p:sp>
        <p:nvSpPr>
          <p:cNvPr id="6" name="role-chip"/>
          <p:cNvSpPr/>
          <p:nvPr/>
        </p:nvSpPr>
        <p:spPr>
          <a:xfrm>
            <a:off x="548640" y="2450592"/>
            <a:ext cx="1115751" cy="329184"/>
          </a:xfrm>
          <a:prstGeom prst="roundRect">
            <a:avLst>
              <a:gd name="adj" fmla="val 50000"/>
            </a:avLst>
          </a:prstGeom>
          <a:solidFill>
            <a:srgbClr val="0B2135"/>
          </a:solidFill>
          <a:ln w="12700">
            <a:solidFill>
              <a:srgbClr val="0B2135"/>
            </a:solidFill>
            <a:prstDash val="solid"/>
          </a:ln>
        </p:spPr>
      </p:sp>
      <p:sp>
        <p:nvSpPr>
          <p:cNvPr id="7" name="Text 5"/>
          <p:cNvSpPr txBox="1"/>
          <p:nvPr/>
        </p:nvSpPr>
        <p:spPr>
          <a:xfrm>
            <a:off x="548640" y="2450592"/>
            <a:ext cx="1115751"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Super Admin</a:t>
            </a:r>
            <a:endParaRPr lang="en-US" sz="1150" dirty="0"/>
          </a:p>
        </p:txBody>
      </p:sp>
      <p:sp>
        <p:nvSpPr>
          <p:cNvPr id="8" name="role-chip"/>
          <p:cNvSpPr/>
          <p:nvPr/>
        </p:nvSpPr>
        <p:spPr>
          <a:xfrm>
            <a:off x="1774119" y="2450592"/>
            <a:ext cx="972739" cy="329184"/>
          </a:xfrm>
          <a:prstGeom prst="roundRect">
            <a:avLst>
              <a:gd name="adj" fmla="val 50000"/>
            </a:avLst>
          </a:prstGeom>
          <a:solidFill>
            <a:srgbClr val="0E7C76"/>
          </a:solidFill>
          <a:ln w="12700">
            <a:solidFill>
              <a:srgbClr val="0E7C76"/>
            </a:solidFill>
            <a:prstDash val="solid"/>
          </a:ln>
        </p:spPr>
      </p:sp>
      <p:sp>
        <p:nvSpPr>
          <p:cNvPr id="9" name="Text 7"/>
          <p:cNvSpPr txBox="1"/>
          <p:nvPr/>
        </p:nvSpPr>
        <p:spPr>
          <a:xfrm>
            <a:off x="1774119" y="2450592"/>
            <a:ext cx="972739"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Volunteer</a:t>
            </a:r>
            <a:endParaRPr lang="en-US" sz="1150" dirty="0"/>
          </a:p>
        </p:txBody>
      </p:sp>
      <p:sp>
        <p:nvSpPr>
          <p:cNvPr id="10" name="role-chip"/>
          <p:cNvSpPr/>
          <p:nvPr/>
        </p:nvSpPr>
        <p:spPr>
          <a:xfrm>
            <a:off x="2856586" y="2450592"/>
            <a:ext cx="1401775" cy="329184"/>
          </a:xfrm>
          <a:prstGeom prst="roundRect">
            <a:avLst>
              <a:gd name="adj" fmla="val 50000"/>
            </a:avLst>
          </a:prstGeom>
          <a:solidFill>
            <a:srgbClr val="FFFFFF"/>
          </a:solidFill>
          <a:ln w="12700">
            <a:solidFill>
              <a:srgbClr val="13A89E"/>
            </a:solidFill>
            <a:prstDash val="solid"/>
          </a:ln>
        </p:spPr>
      </p:sp>
      <p:sp>
        <p:nvSpPr>
          <p:cNvPr id="11" name="Text 9"/>
          <p:cNvSpPr txBox="1"/>
          <p:nvPr/>
        </p:nvSpPr>
        <p:spPr>
          <a:xfrm>
            <a:off x="2856586" y="2450592"/>
            <a:ext cx="1401775" cy="329184"/>
          </a:xfrm>
          <a:prstGeom prst="rect">
            <a:avLst/>
          </a:prstGeom>
          <a:noFill/>
          <a:ln/>
        </p:spPr>
        <p:txBody>
          <a:bodyPr wrap="square" lIns="0" tIns="0" rIns="0" bIns="0" rtlCol="0" anchor="ctr"/>
          <a:lstStyle/>
          <a:p>
            <a:pPr algn="ctr" indent="0" marL="0">
              <a:buNone/>
            </a:pPr>
            <a:r>
              <a:rPr lang="en-US" sz="1150" b="1" dirty="0">
                <a:solidFill>
                  <a:srgbClr val="13A89E"/>
                </a:solidFill>
                <a:latin typeface="Calibri" pitchFamily="34" charset="0"/>
                <a:ea typeface="Calibri" pitchFamily="34" charset="-122"/>
                <a:cs typeface="Calibri" pitchFamily="34" charset="-120"/>
              </a:rPr>
              <a:t>Resident · view</a:t>
            </a:r>
            <a:endParaRPr lang="en-US" sz="1150" dirty="0"/>
          </a:p>
        </p:txBody>
      </p:sp>
      <p:sp>
        <p:nvSpPr>
          <p:cNvPr id="12" name="Text 10"/>
          <p:cNvSpPr txBox="1"/>
          <p:nvPr/>
        </p:nvSpPr>
        <p:spPr>
          <a:xfrm>
            <a:off x="548640" y="2971800"/>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WHAT GETS RECORDED</a:t>
            </a:r>
            <a:endParaRPr lang="en-US" sz="1000" dirty="0"/>
          </a:p>
        </p:txBody>
      </p:sp>
      <p:sp>
        <p:nvSpPr>
          <p:cNvPr id="13" name="field-tag"/>
          <p:cNvSpPr/>
          <p:nvPr/>
        </p:nvSpPr>
        <p:spPr>
          <a:xfrm>
            <a:off x="548640" y="3246120"/>
            <a:ext cx="2468880" cy="310896"/>
          </a:xfrm>
          <a:prstGeom prst="roundRect">
            <a:avLst>
              <a:gd name="adj" fmla="val 17647"/>
            </a:avLst>
          </a:prstGeom>
          <a:solidFill>
            <a:srgbClr val="F1F7F7"/>
          </a:solidFill>
          <a:ln w="12700">
            <a:solidFill>
              <a:srgbClr val="F1F7F7"/>
            </a:solidFill>
            <a:prstDash val="solid"/>
          </a:ln>
        </p:spPr>
      </p:sp>
      <p:sp>
        <p:nvSpPr>
          <p:cNvPr id="14" name="dot"/>
          <p:cNvSpPr/>
          <p:nvPr/>
        </p:nvSpPr>
        <p:spPr>
          <a:xfrm>
            <a:off x="658368" y="3364992"/>
            <a:ext cx="73152" cy="73152"/>
          </a:xfrm>
          <a:prstGeom prst="ellipse">
            <a:avLst/>
          </a:prstGeom>
          <a:solidFill>
            <a:srgbClr val="13A89E"/>
          </a:solidFill>
          <a:ln w="12700">
            <a:solidFill>
              <a:srgbClr val="13A89E"/>
            </a:solidFill>
            <a:prstDash val="solid"/>
          </a:ln>
        </p:spPr>
      </p:sp>
      <p:sp>
        <p:nvSpPr>
          <p:cNvPr id="15" name="Text 13"/>
          <p:cNvSpPr txBox="1"/>
          <p:nvPr/>
        </p:nvSpPr>
        <p:spPr>
          <a:xfrm>
            <a:off x="804672" y="3246120"/>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House ID and owner name</a:t>
            </a:r>
            <a:endParaRPr lang="en-US" sz="1100" dirty="0"/>
          </a:p>
        </p:txBody>
      </p:sp>
      <p:sp>
        <p:nvSpPr>
          <p:cNvPr id="16" name="field-tag"/>
          <p:cNvSpPr/>
          <p:nvPr/>
        </p:nvSpPr>
        <p:spPr>
          <a:xfrm>
            <a:off x="3154680" y="3246120"/>
            <a:ext cx="2468880" cy="310896"/>
          </a:xfrm>
          <a:prstGeom prst="roundRect">
            <a:avLst>
              <a:gd name="adj" fmla="val 17647"/>
            </a:avLst>
          </a:prstGeom>
          <a:solidFill>
            <a:srgbClr val="F1F7F7"/>
          </a:solidFill>
          <a:ln w="12700">
            <a:solidFill>
              <a:srgbClr val="F1F7F7"/>
            </a:solidFill>
            <a:prstDash val="solid"/>
          </a:ln>
        </p:spPr>
      </p:sp>
      <p:sp>
        <p:nvSpPr>
          <p:cNvPr id="17" name="dot"/>
          <p:cNvSpPr/>
          <p:nvPr/>
        </p:nvSpPr>
        <p:spPr>
          <a:xfrm>
            <a:off x="3264408" y="3364992"/>
            <a:ext cx="73152" cy="73152"/>
          </a:xfrm>
          <a:prstGeom prst="ellipse">
            <a:avLst/>
          </a:prstGeom>
          <a:solidFill>
            <a:srgbClr val="13A89E"/>
          </a:solidFill>
          <a:ln w="12700">
            <a:solidFill>
              <a:srgbClr val="13A89E"/>
            </a:solidFill>
            <a:prstDash val="solid"/>
          </a:ln>
        </p:spPr>
      </p:sp>
      <p:sp>
        <p:nvSpPr>
          <p:cNvPr id="18" name="Text 16"/>
          <p:cNvSpPr txBox="1"/>
          <p:nvPr/>
        </p:nvSpPr>
        <p:spPr>
          <a:xfrm>
            <a:off x="3410712" y="3246120"/>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Amount (₹)</a:t>
            </a:r>
            <a:endParaRPr lang="en-US" sz="1100" dirty="0"/>
          </a:p>
        </p:txBody>
      </p:sp>
      <p:sp>
        <p:nvSpPr>
          <p:cNvPr id="19" name="field-tag"/>
          <p:cNvSpPr/>
          <p:nvPr/>
        </p:nvSpPr>
        <p:spPr>
          <a:xfrm>
            <a:off x="548640" y="3630168"/>
            <a:ext cx="2468880" cy="310896"/>
          </a:xfrm>
          <a:prstGeom prst="roundRect">
            <a:avLst>
              <a:gd name="adj" fmla="val 17647"/>
            </a:avLst>
          </a:prstGeom>
          <a:solidFill>
            <a:srgbClr val="F1F7F7"/>
          </a:solidFill>
          <a:ln w="12700">
            <a:solidFill>
              <a:srgbClr val="F1F7F7"/>
            </a:solidFill>
            <a:prstDash val="solid"/>
          </a:ln>
        </p:spPr>
      </p:sp>
      <p:sp>
        <p:nvSpPr>
          <p:cNvPr id="20" name="dot"/>
          <p:cNvSpPr/>
          <p:nvPr/>
        </p:nvSpPr>
        <p:spPr>
          <a:xfrm>
            <a:off x="658368" y="3749040"/>
            <a:ext cx="73152" cy="73152"/>
          </a:xfrm>
          <a:prstGeom prst="ellipse">
            <a:avLst/>
          </a:prstGeom>
          <a:solidFill>
            <a:srgbClr val="13A89E"/>
          </a:solidFill>
          <a:ln w="12700">
            <a:solidFill>
              <a:srgbClr val="13A89E"/>
            </a:solidFill>
            <a:prstDash val="solid"/>
          </a:ln>
        </p:spPr>
      </p:sp>
      <p:sp>
        <p:nvSpPr>
          <p:cNvPr id="21" name="Text 19"/>
          <p:cNvSpPr txBox="1"/>
          <p:nvPr/>
        </p:nvSpPr>
        <p:spPr>
          <a:xfrm>
            <a:off x="804672" y="3630168"/>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Purpose: Maintenance / Event / Fine</a:t>
            </a:r>
            <a:endParaRPr lang="en-US" sz="1100" dirty="0"/>
          </a:p>
        </p:txBody>
      </p:sp>
      <p:sp>
        <p:nvSpPr>
          <p:cNvPr id="22" name="field-tag"/>
          <p:cNvSpPr/>
          <p:nvPr/>
        </p:nvSpPr>
        <p:spPr>
          <a:xfrm>
            <a:off x="3154680" y="3630168"/>
            <a:ext cx="2468880" cy="310896"/>
          </a:xfrm>
          <a:prstGeom prst="roundRect">
            <a:avLst>
              <a:gd name="adj" fmla="val 17647"/>
            </a:avLst>
          </a:prstGeom>
          <a:solidFill>
            <a:srgbClr val="F1F7F7"/>
          </a:solidFill>
          <a:ln w="12700">
            <a:solidFill>
              <a:srgbClr val="F1F7F7"/>
            </a:solidFill>
            <a:prstDash val="solid"/>
          </a:ln>
        </p:spPr>
      </p:sp>
      <p:sp>
        <p:nvSpPr>
          <p:cNvPr id="23" name="dot"/>
          <p:cNvSpPr/>
          <p:nvPr/>
        </p:nvSpPr>
        <p:spPr>
          <a:xfrm>
            <a:off x="3264408" y="3749040"/>
            <a:ext cx="73152" cy="73152"/>
          </a:xfrm>
          <a:prstGeom prst="ellipse">
            <a:avLst/>
          </a:prstGeom>
          <a:solidFill>
            <a:srgbClr val="13A89E"/>
          </a:solidFill>
          <a:ln w="12700">
            <a:solidFill>
              <a:srgbClr val="13A89E"/>
            </a:solidFill>
            <a:prstDash val="solid"/>
          </a:ln>
        </p:spPr>
      </p:sp>
      <p:sp>
        <p:nvSpPr>
          <p:cNvPr id="24" name="Text 22"/>
          <p:cNvSpPr txBox="1"/>
          <p:nvPr/>
        </p:nvSpPr>
        <p:spPr>
          <a:xfrm>
            <a:off x="3410712" y="3630168"/>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Payment method (UPI default)</a:t>
            </a:r>
            <a:endParaRPr lang="en-US" sz="1100" dirty="0"/>
          </a:p>
        </p:txBody>
      </p:sp>
      <p:sp>
        <p:nvSpPr>
          <p:cNvPr id="25" name="field-tag"/>
          <p:cNvSpPr/>
          <p:nvPr/>
        </p:nvSpPr>
        <p:spPr>
          <a:xfrm>
            <a:off x="548640" y="4014216"/>
            <a:ext cx="2468880" cy="310896"/>
          </a:xfrm>
          <a:prstGeom prst="roundRect">
            <a:avLst>
              <a:gd name="adj" fmla="val 17647"/>
            </a:avLst>
          </a:prstGeom>
          <a:solidFill>
            <a:srgbClr val="F1F7F7"/>
          </a:solidFill>
          <a:ln w="12700">
            <a:solidFill>
              <a:srgbClr val="F1F7F7"/>
            </a:solidFill>
            <a:prstDash val="solid"/>
          </a:ln>
        </p:spPr>
      </p:sp>
      <p:sp>
        <p:nvSpPr>
          <p:cNvPr id="26" name="dot"/>
          <p:cNvSpPr/>
          <p:nvPr/>
        </p:nvSpPr>
        <p:spPr>
          <a:xfrm>
            <a:off x="658368" y="4133088"/>
            <a:ext cx="73152" cy="73152"/>
          </a:xfrm>
          <a:prstGeom prst="ellipse">
            <a:avLst/>
          </a:prstGeom>
          <a:solidFill>
            <a:srgbClr val="13A89E"/>
          </a:solidFill>
          <a:ln w="12700">
            <a:solidFill>
              <a:srgbClr val="13A89E"/>
            </a:solidFill>
            <a:prstDash val="solid"/>
          </a:ln>
        </p:spPr>
      </p:sp>
      <p:sp>
        <p:nvSpPr>
          <p:cNvPr id="27" name="Text 25"/>
          <p:cNvSpPr txBox="1"/>
          <p:nvPr/>
        </p:nvSpPr>
        <p:spPr>
          <a:xfrm>
            <a:off x="804672" y="4014216"/>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Payment proof photo</a:t>
            </a:r>
            <a:endParaRPr lang="en-US" sz="1100" dirty="0"/>
          </a:p>
        </p:txBody>
      </p:sp>
      <p:sp>
        <p:nvSpPr>
          <p:cNvPr id="28" name="field-tag"/>
          <p:cNvSpPr/>
          <p:nvPr/>
        </p:nvSpPr>
        <p:spPr>
          <a:xfrm>
            <a:off x="3154680" y="4014216"/>
            <a:ext cx="2468880" cy="310896"/>
          </a:xfrm>
          <a:prstGeom prst="roundRect">
            <a:avLst>
              <a:gd name="adj" fmla="val 17647"/>
            </a:avLst>
          </a:prstGeom>
          <a:solidFill>
            <a:srgbClr val="F1F7F7"/>
          </a:solidFill>
          <a:ln w="12700">
            <a:solidFill>
              <a:srgbClr val="F1F7F7"/>
            </a:solidFill>
            <a:prstDash val="solid"/>
          </a:ln>
        </p:spPr>
      </p:sp>
      <p:sp>
        <p:nvSpPr>
          <p:cNvPr id="29" name="dot"/>
          <p:cNvSpPr/>
          <p:nvPr/>
        </p:nvSpPr>
        <p:spPr>
          <a:xfrm>
            <a:off x="3264408" y="4133088"/>
            <a:ext cx="73152" cy="73152"/>
          </a:xfrm>
          <a:prstGeom prst="ellipse">
            <a:avLst/>
          </a:prstGeom>
          <a:solidFill>
            <a:srgbClr val="13A89E"/>
          </a:solidFill>
          <a:ln w="12700">
            <a:solidFill>
              <a:srgbClr val="13A89E"/>
            </a:solidFill>
            <a:prstDash val="solid"/>
          </a:ln>
        </p:spPr>
      </p:sp>
      <p:sp>
        <p:nvSpPr>
          <p:cNvPr id="30" name="Text 28"/>
          <p:cNvSpPr txBox="1"/>
          <p:nvPr/>
        </p:nvSpPr>
        <p:spPr>
          <a:xfrm>
            <a:off x="3410712" y="4014216"/>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Phase and sector</a:t>
            </a:r>
            <a:endParaRPr lang="en-US" sz="1100" dirty="0"/>
          </a:p>
        </p:txBody>
      </p:sp>
      <p:sp>
        <p:nvSpPr>
          <p:cNvPr id="31" name="Text 29"/>
          <p:cNvSpPr txBox="1"/>
          <p:nvPr/>
        </p:nvSpPr>
        <p:spPr>
          <a:xfrm>
            <a:off x="548640" y="4507992"/>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PAYMENT STATUS (ALSO: OVERDUE)</a:t>
            </a:r>
            <a:endParaRPr lang="en-US" sz="1000" dirty="0"/>
          </a:p>
        </p:txBody>
      </p:sp>
      <p:sp>
        <p:nvSpPr>
          <p:cNvPr id="32" name="flow-chip"/>
          <p:cNvSpPr/>
          <p:nvPr/>
        </p:nvSpPr>
        <p:spPr>
          <a:xfrm>
            <a:off x="548640" y="4782312"/>
            <a:ext cx="851489" cy="384048"/>
          </a:xfrm>
          <a:prstGeom prst="roundRect">
            <a:avLst>
              <a:gd name="adj" fmla="val 50000"/>
            </a:avLst>
          </a:prstGeom>
          <a:solidFill>
            <a:srgbClr val="F1F7F7"/>
          </a:solidFill>
          <a:ln w="12700">
            <a:solidFill>
              <a:srgbClr val="B57A0C"/>
            </a:solidFill>
            <a:prstDash val="solid"/>
          </a:ln>
        </p:spPr>
      </p:sp>
      <p:sp>
        <p:nvSpPr>
          <p:cNvPr id="33" name="Text 31"/>
          <p:cNvSpPr txBox="1"/>
          <p:nvPr/>
        </p:nvSpPr>
        <p:spPr>
          <a:xfrm>
            <a:off x="548640" y="4782312"/>
            <a:ext cx="851489" cy="384048"/>
          </a:xfrm>
          <a:prstGeom prst="rect">
            <a:avLst/>
          </a:prstGeom>
          <a:noFill/>
          <a:ln/>
        </p:spPr>
        <p:txBody>
          <a:bodyPr wrap="square" lIns="0" tIns="0" rIns="0" bIns="0" rtlCol="0" anchor="ctr"/>
          <a:lstStyle/>
          <a:p>
            <a:pPr algn="ctr" indent="0" marL="0">
              <a:buNone/>
            </a:pPr>
            <a:r>
              <a:rPr lang="en-US" sz="1200" b="1" dirty="0">
                <a:solidFill>
                  <a:srgbClr val="B57A0C"/>
                </a:solidFill>
                <a:latin typeface="Calibri" pitchFamily="34" charset="0"/>
                <a:ea typeface="Calibri" pitchFamily="34" charset="-122"/>
                <a:cs typeface="Calibri" pitchFamily="34" charset="-120"/>
              </a:rPr>
              <a:t>Pending</a:t>
            </a:r>
            <a:endParaRPr lang="en-US" sz="1200" dirty="0"/>
          </a:p>
        </p:txBody>
      </p:sp>
      <p:pic>
        <p:nvPicPr>
          <p:cNvPr id="34" name="arrow" descr="preencoded.png">    </p:cNvPr>
          <p:cNvPicPr>
            <a:picLocks noChangeAspect="1"/>
          </p:cNvPicPr>
          <p:nvPr/>
        </p:nvPicPr>
        <p:blipFill>
          <a:blip r:embed="rId1"/>
          <a:stretch>
            <a:fillRect/>
          </a:stretch>
        </p:blipFill>
        <p:spPr>
          <a:xfrm>
            <a:off x="1445849" y="4873752"/>
            <a:ext cx="201168" cy="201168"/>
          </a:xfrm>
          <a:prstGeom prst="rect">
            <a:avLst/>
          </a:prstGeom>
        </p:spPr>
      </p:pic>
      <p:sp>
        <p:nvSpPr>
          <p:cNvPr id="35" name="flow-chip"/>
          <p:cNvSpPr/>
          <p:nvPr/>
        </p:nvSpPr>
        <p:spPr>
          <a:xfrm>
            <a:off x="1692737" y="4782312"/>
            <a:ext cx="627644" cy="384048"/>
          </a:xfrm>
          <a:prstGeom prst="roundRect">
            <a:avLst>
              <a:gd name="adj" fmla="val 50000"/>
            </a:avLst>
          </a:prstGeom>
          <a:solidFill>
            <a:srgbClr val="F1F7F7"/>
          </a:solidFill>
          <a:ln w="12700">
            <a:solidFill>
              <a:srgbClr val="0E7C76"/>
            </a:solidFill>
            <a:prstDash val="solid"/>
          </a:ln>
        </p:spPr>
      </p:sp>
      <p:sp>
        <p:nvSpPr>
          <p:cNvPr id="36" name="Text 33"/>
          <p:cNvSpPr txBox="1"/>
          <p:nvPr/>
        </p:nvSpPr>
        <p:spPr>
          <a:xfrm>
            <a:off x="1692737" y="4782312"/>
            <a:ext cx="627644" cy="384048"/>
          </a:xfrm>
          <a:prstGeom prst="rect">
            <a:avLst/>
          </a:prstGeom>
          <a:noFill/>
          <a:ln/>
        </p:spPr>
        <p:txBody>
          <a:bodyPr wrap="square" lIns="0" tIns="0" rIns="0" bIns="0" rtlCol="0" anchor="ctr"/>
          <a:lstStyle/>
          <a:p>
            <a:pPr algn="ctr" indent="0" marL="0">
              <a:buNone/>
            </a:pPr>
            <a:r>
              <a:rPr lang="en-US" sz="1200" b="1" dirty="0">
                <a:solidFill>
                  <a:srgbClr val="0E7C76"/>
                </a:solidFill>
                <a:latin typeface="Calibri" pitchFamily="34" charset="0"/>
                <a:ea typeface="Calibri" pitchFamily="34" charset="-122"/>
                <a:cs typeface="Calibri" pitchFamily="34" charset="-120"/>
              </a:rPr>
              <a:t>Paid</a:t>
            </a:r>
            <a:endParaRPr lang="en-US" sz="1200" dirty="0"/>
          </a:p>
        </p:txBody>
      </p:sp>
      <p:sp>
        <p:nvSpPr>
          <p:cNvPr id="37" name="icon-bg"/>
          <p:cNvSpPr/>
          <p:nvPr/>
        </p:nvSpPr>
        <p:spPr>
          <a:xfrm>
            <a:off x="548640" y="5376672"/>
            <a:ext cx="384048" cy="384048"/>
          </a:xfrm>
          <a:prstGeom prst="ellipse">
            <a:avLst/>
          </a:prstGeom>
          <a:solidFill>
            <a:srgbClr val="F4B942"/>
          </a:solidFill>
          <a:ln w="12700">
            <a:solidFill>
              <a:srgbClr val="F4B942"/>
            </a:solidFill>
            <a:prstDash val="solid"/>
          </a:ln>
        </p:spPr>
      </p:sp>
      <p:pic>
        <p:nvPicPr>
          <p:cNvPr id="38" name="icon" descr="preencoded.png">    </p:cNvPr>
          <p:cNvPicPr>
            <a:picLocks noChangeAspect="1"/>
          </p:cNvPicPr>
          <p:nvPr/>
        </p:nvPicPr>
        <p:blipFill>
          <a:blip r:embed="rId2"/>
          <a:stretch>
            <a:fillRect/>
          </a:stretch>
        </p:blipFill>
        <p:spPr>
          <a:xfrm>
            <a:off x="640812" y="5468844"/>
            <a:ext cx="199705" cy="199705"/>
          </a:xfrm>
          <a:prstGeom prst="rect">
            <a:avLst/>
          </a:prstGeom>
        </p:spPr>
      </p:pic>
      <p:sp>
        <p:nvSpPr>
          <p:cNvPr id="39" name="Text 35"/>
          <p:cNvSpPr txBox="1"/>
          <p:nvPr/>
        </p:nvSpPr>
        <p:spPr>
          <a:xfrm>
            <a:off x="1051560" y="5340096"/>
            <a:ext cx="4572000" cy="548640"/>
          </a:xfrm>
          <a:prstGeom prst="rect">
            <a:avLst/>
          </a:prstGeom>
          <a:noFill/>
          <a:ln/>
        </p:spPr>
        <p:txBody>
          <a:bodyPr wrap="square" lIns="0" tIns="0" rIns="0" bIns="0" rtlCol="0" anchor="ctr"/>
          <a:lstStyle/>
          <a:p>
            <a:pPr indent="0" marL="0">
              <a:buNone/>
            </a:pPr>
            <a:r>
              <a:rPr lang="en-US" sz="1150" dirty="0">
                <a:solidFill>
                  <a:srgbClr val="0B2135"/>
                </a:solidFill>
                <a:latin typeface="Calibri" pitchFamily="34" charset="0"/>
                <a:ea typeface="Calibri" pitchFamily="34" charset="-122"/>
                <a:cs typeface="Calibri" pitchFamily="34" charset="-120"/>
              </a:rPr>
              <a:t>Saving a payment sends the owner a WhatsApp receipt (simulated); the proof can be opened from the list.</a:t>
            </a:r>
            <a:endParaRPr lang="en-US" sz="1150" dirty="0"/>
          </a:p>
        </p:txBody>
      </p:sp>
      <p:pic>
        <p:nvPicPr>
          <p:cNvPr id="40" name="screenshot" descr="img/p_payments.png">    </p:cNvPr>
          <p:cNvPicPr>
            <a:picLocks noChangeAspect="1"/>
          </p:cNvPicPr>
          <p:nvPr/>
        </p:nvPicPr>
        <p:blipFill>
          <a:blip r:embed="rId3"/>
          <a:stretch>
            <a:fillRect/>
          </a:stretch>
        </p:blipFill>
        <p:spPr>
          <a:xfrm>
            <a:off x="5989320" y="1261872"/>
            <a:ext cx="5669280" cy="2134445"/>
          </a:xfrm>
          <a:prstGeom prst="rect">
            <a:avLst/>
          </a:prstGeom>
          <a:effectLst>
            <a:outerShdw sx="100000" sy="100000" kx="0" ky="0" algn="bl" rotWithShape="0" blurRad="228600" dist="50800" dir="5400000">
              <a:srgbClr val="0B2135">
                <a:alpha val="22000"/>
              </a:srgbClr>
            </a:outerShdw>
          </a:effectLst>
        </p:spPr>
      </p:pic>
      <p:pic>
        <p:nvPicPr>
          <p:cNvPr id="41" name="form-inset" descr="img/modal_payment.png">    </p:cNvPr>
          <p:cNvPicPr>
            <a:picLocks noChangeAspect="1"/>
          </p:cNvPicPr>
          <p:nvPr/>
        </p:nvPicPr>
        <p:blipFill>
          <a:blip r:embed="rId4"/>
          <a:stretch>
            <a:fillRect/>
          </a:stretch>
        </p:blipFill>
        <p:spPr>
          <a:xfrm>
            <a:off x="9356760" y="3429000"/>
            <a:ext cx="2210400" cy="2743200"/>
          </a:xfrm>
          <a:prstGeom prst="rect">
            <a:avLst/>
          </a:prstGeom>
          <a:effectLst>
            <a:outerShdw sx="100000" sy="100000" kx="0" ky="0" algn="bl" rotWithShape="0" blurRad="279400" dist="63500" dir="5400000">
              <a:srgbClr val="0B2135">
                <a:alpha val="30000"/>
              </a:srgbClr>
            </a:outerShdw>
          </a:effectLst>
        </p:spPr>
      </p:pic>
      <p:sp>
        <p:nvSpPr>
          <p:cNvPr id="42" name="Text 36"/>
          <p:cNvSpPr txBox="1"/>
          <p:nvPr/>
        </p:nvSpPr>
        <p:spPr>
          <a:xfrm>
            <a:off x="5989320" y="3670637"/>
            <a:ext cx="310896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SUMMARY CARDS ON THIS PAGE</a:t>
            </a:r>
            <a:endParaRPr lang="en-US" sz="1000" dirty="0"/>
          </a:p>
        </p:txBody>
      </p:sp>
      <p:sp>
        <p:nvSpPr>
          <p:cNvPr id="43" name="dot"/>
          <p:cNvSpPr/>
          <p:nvPr/>
        </p:nvSpPr>
        <p:spPr>
          <a:xfrm>
            <a:off x="5989320" y="4054685"/>
            <a:ext cx="128016" cy="128016"/>
          </a:xfrm>
          <a:prstGeom prst="ellipse">
            <a:avLst/>
          </a:prstGeom>
          <a:solidFill>
            <a:srgbClr val="13A89E"/>
          </a:solidFill>
          <a:ln w="12700">
            <a:solidFill>
              <a:srgbClr val="13A89E"/>
            </a:solidFill>
            <a:prstDash val="solid"/>
          </a:ln>
        </p:spPr>
      </p:sp>
      <p:sp>
        <p:nvSpPr>
          <p:cNvPr id="44" name="Text 38"/>
          <p:cNvSpPr txBox="1"/>
          <p:nvPr/>
        </p:nvSpPr>
        <p:spPr>
          <a:xfrm>
            <a:off x="6217920" y="3963245"/>
            <a:ext cx="2743200" cy="310896"/>
          </a:xfrm>
          <a:prstGeom prst="rect">
            <a:avLst/>
          </a:prstGeom>
          <a:noFill/>
          <a:ln/>
        </p:spPr>
        <p:txBody>
          <a:bodyPr wrap="square" lIns="0" tIns="0" rIns="0" bIns="0" rtlCol="0" anchor="ctr"/>
          <a:lstStyle/>
          <a:p>
            <a:pPr indent="0" marL="0">
              <a:buNone/>
            </a:pPr>
            <a:r>
              <a:rPr lang="en-US" sz="1200" dirty="0">
                <a:solidFill>
                  <a:srgbClr val="0B2135"/>
                </a:solidFill>
                <a:latin typeface="Calibri" pitchFamily="34" charset="0"/>
                <a:ea typeface="Calibri" pitchFamily="34" charset="-122"/>
                <a:cs typeface="Calibri" pitchFamily="34" charset="-120"/>
              </a:rPr>
              <a:t>Total collected (Paid only)</a:t>
            </a:r>
            <a:endParaRPr lang="en-US" sz="1200" dirty="0"/>
          </a:p>
        </p:txBody>
      </p:sp>
      <p:sp>
        <p:nvSpPr>
          <p:cNvPr id="45" name="dot"/>
          <p:cNvSpPr/>
          <p:nvPr/>
        </p:nvSpPr>
        <p:spPr>
          <a:xfrm>
            <a:off x="5989320" y="4438733"/>
            <a:ext cx="128016" cy="128016"/>
          </a:xfrm>
          <a:prstGeom prst="ellipse">
            <a:avLst/>
          </a:prstGeom>
          <a:solidFill>
            <a:srgbClr val="F4B942"/>
          </a:solidFill>
          <a:ln w="12700">
            <a:solidFill>
              <a:srgbClr val="F4B942"/>
            </a:solidFill>
            <a:prstDash val="solid"/>
          </a:ln>
        </p:spPr>
      </p:sp>
      <p:sp>
        <p:nvSpPr>
          <p:cNvPr id="46" name="Text 40"/>
          <p:cNvSpPr txBox="1"/>
          <p:nvPr/>
        </p:nvSpPr>
        <p:spPr>
          <a:xfrm>
            <a:off x="6217920" y="4347293"/>
            <a:ext cx="2743200" cy="310896"/>
          </a:xfrm>
          <a:prstGeom prst="rect">
            <a:avLst/>
          </a:prstGeom>
          <a:noFill/>
          <a:ln/>
        </p:spPr>
        <p:txBody>
          <a:bodyPr wrap="square" lIns="0" tIns="0" rIns="0" bIns="0" rtlCol="0" anchor="ctr"/>
          <a:lstStyle/>
          <a:p>
            <a:pPr indent="0" marL="0">
              <a:buNone/>
            </a:pPr>
            <a:r>
              <a:rPr lang="en-US" sz="1200" dirty="0">
                <a:solidFill>
                  <a:srgbClr val="0B2135"/>
                </a:solidFill>
                <a:latin typeface="Calibri" pitchFamily="34" charset="0"/>
                <a:ea typeface="Calibri" pitchFamily="34" charset="-122"/>
                <a:cs typeface="Calibri" pitchFamily="34" charset="-120"/>
              </a:rPr>
              <a:t>Pending dues (everything not Paid)</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t"/>
          <a:lstStyle/>
          <a:p>
            <a:pPr indent="0" marL="0">
              <a:buNone/>
            </a:pPr>
            <a:r>
              <a:rPr lang="en-US" sz="1100" b="1" spc="300" kern="0" dirty="0">
                <a:solidFill>
                  <a:srgbClr val="0E7C76"/>
                </a:solidFill>
                <a:latin typeface="Calibri" pitchFamily="34" charset="0"/>
                <a:ea typeface="Calibri" pitchFamily="34" charset="-122"/>
                <a:cs typeface="Calibri" pitchFamily="34" charset="-120"/>
              </a:rPr>
              <a:t>MODULE 09 · MONEY  ·  EXPENSES</a:t>
            </a:r>
            <a:endParaRPr lang="en-US" sz="1100" dirty="0"/>
          </a:p>
        </p:txBody>
      </p:sp>
      <p:sp>
        <p:nvSpPr>
          <p:cNvPr id="3" name="Text 1"/>
          <p:cNvSpPr/>
          <p:nvPr>
            <p:ph idx="101" type="title" hasCustomPrompt="1"/>
          </p:nvPr>
        </p:nvSpPr>
        <p:spPr>
          <a:xfrm>
            <a:off x="548640" y="457200"/>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Expenses: where the money goes</a:t>
            </a:r>
            <a:endParaRPr lang="en-US" sz="3000" dirty="0"/>
          </a:p>
        </p:txBody>
      </p:sp>
      <p:sp>
        <p:nvSpPr>
          <p:cNvPr id="4" name="Text 2"/>
          <p:cNvSpPr txBox="1"/>
          <p:nvPr/>
        </p:nvSpPr>
        <p:spPr>
          <a:xfrm>
            <a:off x="548640" y="1261872"/>
            <a:ext cx="5074920" cy="822960"/>
          </a:xfrm>
          <a:prstGeom prst="rect">
            <a:avLst/>
          </a:prstGeom>
          <a:noFill/>
          <a:ln/>
        </p:spPr>
        <p:txBody>
          <a:bodyPr wrap="square" lIns="0" tIns="0" rIns="0" bIns="0" rtlCol="0" anchor="t"/>
          <a:lstStyle/>
          <a:p>
            <a:pPr indent="0" marL="0">
              <a:buNone/>
            </a:pPr>
            <a:r>
              <a:rPr lang="en-US" sz="1400" dirty="0">
                <a:solidFill>
                  <a:srgbClr val="16384F"/>
                </a:solidFill>
                <a:latin typeface="Calibri" pitchFamily="34" charset="0"/>
                <a:ea typeface="Calibri" pitchFamily="34" charset="-122"/>
                <a:cs typeface="Calibri" pitchFamily="34" charset="-120"/>
              </a:rPr>
              <a:t>The other half of the ledger: every rupee spent, what it was for, and who was paid — with a separate stage for spends awaiting approval.</a:t>
            </a:r>
            <a:endParaRPr lang="en-US" sz="1400" dirty="0"/>
          </a:p>
        </p:txBody>
      </p:sp>
      <p:sp>
        <p:nvSpPr>
          <p:cNvPr id="5" name="Text 3"/>
          <p:cNvSpPr txBox="1"/>
          <p:nvPr/>
        </p:nvSpPr>
        <p:spPr>
          <a:xfrm>
            <a:off x="548640" y="2176272"/>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WHO USES IT</a:t>
            </a:r>
            <a:endParaRPr lang="en-US" sz="1000" dirty="0"/>
          </a:p>
        </p:txBody>
      </p:sp>
      <p:sp>
        <p:nvSpPr>
          <p:cNvPr id="6" name="role-chip"/>
          <p:cNvSpPr/>
          <p:nvPr/>
        </p:nvSpPr>
        <p:spPr>
          <a:xfrm>
            <a:off x="548640" y="2450592"/>
            <a:ext cx="1115751" cy="329184"/>
          </a:xfrm>
          <a:prstGeom prst="roundRect">
            <a:avLst>
              <a:gd name="adj" fmla="val 50000"/>
            </a:avLst>
          </a:prstGeom>
          <a:solidFill>
            <a:srgbClr val="0B2135"/>
          </a:solidFill>
          <a:ln w="12700">
            <a:solidFill>
              <a:srgbClr val="0B2135"/>
            </a:solidFill>
            <a:prstDash val="solid"/>
          </a:ln>
        </p:spPr>
      </p:sp>
      <p:sp>
        <p:nvSpPr>
          <p:cNvPr id="7" name="Text 5"/>
          <p:cNvSpPr txBox="1"/>
          <p:nvPr/>
        </p:nvSpPr>
        <p:spPr>
          <a:xfrm>
            <a:off x="548640" y="2450592"/>
            <a:ext cx="1115751"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Super Admin</a:t>
            </a:r>
            <a:endParaRPr lang="en-US" sz="1150" dirty="0"/>
          </a:p>
        </p:txBody>
      </p:sp>
      <p:sp>
        <p:nvSpPr>
          <p:cNvPr id="8" name="role-chip"/>
          <p:cNvSpPr/>
          <p:nvPr/>
        </p:nvSpPr>
        <p:spPr>
          <a:xfrm>
            <a:off x="1774119" y="2450592"/>
            <a:ext cx="972739" cy="329184"/>
          </a:xfrm>
          <a:prstGeom prst="roundRect">
            <a:avLst>
              <a:gd name="adj" fmla="val 50000"/>
            </a:avLst>
          </a:prstGeom>
          <a:solidFill>
            <a:srgbClr val="0E7C76"/>
          </a:solidFill>
          <a:ln w="12700">
            <a:solidFill>
              <a:srgbClr val="0E7C76"/>
            </a:solidFill>
            <a:prstDash val="solid"/>
          </a:ln>
        </p:spPr>
      </p:sp>
      <p:sp>
        <p:nvSpPr>
          <p:cNvPr id="9" name="Text 7"/>
          <p:cNvSpPr txBox="1"/>
          <p:nvPr/>
        </p:nvSpPr>
        <p:spPr>
          <a:xfrm>
            <a:off x="1774119" y="2450592"/>
            <a:ext cx="972739"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Volunteer</a:t>
            </a:r>
            <a:endParaRPr lang="en-US" sz="1150" dirty="0"/>
          </a:p>
        </p:txBody>
      </p:sp>
      <p:sp>
        <p:nvSpPr>
          <p:cNvPr id="10" name="Text 8"/>
          <p:cNvSpPr txBox="1"/>
          <p:nvPr/>
        </p:nvSpPr>
        <p:spPr>
          <a:xfrm>
            <a:off x="548640" y="2971800"/>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WHAT GETS RECORDED</a:t>
            </a:r>
            <a:endParaRPr lang="en-US" sz="1000" dirty="0"/>
          </a:p>
        </p:txBody>
      </p:sp>
      <p:sp>
        <p:nvSpPr>
          <p:cNvPr id="11" name="field-tag"/>
          <p:cNvSpPr/>
          <p:nvPr/>
        </p:nvSpPr>
        <p:spPr>
          <a:xfrm>
            <a:off x="548640" y="3246120"/>
            <a:ext cx="2468880" cy="310896"/>
          </a:xfrm>
          <a:prstGeom prst="roundRect">
            <a:avLst>
              <a:gd name="adj" fmla="val 17647"/>
            </a:avLst>
          </a:prstGeom>
          <a:solidFill>
            <a:srgbClr val="F1F7F7"/>
          </a:solidFill>
          <a:ln w="12700">
            <a:solidFill>
              <a:srgbClr val="F1F7F7"/>
            </a:solidFill>
            <a:prstDash val="solid"/>
          </a:ln>
        </p:spPr>
      </p:sp>
      <p:sp>
        <p:nvSpPr>
          <p:cNvPr id="12" name="dot"/>
          <p:cNvSpPr/>
          <p:nvPr/>
        </p:nvSpPr>
        <p:spPr>
          <a:xfrm>
            <a:off x="658368" y="3364992"/>
            <a:ext cx="73152" cy="73152"/>
          </a:xfrm>
          <a:prstGeom prst="ellipse">
            <a:avLst/>
          </a:prstGeom>
          <a:solidFill>
            <a:srgbClr val="13A89E"/>
          </a:solidFill>
          <a:ln w="12700">
            <a:solidFill>
              <a:srgbClr val="13A89E"/>
            </a:solidFill>
            <a:prstDash val="solid"/>
          </a:ln>
        </p:spPr>
      </p:sp>
      <p:sp>
        <p:nvSpPr>
          <p:cNvPr id="13" name="Text 11"/>
          <p:cNvSpPr txBox="1"/>
          <p:nvPr/>
        </p:nvSpPr>
        <p:spPr>
          <a:xfrm>
            <a:off x="804672" y="3246120"/>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Expense title</a:t>
            </a:r>
            <a:endParaRPr lang="en-US" sz="1100" dirty="0"/>
          </a:p>
        </p:txBody>
      </p:sp>
      <p:sp>
        <p:nvSpPr>
          <p:cNvPr id="14" name="field-tag"/>
          <p:cNvSpPr/>
          <p:nvPr/>
        </p:nvSpPr>
        <p:spPr>
          <a:xfrm>
            <a:off x="3154680" y="3246120"/>
            <a:ext cx="2468880" cy="310896"/>
          </a:xfrm>
          <a:prstGeom prst="roundRect">
            <a:avLst>
              <a:gd name="adj" fmla="val 17647"/>
            </a:avLst>
          </a:prstGeom>
          <a:solidFill>
            <a:srgbClr val="F1F7F7"/>
          </a:solidFill>
          <a:ln w="12700">
            <a:solidFill>
              <a:srgbClr val="F1F7F7"/>
            </a:solidFill>
            <a:prstDash val="solid"/>
          </a:ln>
        </p:spPr>
      </p:sp>
      <p:sp>
        <p:nvSpPr>
          <p:cNvPr id="15" name="dot"/>
          <p:cNvSpPr/>
          <p:nvPr/>
        </p:nvSpPr>
        <p:spPr>
          <a:xfrm>
            <a:off x="3264408" y="3364992"/>
            <a:ext cx="73152" cy="73152"/>
          </a:xfrm>
          <a:prstGeom prst="ellipse">
            <a:avLst/>
          </a:prstGeom>
          <a:solidFill>
            <a:srgbClr val="13A89E"/>
          </a:solidFill>
          <a:ln w="12700">
            <a:solidFill>
              <a:srgbClr val="13A89E"/>
            </a:solidFill>
            <a:prstDash val="solid"/>
          </a:ln>
        </p:spPr>
      </p:sp>
      <p:sp>
        <p:nvSpPr>
          <p:cNvPr id="16" name="Text 14"/>
          <p:cNvSpPr txBox="1"/>
          <p:nvPr/>
        </p:nvSpPr>
        <p:spPr>
          <a:xfrm>
            <a:off x="3410712" y="3246120"/>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Category (5 types)</a:t>
            </a:r>
            <a:endParaRPr lang="en-US" sz="1100" dirty="0"/>
          </a:p>
        </p:txBody>
      </p:sp>
      <p:sp>
        <p:nvSpPr>
          <p:cNvPr id="17" name="field-tag"/>
          <p:cNvSpPr/>
          <p:nvPr/>
        </p:nvSpPr>
        <p:spPr>
          <a:xfrm>
            <a:off x="548640" y="3630168"/>
            <a:ext cx="2468880" cy="310896"/>
          </a:xfrm>
          <a:prstGeom prst="roundRect">
            <a:avLst>
              <a:gd name="adj" fmla="val 17647"/>
            </a:avLst>
          </a:prstGeom>
          <a:solidFill>
            <a:srgbClr val="F1F7F7"/>
          </a:solidFill>
          <a:ln w="12700">
            <a:solidFill>
              <a:srgbClr val="F1F7F7"/>
            </a:solidFill>
            <a:prstDash val="solid"/>
          </a:ln>
        </p:spPr>
      </p:sp>
      <p:sp>
        <p:nvSpPr>
          <p:cNvPr id="18" name="dot"/>
          <p:cNvSpPr/>
          <p:nvPr/>
        </p:nvSpPr>
        <p:spPr>
          <a:xfrm>
            <a:off x="658368" y="3749040"/>
            <a:ext cx="73152" cy="73152"/>
          </a:xfrm>
          <a:prstGeom prst="ellipse">
            <a:avLst/>
          </a:prstGeom>
          <a:solidFill>
            <a:srgbClr val="13A89E"/>
          </a:solidFill>
          <a:ln w="12700">
            <a:solidFill>
              <a:srgbClr val="13A89E"/>
            </a:solidFill>
            <a:prstDash val="solid"/>
          </a:ln>
        </p:spPr>
      </p:sp>
      <p:sp>
        <p:nvSpPr>
          <p:cNvPr id="19" name="Text 17"/>
          <p:cNvSpPr txBox="1"/>
          <p:nvPr/>
        </p:nvSpPr>
        <p:spPr>
          <a:xfrm>
            <a:off x="804672" y="3630168"/>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Amount (₹)</a:t>
            </a:r>
            <a:endParaRPr lang="en-US" sz="1100" dirty="0"/>
          </a:p>
        </p:txBody>
      </p:sp>
      <p:sp>
        <p:nvSpPr>
          <p:cNvPr id="20" name="field-tag"/>
          <p:cNvSpPr/>
          <p:nvPr/>
        </p:nvSpPr>
        <p:spPr>
          <a:xfrm>
            <a:off x="3154680" y="3630168"/>
            <a:ext cx="2468880" cy="310896"/>
          </a:xfrm>
          <a:prstGeom prst="roundRect">
            <a:avLst>
              <a:gd name="adj" fmla="val 17647"/>
            </a:avLst>
          </a:prstGeom>
          <a:solidFill>
            <a:srgbClr val="F1F7F7"/>
          </a:solidFill>
          <a:ln w="12700">
            <a:solidFill>
              <a:srgbClr val="F1F7F7"/>
            </a:solidFill>
            <a:prstDash val="solid"/>
          </a:ln>
        </p:spPr>
      </p:sp>
      <p:sp>
        <p:nvSpPr>
          <p:cNvPr id="21" name="dot"/>
          <p:cNvSpPr/>
          <p:nvPr/>
        </p:nvSpPr>
        <p:spPr>
          <a:xfrm>
            <a:off x="3264408" y="3749040"/>
            <a:ext cx="73152" cy="73152"/>
          </a:xfrm>
          <a:prstGeom prst="ellipse">
            <a:avLst/>
          </a:prstGeom>
          <a:solidFill>
            <a:srgbClr val="13A89E"/>
          </a:solidFill>
          <a:ln w="12700">
            <a:solidFill>
              <a:srgbClr val="13A89E"/>
            </a:solidFill>
            <a:prstDash val="solid"/>
          </a:ln>
        </p:spPr>
      </p:sp>
      <p:sp>
        <p:nvSpPr>
          <p:cNvPr id="22" name="Text 20"/>
          <p:cNvSpPr txBox="1"/>
          <p:nvPr/>
        </p:nvSpPr>
        <p:spPr>
          <a:xfrm>
            <a:off x="3410712" y="3630168"/>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Vendor / payee</a:t>
            </a:r>
            <a:endParaRPr lang="en-US" sz="1100" dirty="0"/>
          </a:p>
        </p:txBody>
      </p:sp>
      <p:sp>
        <p:nvSpPr>
          <p:cNvPr id="23" name="field-tag"/>
          <p:cNvSpPr/>
          <p:nvPr/>
        </p:nvSpPr>
        <p:spPr>
          <a:xfrm>
            <a:off x="548640" y="4014216"/>
            <a:ext cx="2468880" cy="310896"/>
          </a:xfrm>
          <a:prstGeom prst="roundRect">
            <a:avLst>
              <a:gd name="adj" fmla="val 17647"/>
            </a:avLst>
          </a:prstGeom>
          <a:solidFill>
            <a:srgbClr val="F1F7F7"/>
          </a:solidFill>
          <a:ln w="12700">
            <a:solidFill>
              <a:srgbClr val="F1F7F7"/>
            </a:solidFill>
            <a:prstDash val="solid"/>
          </a:ln>
        </p:spPr>
      </p:sp>
      <p:sp>
        <p:nvSpPr>
          <p:cNvPr id="24" name="dot"/>
          <p:cNvSpPr/>
          <p:nvPr/>
        </p:nvSpPr>
        <p:spPr>
          <a:xfrm>
            <a:off x="658368" y="4133088"/>
            <a:ext cx="73152" cy="73152"/>
          </a:xfrm>
          <a:prstGeom prst="ellipse">
            <a:avLst/>
          </a:prstGeom>
          <a:solidFill>
            <a:srgbClr val="13A89E"/>
          </a:solidFill>
          <a:ln w="12700">
            <a:solidFill>
              <a:srgbClr val="13A89E"/>
            </a:solidFill>
            <a:prstDash val="solid"/>
          </a:ln>
        </p:spPr>
      </p:sp>
      <p:sp>
        <p:nvSpPr>
          <p:cNvPr id="25" name="Text 23"/>
          <p:cNvSpPr txBox="1"/>
          <p:nvPr/>
        </p:nvSpPr>
        <p:spPr>
          <a:xfrm>
            <a:off x="804672" y="4014216"/>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Phase and sector</a:t>
            </a:r>
            <a:endParaRPr lang="en-US" sz="1100" dirty="0"/>
          </a:p>
        </p:txBody>
      </p:sp>
      <p:sp>
        <p:nvSpPr>
          <p:cNvPr id="26" name="field-tag"/>
          <p:cNvSpPr/>
          <p:nvPr/>
        </p:nvSpPr>
        <p:spPr>
          <a:xfrm>
            <a:off x="3154680" y="4014216"/>
            <a:ext cx="2468880" cy="310896"/>
          </a:xfrm>
          <a:prstGeom prst="roundRect">
            <a:avLst>
              <a:gd name="adj" fmla="val 17647"/>
            </a:avLst>
          </a:prstGeom>
          <a:solidFill>
            <a:srgbClr val="F1F7F7"/>
          </a:solidFill>
          <a:ln w="12700">
            <a:solidFill>
              <a:srgbClr val="F1F7F7"/>
            </a:solidFill>
            <a:prstDash val="solid"/>
          </a:ln>
        </p:spPr>
      </p:sp>
      <p:sp>
        <p:nvSpPr>
          <p:cNvPr id="27" name="dot"/>
          <p:cNvSpPr/>
          <p:nvPr/>
        </p:nvSpPr>
        <p:spPr>
          <a:xfrm>
            <a:off x="3264408" y="4133088"/>
            <a:ext cx="73152" cy="73152"/>
          </a:xfrm>
          <a:prstGeom prst="ellipse">
            <a:avLst/>
          </a:prstGeom>
          <a:solidFill>
            <a:srgbClr val="13A89E"/>
          </a:solidFill>
          <a:ln w="12700">
            <a:solidFill>
              <a:srgbClr val="13A89E"/>
            </a:solidFill>
            <a:prstDash val="solid"/>
          </a:ln>
        </p:spPr>
      </p:sp>
      <p:sp>
        <p:nvSpPr>
          <p:cNvPr id="28" name="Text 26"/>
          <p:cNvSpPr txBox="1"/>
          <p:nvPr/>
        </p:nvSpPr>
        <p:spPr>
          <a:xfrm>
            <a:off x="3410712" y="4014216"/>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Date (auto)</a:t>
            </a:r>
            <a:endParaRPr lang="en-US" sz="1100" dirty="0"/>
          </a:p>
        </p:txBody>
      </p:sp>
      <p:sp>
        <p:nvSpPr>
          <p:cNvPr id="29" name="Text 27"/>
          <p:cNvSpPr txBox="1"/>
          <p:nvPr/>
        </p:nvSpPr>
        <p:spPr>
          <a:xfrm>
            <a:off x="548640" y="4507992"/>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EXPENSE STATUS</a:t>
            </a:r>
            <a:endParaRPr lang="en-US" sz="1000" dirty="0"/>
          </a:p>
        </p:txBody>
      </p:sp>
      <p:sp>
        <p:nvSpPr>
          <p:cNvPr id="30" name="flow-chip"/>
          <p:cNvSpPr/>
          <p:nvPr/>
        </p:nvSpPr>
        <p:spPr>
          <a:xfrm>
            <a:off x="548640" y="4782312"/>
            <a:ext cx="1523025" cy="384048"/>
          </a:xfrm>
          <a:prstGeom prst="roundRect">
            <a:avLst>
              <a:gd name="adj" fmla="val 50000"/>
            </a:avLst>
          </a:prstGeom>
          <a:solidFill>
            <a:srgbClr val="F1F7F7"/>
          </a:solidFill>
          <a:ln w="12700">
            <a:solidFill>
              <a:srgbClr val="B57A0C"/>
            </a:solidFill>
            <a:prstDash val="solid"/>
          </a:ln>
        </p:spPr>
      </p:sp>
      <p:sp>
        <p:nvSpPr>
          <p:cNvPr id="31" name="Text 29"/>
          <p:cNvSpPr txBox="1"/>
          <p:nvPr/>
        </p:nvSpPr>
        <p:spPr>
          <a:xfrm>
            <a:off x="548640" y="4782312"/>
            <a:ext cx="1523025" cy="384048"/>
          </a:xfrm>
          <a:prstGeom prst="rect">
            <a:avLst/>
          </a:prstGeom>
          <a:noFill/>
          <a:ln/>
        </p:spPr>
        <p:txBody>
          <a:bodyPr wrap="square" lIns="0" tIns="0" rIns="0" bIns="0" rtlCol="0" anchor="ctr"/>
          <a:lstStyle/>
          <a:p>
            <a:pPr algn="ctr" indent="0" marL="0">
              <a:buNone/>
            </a:pPr>
            <a:r>
              <a:rPr lang="en-US" sz="1200" b="1" dirty="0">
                <a:solidFill>
                  <a:srgbClr val="B57A0C"/>
                </a:solidFill>
                <a:latin typeface="Calibri" pitchFamily="34" charset="0"/>
                <a:ea typeface="Calibri" pitchFamily="34" charset="-122"/>
                <a:cs typeface="Calibri" pitchFamily="34" charset="-120"/>
              </a:rPr>
              <a:t>Pending Approval</a:t>
            </a:r>
            <a:endParaRPr lang="en-US" sz="1200" dirty="0"/>
          </a:p>
        </p:txBody>
      </p:sp>
      <p:pic>
        <p:nvPicPr>
          <p:cNvPr id="32" name="arrow" descr="preencoded.png">    </p:cNvPr>
          <p:cNvPicPr>
            <a:picLocks noChangeAspect="1"/>
          </p:cNvPicPr>
          <p:nvPr/>
        </p:nvPicPr>
        <p:blipFill>
          <a:blip r:embed="rId1"/>
          <a:stretch>
            <a:fillRect/>
          </a:stretch>
        </p:blipFill>
        <p:spPr>
          <a:xfrm>
            <a:off x="2117385" y="4873752"/>
            <a:ext cx="201168" cy="201168"/>
          </a:xfrm>
          <a:prstGeom prst="rect">
            <a:avLst/>
          </a:prstGeom>
        </p:spPr>
      </p:pic>
      <p:sp>
        <p:nvSpPr>
          <p:cNvPr id="33" name="flow-chip"/>
          <p:cNvSpPr/>
          <p:nvPr/>
        </p:nvSpPr>
        <p:spPr>
          <a:xfrm>
            <a:off x="2364273" y="4782312"/>
            <a:ext cx="627644" cy="384048"/>
          </a:xfrm>
          <a:prstGeom prst="roundRect">
            <a:avLst>
              <a:gd name="adj" fmla="val 50000"/>
            </a:avLst>
          </a:prstGeom>
          <a:solidFill>
            <a:srgbClr val="F1F7F7"/>
          </a:solidFill>
          <a:ln w="12700">
            <a:solidFill>
              <a:srgbClr val="0E7C76"/>
            </a:solidFill>
            <a:prstDash val="solid"/>
          </a:ln>
        </p:spPr>
      </p:sp>
      <p:sp>
        <p:nvSpPr>
          <p:cNvPr id="34" name="Text 31"/>
          <p:cNvSpPr txBox="1"/>
          <p:nvPr/>
        </p:nvSpPr>
        <p:spPr>
          <a:xfrm>
            <a:off x="2364273" y="4782312"/>
            <a:ext cx="627644" cy="384048"/>
          </a:xfrm>
          <a:prstGeom prst="rect">
            <a:avLst/>
          </a:prstGeom>
          <a:noFill/>
          <a:ln/>
        </p:spPr>
        <p:txBody>
          <a:bodyPr wrap="square" lIns="0" tIns="0" rIns="0" bIns="0" rtlCol="0" anchor="ctr"/>
          <a:lstStyle/>
          <a:p>
            <a:pPr algn="ctr" indent="0" marL="0">
              <a:buNone/>
            </a:pPr>
            <a:r>
              <a:rPr lang="en-US" sz="1200" b="1" dirty="0">
                <a:solidFill>
                  <a:srgbClr val="0E7C76"/>
                </a:solidFill>
                <a:latin typeface="Calibri" pitchFamily="34" charset="0"/>
                <a:ea typeface="Calibri" pitchFamily="34" charset="-122"/>
                <a:cs typeface="Calibri" pitchFamily="34" charset="-120"/>
              </a:rPr>
              <a:t>Paid</a:t>
            </a:r>
            <a:endParaRPr lang="en-US" sz="1200" dirty="0"/>
          </a:p>
        </p:txBody>
      </p:sp>
      <p:sp>
        <p:nvSpPr>
          <p:cNvPr id="35" name="icon-bg"/>
          <p:cNvSpPr/>
          <p:nvPr/>
        </p:nvSpPr>
        <p:spPr>
          <a:xfrm>
            <a:off x="548640" y="5376672"/>
            <a:ext cx="384048" cy="384048"/>
          </a:xfrm>
          <a:prstGeom prst="ellipse">
            <a:avLst/>
          </a:prstGeom>
          <a:solidFill>
            <a:srgbClr val="F4B942"/>
          </a:solidFill>
          <a:ln w="12700">
            <a:solidFill>
              <a:srgbClr val="F4B942"/>
            </a:solidFill>
            <a:prstDash val="solid"/>
          </a:ln>
        </p:spPr>
      </p:sp>
      <p:pic>
        <p:nvPicPr>
          <p:cNvPr id="36" name="icon" descr="preencoded.png">    </p:cNvPr>
          <p:cNvPicPr>
            <a:picLocks noChangeAspect="1"/>
          </p:cNvPicPr>
          <p:nvPr/>
        </p:nvPicPr>
        <p:blipFill>
          <a:blip r:embed="rId2"/>
          <a:stretch>
            <a:fillRect/>
          </a:stretch>
        </p:blipFill>
        <p:spPr>
          <a:xfrm>
            <a:off x="640812" y="5468844"/>
            <a:ext cx="199705" cy="199705"/>
          </a:xfrm>
          <a:prstGeom prst="rect">
            <a:avLst/>
          </a:prstGeom>
        </p:spPr>
      </p:pic>
      <p:sp>
        <p:nvSpPr>
          <p:cNvPr id="37" name="Text 33"/>
          <p:cNvSpPr txBox="1"/>
          <p:nvPr/>
        </p:nvSpPr>
        <p:spPr>
          <a:xfrm>
            <a:off x="1051560" y="5340096"/>
            <a:ext cx="4572000" cy="548640"/>
          </a:xfrm>
          <a:prstGeom prst="rect">
            <a:avLst/>
          </a:prstGeom>
          <a:noFill/>
          <a:ln/>
        </p:spPr>
        <p:txBody>
          <a:bodyPr wrap="square" lIns="0" tIns="0" rIns="0" bIns="0" rtlCol="0" anchor="ctr"/>
          <a:lstStyle/>
          <a:p>
            <a:pPr indent="0" marL="0">
              <a:buNone/>
            </a:pPr>
            <a:r>
              <a:rPr lang="en-US" sz="1150" dirty="0">
                <a:solidFill>
                  <a:srgbClr val="0B2135"/>
                </a:solidFill>
                <a:latin typeface="Calibri" pitchFamily="34" charset="0"/>
                <a:ea typeface="Calibri" pitchFamily="34" charset="-122"/>
                <a:cs typeface="Calibri" pitchFamily="34" charset="-120"/>
              </a:rPr>
              <a:t>Categories: maintenance, security services, utilities (water / electricity), events, other.</a:t>
            </a:r>
            <a:endParaRPr lang="en-US" sz="1150" dirty="0"/>
          </a:p>
        </p:txBody>
      </p:sp>
      <p:pic>
        <p:nvPicPr>
          <p:cNvPr id="38" name="screenshot" descr="img/p_expenses.png">    </p:cNvPr>
          <p:cNvPicPr>
            <a:picLocks noChangeAspect="1"/>
          </p:cNvPicPr>
          <p:nvPr/>
        </p:nvPicPr>
        <p:blipFill>
          <a:blip r:embed="rId3"/>
          <a:stretch>
            <a:fillRect/>
          </a:stretch>
        </p:blipFill>
        <p:spPr>
          <a:xfrm>
            <a:off x="5989320" y="1261872"/>
            <a:ext cx="5669280" cy="2405313"/>
          </a:xfrm>
          <a:prstGeom prst="rect">
            <a:avLst/>
          </a:prstGeom>
          <a:effectLst>
            <a:outerShdw sx="100000" sy="100000" kx="0" ky="0" algn="bl" rotWithShape="0" blurRad="228600" dist="50800" dir="5400000">
              <a:srgbClr val="0B2135">
                <a:alpha val="22000"/>
              </a:srgbClr>
            </a:outerShdw>
          </a:effectLst>
        </p:spPr>
      </p:pic>
      <p:pic>
        <p:nvPicPr>
          <p:cNvPr id="39" name="form-inset" descr="img/modal_expense.png">    </p:cNvPr>
          <p:cNvPicPr>
            <a:picLocks noChangeAspect="1"/>
          </p:cNvPicPr>
          <p:nvPr/>
        </p:nvPicPr>
        <p:blipFill>
          <a:blip r:embed="rId4"/>
          <a:stretch>
            <a:fillRect/>
          </a:stretch>
        </p:blipFill>
        <p:spPr>
          <a:xfrm>
            <a:off x="9316483" y="3657600"/>
            <a:ext cx="2250677" cy="2514600"/>
          </a:xfrm>
          <a:prstGeom prst="rect">
            <a:avLst/>
          </a:prstGeom>
          <a:effectLst>
            <a:outerShdw sx="100000" sy="100000" kx="0" ky="0" algn="bl" rotWithShape="0" blurRad="279400" dist="63500" dir="5400000">
              <a:srgbClr val="0B2135">
                <a:alpha val="30000"/>
              </a:srgbClr>
            </a:outerShdw>
          </a:effectLst>
        </p:spPr>
      </p:pic>
      <p:sp>
        <p:nvSpPr>
          <p:cNvPr id="40" name="Text 34"/>
          <p:cNvSpPr txBox="1"/>
          <p:nvPr/>
        </p:nvSpPr>
        <p:spPr>
          <a:xfrm>
            <a:off x="5989320" y="3941505"/>
            <a:ext cx="310896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SUMMARY CARDS ON THIS PAGE</a:t>
            </a:r>
            <a:endParaRPr lang="en-US" sz="1000" dirty="0"/>
          </a:p>
        </p:txBody>
      </p:sp>
      <p:sp>
        <p:nvSpPr>
          <p:cNvPr id="41" name="dot"/>
          <p:cNvSpPr/>
          <p:nvPr/>
        </p:nvSpPr>
        <p:spPr>
          <a:xfrm>
            <a:off x="5989320" y="4325553"/>
            <a:ext cx="128016" cy="128016"/>
          </a:xfrm>
          <a:prstGeom prst="ellipse">
            <a:avLst/>
          </a:prstGeom>
          <a:solidFill>
            <a:srgbClr val="F0605D"/>
          </a:solidFill>
          <a:ln w="12700">
            <a:solidFill>
              <a:srgbClr val="F0605D"/>
            </a:solidFill>
            <a:prstDash val="solid"/>
          </a:ln>
        </p:spPr>
      </p:sp>
      <p:sp>
        <p:nvSpPr>
          <p:cNvPr id="42" name="Text 36"/>
          <p:cNvSpPr txBox="1"/>
          <p:nvPr/>
        </p:nvSpPr>
        <p:spPr>
          <a:xfrm>
            <a:off x="6217920" y="4234113"/>
            <a:ext cx="2743200" cy="310896"/>
          </a:xfrm>
          <a:prstGeom prst="rect">
            <a:avLst/>
          </a:prstGeom>
          <a:noFill/>
          <a:ln/>
        </p:spPr>
        <p:txBody>
          <a:bodyPr wrap="square" lIns="0" tIns="0" rIns="0" bIns="0" rtlCol="0" anchor="ctr"/>
          <a:lstStyle/>
          <a:p>
            <a:pPr indent="0" marL="0">
              <a:buNone/>
            </a:pPr>
            <a:r>
              <a:rPr lang="en-US" sz="1200" dirty="0">
                <a:solidFill>
                  <a:srgbClr val="0B2135"/>
                </a:solidFill>
                <a:latin typeface="Calibri" pitchFamily="34" charset="0"/>
                <a:ea typeface="Calibri" pitchFamily="34" charset="-122"/>
                <a:cs typeface="Calibri" pitchFamily="34" charset="-120"/>
              </a:rPr>
              <a:t>Total spent (Paid only)</a:t>
            </a:r>
            <a:endParaRPr lang="en-US" sz="1200" dirty="0"/>
          </a:p>
        </p:txBody>
      </p:sp>
      <p:sp>
        <p:nvSpPr>
          <p:cNvPr id="43" name="dot"/>
          <p:cNvSpPr/>
          <p:nvPr/>
        </p:nvSpPr>
        <p:spPr>
          <a:xfrm>
            <a:off x="5989320" y="4709601"/>
            <a:ext cx="128016" cy="128016"/>
          </a:xfrm>
          <a:prstGeom prst="ellipse">
            <a:avLst/>
          </a:prstGeom>
          <a:solidFill>
            <a:srgbClr val="F4B942"/>
          </a:solidFill>
          <a:ln w="12700">
            <a:solidFill>
              <a:srgbClr val="F4B942"/>
            </a:solidFill>
            <a:prstDash val="solid"/>
          </a:ln>
        </p:spPr>
      </p:sp>
      <p:sp>
        <p:nvSpPr>
          <p:cNvPr id="44" name="Text 38"/>
          <p:cNvSpPr txBox="1"/>
          <p:nvPr/>
        </p:nvSpPr>
        <p:spPr>
          <a:xfrm>
            <a:off x="6217920" y="4618161"/>
            <a:ext cx="2743200" cy="310896"/>
          </a:xfrm>
          <a:prstGeom prst="rect">
            <a:avLst/>
          </a:prstGeom>
          <a:noFill/>
          <a:ln/>
        </p:spPr>
        <p:txBody>
          <a:bodyPr wrap="square" lIns="0" tIns="0" rIns="0" bIns="0" rtlCol="0" anchor="ctr"/>
          <a:lstStyle/>
          <a:p>
            <a:pPr indent="0" marL="0">
              <a:buNone/>
            </a:pPr>
            <a:r>
              <a:rPr lang="en-US" sz="1200" dirty="0">
                <a:solidFill>
                  <a:srgbClr val="0B2135"/>
                </a:solidFill>
                <a:latin typeface="Calibri" pitchFamily="34" charset="0"/>
                <a:ea typeface="Calibri" pitchFamily="34" charset="-122"/>
                <a:cs typeface="Calibri" pitchFamily="34" charset="-120"/>
              </a:rPr>
              <a:t>Pending approvals</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t"/>
          <a:lstStyle/>
          <a:p>
            <a:pPr indent="0" marL="0">
              <a:buNone/>
            </a:pPr>
            <a:r>
              <a:rPr lang="en-US" sz="1100" b="1" spc="300" kern="0" dirty="0">
                <a:solidFill>
                  <a:srgbClr val="0E7C76"/>
                </a:solidFill>
                <a:latin typeface="Calibri" pitchFamily="34" charset="0"/>
                <a:ea typeface="Calibri" pitchFamily="34" charset="-122"/>
                <a:cs typeface="Calibri" pitchFamily="34" charset="-120"/>
              </a:rPr>
              <a:t>MONEY  ·  HOW IT ADDS UP</a:t>
            </a:r>
            <a:endParaRPr lang="en-US" sz="1100" dirty="0"/>
          </a:p>
        </p:txBody>
      </p:sp>
      <p:sp>
        <p:nvSpPr>
          <p:cNvPr id="3" name="Text 1"/>
          <p:cNvSpPr/>
          <p:nvPr>
            <p:ph idx="101" type="title" hasCustomPrompt="1"/>
          </p:nvPr>
        </p:nvSpPr>
        <p:spPr>
          <a:xfrm>
            <a:off x="548640" y="457200"/>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Collections − Expenses = Savings, for everyone to see</a:t>
            </a:r>
            <a:endParaRPr lang="en-US" sz="3000" dirty="0"/>
          </a:p>
        </p:txBody>
      </p:sp>
      <p:sp>
        <p:nvSpPr>
          <p:cNvPr id="4" name="card"/>
          <p:cNvSpPr/>
          <p:nvPr/>
        </p:nvSpPr>
        <p:spPr>
          <a:xfrm>
            <a:off x="548640" y="1417320"/>
            <a:ext cx="3291840" cy="1737360"/>
          </a:xfrm>
          <a:prstGeom prst="roundRect">
            <a:avLst>
              <a:gd name="adj" fmla="val 6316"/>
            </a:avLst>
          </a:prstGeom>
          <a:solidFill>
            <a:srgbClr val="FFFFFF"/>
          </a:solidFill>
          <a:ln w="9525">
            <a:solidFill>
              <a:srgbClr val="D5E3E3"/>
            </a:solidFill>
            <a:prstDash val="solid"/>
          </a:ln>
          <a:effectLst>
            <a:outerShdw sx="100000" sy="100000" kx="0" ky="0" algn="bl" rotWithShape="0" blurRad="152400" dist="38100" dir="5400000">
              <a:srgbClr val="0B2135">
                <a:alpha val="16000"/>
              </a:srgbClr>
            </a:outerShdw>
          </a:effectLst>
        </p:spPr>
      </p:sp>
      <p:sp>
        <p:nvSpPr>
          <p:cNvPr id="5" name="Text 3"/>
          <p:cNvSpPr txBox="1"/>
          <p:nvPr/>
        </p:nvSpPr>
        <p:spPr>
          <a:xfrm>
            <a:off x="822960" y="1600200"/>
            <a:ext cx="2743200" cy="320040"/>
          </a:xfrm>
          <a:prstGeom prst="rect">
            <a:avLst/>
          </a:prstGeom>
          <a:noFill/>
          <a:ln/>
        </p:spPr>
        <p:txBody>
          <a:bodyPr wrap="square" lIns="0" tIns="0" rIns="0" bIns="0" rtlCol="0" anchor="t"/>
          <a:lstStyle/>
          <a:p>
            <a:pPr indent="0" marL="0">
              <a:buNone/>
            </a:pPr>
            <a:r>
              <a:rPr lang="en-US" sz="1400" b="1" dirty="0">
                <a:solidFill>
                  <a:srgbClr val="5B6B78"/>
                </a:solidFill>
                <a:latin typeface="Calibri" pitchFamily="34" charset="0"/>
                <a:ea typeface="Calibri" pitchFamily="34" charset="-122"/>
                <a:cs typeface="Calibri" pitchFamily="34" charset="-120"/>
              </a:rPr>
              <a:t>Collections</a:t>
            </a:r>
            <a:endParaRPr lang="en-US" sz="1400" dirty="0"/>
          </a:p>
        </p:txBody>
      </p:sp>
      <p:sp>
        <p:nvSpPr>
          <p:cNvPr id="6" name="Text 4"/>
          <p:cNvSpPr txBox="1"/>
          <p:nvPr/>
        </p:nvSpPr>
        <p:spPr>
          <a:xfrm>
            <a:off x="822960" y="1920240"/>
            <a:ext cx="2743200" cy="685800"/>
          </a:xfrm>
          <a:prstGeom prst="rect">
            <a:avLst/>
          </a:prstGeom>
          <a:noFill/>
          <a:ln/>
        </p:spPr>
        <p:txBody>
          <a:bodyPr wrap="square" lIns="0" tIns="0" rIns="0" bIns="0" rtlCol="0" anchor="ctr"/>
          <a:lstStyle/>
          <a:p>
            <a:pPr indent="0" marL="0">
              <a:buNone/>
            </a:pPr>
            <a:r>
              <a:rPr lang="en-US" sz="3600" b="1" dirty="0">
                <a:solidFill>
                  <a:srgbClr val="0E7C76"/>
                </a:solidFill>
                <a:latin typeface="Arial" pitchFamily="34" charset="0"/>
                <a:ea typeface="Arial" pitchFamily="34" charset="-122"/>
                <a:cs typeface="Arial" pitchFamily="34" charset="-120"/>
              </a:rPr>
              <a:t>₹5,000</a:t>
            </a:r>
            <a:endParaRPr lang="en-US" sz="3600" dirty="0"/>
          </a:p>
        </p:txBody>
      </p:sp>
      <p:sp>
        <p:nvSpPr>
          <p:cNvPr id="7" name="Text 5"/>
          <p:cNvSpPr txBox="1"/>
          <p:nvPr/>
        </p:nvSpPr>
        <p:spPr>
          <a:xfrm>
            <a:off x="822960" y="2651760"/>
            <a:ext cx="2743200" cy="320040"/>
          </a:xfrm>
          <a:prstGeom prst="rect">
            <a:avLst/>
          </a:prstGeom>
          <a:noFill/>
          <a:ln/>
        </p:spPr>
        <p:txBody>
          <a:bodyPr wrap="square" lIns="0" tIns="0" rIns="0" bIns="0" rtlCol="0" anchor="t"/>
          <a:lstStyle/>
          <a:p>
            <a:pPr indent="0" marL="0">
              <a:buNone/>
            </a:pPr>
            <a:r>
              <a:rPr lang="en-US" sz="1200" dirty="0">
                <a:solidFill>
                  <a:srgbClr val="5B6B78"/>
                </a:solidFill>
                <a:latin typeface="Calibri" pitchFamily="34" charset="0"/>
                <a:ea typeface="Calibri" pitchFamily="34" charset="-122"/>
                <a:cs typeface="Calibri" pitchFamily="34" charset="-120"/>
              </a:rPr>
              <a:t>Paid payments</a:t>
            </a:r>
            <a:endParaRPr lang="en-US" sz="1200" dirty="0"/>
          </a:p>
        </p:txBody>
      </p:sp>
      <p:sp>
        <p:nvSpPr>
          <p:cNvPr id="8" name="Text 6"/>
          <p:cNvSpPr txBox="1"/>
          <p:nvPr/>
        </p:nvSpPr>
        <p:spPr>
          <a:xfrm>
            <a:off x="3840480" y="1417320"/>
            <a:ext cx="548640" cy="1737360"/>
          </a:xfrm>
          <a:prstGeom prst="rect">
            <a:avLst/>
          </a:prstGeom>
          <a:noFill/>
          <a:ln/>
        </p:spPr>
        <p:txBody>
          <a:bodyPr wrap="square" lIns="0" tIns="0" rIns="0" bIns="0" rtlCol="0" anchor="ctr"/>
          <a:lstStyle/>
          <a:p>
            <a:pPr algn="ctr" indent="0" marL="0">
              <a:buNone/>
            </a:pPr>
            <a:r>
              <a:rPr lang="en-US" sz="4000" b="1" dirty="0">
                <a:solidFill>
                  <a:srgbClr val="5B6B78"/>
                </a:solidFill>
                <a:latin typeface="Calibri" pitchFamily="34" charset="0"/>
                <a:ea typeface="Calibri" pitchFamily="34" charset="-122"/>
                <a:cs typeface="Calibri" pitchFamily="34" charset="-120"/>
              </a:rPr>
              <a:t>−</a:t>
            </a:r>
            <a:endParaRPr lang="en-US" sz="4000" dirty="0"/>
          </a:p>
        </p:txBody>
      </p:sp>
      <p:sp>
        <p:nvSpPr>
          <p:cNvPr id="9" name="card"/>
          <p:cNvSpPr/>
          <p:nvPr/>
        </p:nvSpPr>
        <p:spPr>
          <a:xfrm>
            <a:off x="4389120" y="1417320"/>
            <a:ext cx="3291840" cy="1737360"/>
          </a:xfrm>
          <a:prstGeom prst="roundRect">
            <a:avLst>
              <a:gd name="adj" fmla="val 6316"/>
            </a:avLst>
          </a:prstGeom>
          <a:solidFill>
            <a:srgbClr val="FFFFFF"/>
          </a:solidFill>
          <a:ln w="9525">
            <a:solidFill>
              <a:srgbClr val="D5E3E3"/>
            </a:solidFill>
            <a:prstDash val="solid"/>
          </a:ln>
          <a:effectLst>
            <a:outerShdw sx="100000" sy="100000" kx="0" ky="0" algn="bl" rotWithShape="0" blurRad="152400" dist="38100" dir="5400000">
              <a:srgbClr val="0B2135">
                <a:alpha val="16000"/>
              </a:srgbClr>
            </a:outerShdw>
          </a:effectLst>
        </p:spPr>
      </p:sp>
      <p:sp>
        <p:nvSpPr>
          <p:cNvPr id="10" name="Text 8"/>
          <p:cNvSpPr txBox="1"/>
          <p:nvPr/>
        </p:nvSpPr>
        <p:spPr>
          <a:xfrm>
            <a:off x="4663440" y="1600200"/>
            <a:ext cx="2743200" cy="320040"/>
          </a:xfrm>
          <a:prstGeom prst="rect">
            <a:avLst/>
          </a:prstGeom>
          <a:noFill/>
          <a:ln/>
        </p:spPr>
        <p:txBody>
          <a:bodyPr wrap="square" lIns="0" tIns="0" rIns="0" bIns="0" rtlCol="0" anchor="t"/>
          <a:lstStyle/>
          <a:p>
            <a:pPr indent="0" marL="0">
              <a:buNone/>
            </a:pPr>
            <a:r>
              <a:rPr lang="en-US" sz="1400" b="1" dirty="0">
                <a:solidFill>
                  <a:srgbClr val="5B6B78"/>
                </a:solidFill>
                <a:latin typeface="Calibri" pitchFamily="34" charset="0"/>
                <a:ea typeface="Calibri" pitchFamily="34" charset="-122"/>
                <a:cs typeface="Calibri" pitchFamily="34" charset="-120"/>
              </a:rPr>
              <a:t>Expenses</a:t>
            </a:r>
            <a:endParaRPr lang="en-US" sz="1400" dirty="0"/>
          </a:p>
        </p:txBody>
      </p:sp>
      <p:sp>
        <p:nvSpPr>
          <p:cNvPr id="11" name="Text 9"/>
          <p:cNvSpPr txBox="1"/>
          <p:nvPr/>
        </p:nvSpPr>
        <p:spPr>
          <a:xfrm>
            <a:off x="4663440" y="1920240"/>
            <a:ext cx="2743200" cy="685800"/>
          </a:xfrm>
          <a:prstGeom prst="rect">
            <a:avLst/>
          </a:prstGeom>
          <a:noFill/>
          <a:ln/>
        </p:spPr>
        <p:txBody>
          <a:bodyPr wrap="square" lIns="0" tIns="0" rIns="0" bIns="0" rtlCol="0" anchor="ctr"/>
          <a:lstStyle/>
          <a:p>
            <a:pPr indent="0" marL="0">
              <a:buNone/>
            </a:pPr>
            <a:r>
              <a:rPr lang="en-US" sz="3600" b="1" dirty="0">
                <a:solidFill>
                  <a:srgbClr val="F0605D"/>
                </a:solidFill>
                <a:latin typeface="Arial" pitchFamily="34" charset="0"/>
                <a:ea typeface="Arial" pitchFamily="34" charset="-122"/>
                <a:cs typeface="Arial" pitchFamily="34" charset="-120"/>
              </a:rPr>
              <a:t>₹44,500</a:t>
            </a:r>
            <a:endParaRPr lang="en-US" sz="3600" dirty="0"/>
          </a:p>
        </p:txBody>
      </p:sp>
      <p:sp>
        <p:nvSpPr>
          <p:cNvPr id="12" name="Text 10"/>
          <p:cNvSpPr txBox="1"/>
          <p:nvPr/>
        </p:nvSpPr>
        <p:spPr>
          <a:xfrm>
            <a:off x="4663440" y="2651760"/>
            <a:ext cx="2743200" cy="320040"/>
          </a:xfrm>
          <a:prstGeom prst="rect">
            <a:avLst/>
          </a:prstGeom>
          <a:noFill/>
          <a:ln/>
        </p:spPr>
        <p:txBody>
          <a:bodyPr wrap="square" lIns="0" tIns="0" rIns="0" bIns="0" rtlCol="0" anchor="t"/>
          <a:lstStyle/>
          <a:p>
            <a:pPr indent="0" marL="0">
              <a:buNone/>
            </a:pPr>
            <a:r>
              <a:rPr lang="en-US" sz="1200" dirty="0">
                <a:solidFill>
                  <a:srgbClr val="5B6B78"/>
                </a:solidFill>
                <a:latin typeface="Calibri" pitchFamily="34" charset="0"/>
                <a:ea typeface="Calibri" pitchFamily="34" charset="-122"/>
                <a:cs typeface="Calibri" pitchFamily="34" charset="-120"/>
              </a:rPr>
              <a:t>Paid expenses</a:t>
            </a:r>
            <a:endParaRPr lang="en-US" sz="1200" dirty="0"/>
          </a:p>
        </p:txBody>
      </p:sp>
      <p:sp>
        <p:nvSpPr>
          <p:cNvPr id="13" name="Text 11"/>
          <p:cNvSpPr txBox="1"/>
          <p:nvPr/>
        </p:nvSpPr>
        <p:spPr>
          <a:xfrm>
            <a:off x="7680960" y="1417320"/>
            <a:ext cx="548640" cy="1737360"/>
          </a:xfrm>
          <a:prstGeom prst="rect">
            <a:avLst/>
          </a:prstGeom>
          <a:noFill/>
          <a:ln/>
        </p:spPr>
        <p:txBody>
          <a:bodyPr wrap="square" lIns="0" tIns="0" rIns="0" bIns="0" rtlCol="0" anchor="ctr"/>
          <a:lstStyle/>
          <a:p>
            <a:pPr algn="ctr" indent="0" marL="0">
              <a:buNone/>
            </a:pPr>
            <a:r>
              <a:rPr lang="en-US" sz="4000" b="1" dirty="0">
                <a:solidFill>
                  <a:srgbClr val="5B6B78"/>
                </a:solidFill>
                <a:latin typeface="Calibri" pitchFamily="34" charset="0"/>
                <a:ea typeface="Calibri" pitchFamily="34" charset="-122"/>
                <a:cs typeface="Calibri" pitchFamily="34" charset="-120"/>
              </a:rPr>
              <a:t>=</a:t>
            </a:r>
            <a:endParaRPr lang="en-US" sz="4000" dirty="0"/>
          </a:p>
        </p:txBody>
      </p:sp>
      <p:sp>
        <p:nvSpPr>
          <p:cNvPr id="14" name="card"/>
          <p:cNvSpPr/>
          <p:nvPr/>
        </p:nvSpPr>
        <p:spPr>
          <a:xfrm>
            <a:off x="8229600" y="1417320"/>
            <a:ext cx="3291840" cy="1737360"/>
          </a:xfrm>
          <a:prstGeom prst="roundRect">
            <a:avLst>
              <a:gd name="adj" fmla="val 6316"/>
            </a:avLst>
          </a:prstGeom>
          <a:solidFill>
            <a:srgbClr val="0B2135"/>
          </a:solidFill>
          <a:ln w="9525">
            <a:solidFill>
              <a:srgbClr val="0B2135"/>
            </a:solidFill>
            <a:prstDash val="solid"/>
          </a:ln>
        </p:spPr>
      </p:sp>
      <p:sp>
        <p:nvSpPr>
          <p:cNvPr id="15" name="Text 13"/>
          <p:cNvSpPr txBox="1"/>
          <p:nvPr/>
        </p:nvSpPr>
        <p:spPr>
          <a:xfrm>
            <a:off x="8503920" y="1600200"/>
            <a:ext cx="2743200" cy="320040"/>
          </a:xfrm>
          <a:prstGeom prst="rect">
            <a:avLst/>
          </a:prstGeom>
          <a:noFill/>
          <a:ln/>
        </p:spPr>
        <p:txBody>
          <a:bodyPr wrap="square" lIns="0" tIns="0" rIns="0" bIns="0" rtlCol="0" anchor="t"/>
          <a:lstStyle/>
          <a:p>
            <a:pPr indent="0" marL="0">
              <a:buNone/>
            </a:pPr>
            <a:r>
              <a:rPr lang="en-US" sz="1400" b="1" dirty="0">
                <a:solidFill>
                  <a:srgbClr val="F4B942"/>
                </a:solidFill>
                <a:latin typeface="Calibri" pitchFamily="34" charset="0"/>
                <a:ea typeface="Calibri" pitchFamily="34" charset="-122"/>
                <a:cs typeface="Calibri" pitchFamily="34" charset="-120"/>
              </a:rPr>
              <a:t>Savings</a:t>
            </a:r>
            <a:endParaRPr lang="en-US" sz="1400" dirty="0"/>
          </a:p>
        </p:txBody>
      </p:sp>
      <p:sp>
        <p:nvSpPr>
          <p:cNvPr id="16" name="Text 14"/>
          <p:cNvSpPr txBox="1"/>
          <p:nvPr/>
        </p:nvSpPr>
        <p:spPr>
          <a:xfrm>
            <a:off x="8503920" y="1920240"/>
            <a:ext cx="2743200" cy="68580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−₹39,500</a:t>
            </a:r>
            <a:endParaRPr lang="en-US" sz="3600" dirty="0"/>
          </a:p>
        </p:txBody>
      </p:sp>
      <p:sp>
        <p:nvSpPr>
          <p:cNvPr id="17" name="Text 15"/>
          <p:cNvSpPr txBox="1"/>
          <p:nvPr/>
        </p:nvSpPr>
        <p:spPr>
          <a:xfrm>
            <a:off x="8503920" y="2651760"/>
            <a:ext cx="2743200" cy="320040"/>
          </a:xfrm>
          <a:prstGeom prst="rect">
            <a:avLst/>
          </a:prstGeom>
          <a:noFill/>
          <a:ln/>
        </p:spPr>
        <p:txBody>
          <a:bodyPr wrap="square" lIns="0" tIns="0" rIns="0" bIns="0" rtlCol="0" anchor="t"/>
          <a:lstStyle/>
          <a:p>
            <a:pPr indent="0" marL="0">
              <a:buNone/>
            </a:pPr>
            <a:r>
              <a:rPr lang="en-US" sz="1200" dirty="0">
                <a:solidFill>
                  <a:srgbClr val="C5D6DF"/>
                </a:solidFill>
                <a:latin typeface="Calibri" pitchFamily="34" charset="0"/>
                <a:ea typeface="Calibri" pitchFamily="34" charset="-122"/>
                <a:cs typeface="Calibri" pitchFamily="34" charset="-120"/>
              </a:rPr>
              <a:t>Shown on the dashboard</a:t>
            </a:r>
            <a:endParaRPr lang="en-US" sz="1200" dirty="0"/>
          </a:p>
        </p:txBody>
      </p:sp>
      <p:graphicFrame>
        <p:nvGraphicFramePr>
          <p:cNvPr id="18" name="expense-chart" descr=""/>
          <p:cNvGraphicFramePr/>
          <p:nvPr/>
        </p:nvGraphicFramePr>
        <p:xfrm>
          <a:off x="548640" y="3429000"/>
          <a:ext cx="6583680" cy="2743200"/>
        </p:xfrm>
        <a:graphic xmlns:a="http://schemas.openxmlformats.org/drawingml/2006/main">
          <a:graphicData uri="http://schemas.openxmlformats.org/drawingml/2006/chart">
            <c:chart xmlns:c="http://schemas.openxmlformats.org/drawingml/2006/chart" r:id="rId1"/>
          </a:graphicData>
        </a:graphic>
      </p:graphicFrame>
      <p:sp>
        <p:nvSpPr>
          <p:cNvPr id="19" name="note"/>
          <p:cNvSpPr/>
          <p:nvPr/>
        </p:nvSpPr>
        <p:spPr>
          <a:xfrm>
            <a:off x="7589520" y="3429000"/>
            <a:ext cx="4050792" cy="2697480"/>
          </a:xfrm>
          <a:prstGeom prst="roundRect">
            <a:avLst>
              <a:gd name="adj" fmla="val 4068"/>
            </a:avLst>
          </a:prstGeom>
          <a:solidFill>
            <a:srgbClr val="E6F4F2"/>
          </a:solidFill>
          <a:ln w="9525">
            <a:solidFill>
              <a:srgbClr val="E6F4F2"/>
            </a:solidFill>
            <a:prstDash val="solid"/>
          </a:ln>
        </p:spPr>
      </p:sp>
      <p:sp>
        <p:nvSpPr>
          <p:cNvPr id="20" name="icon-bg"/>
          <p:cNvSpPr/>
          <p:nvPr/>
        </p:nvSpPr>
        <p:spPr>
          <a:xfrm>
            <a:off x="7818120" y="3657600"/>
            <a:ext cx="548640" cy="548640"/>
          </a:xfrm>
          <a:prstGeom prst="ellipse">
            <a:avLst/>
          </a:prstGeom>
          <a:solidFill>
            <a:srgbClr val="0E7C76"/>
          </a:solidFill>
          <a:ln w="12700">
            <a:solidFill>
              <a:srgbClr val="0E7C76"/>
            </a:solidFill>
            <a:prstDash val="solid"/>
          </a:ln>
        </p:spPr>
      </p:sp>
      <p:pic>
        <p:nvPicPr>
          <p:cNvPr id="21" name="icon" descr="preencoded.png">    </p:cNvPr>
          <p:cNvPicPr>
            <a:picLocks noChangeAspect="1"/>
          </p:cNvPicPr>
          <p:nvPr/>
        </p:nvPicPr>
        <p:blipFill>
          <a:blip r:embed="rId2"/>
          <a:stretch>
            <a:fillRect/>
          </a:stretch>
        </p:blipFill>
        <p:spPr>
          <a:xfrm>
            <a:off x="7949794" y="3789274"/>
            <a:ext cx="285293" cy="285293"/>
          </a:xfrm>
          <a:prstGeom prst="rect">
            <a:avLst/>
          </a:prstGeom>
        </p:spPr>
      </p:pic>
      <p:sp>
        <p:nvSpPr>
          <p:cNvPr id="22" name="Text 18"/>
          <p:cNvSpPr txBox="1"/>
          <p:nvPr/>
        </p:nvSpPr>
        <p:spPr>
          <a:xfrm>
            <a:off x="8503920" y="3703320"/>
            <a:ext cx="292608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Why this matters</a:t>
            </a:r>
            <a:endParaRPr lang="en-US" sz="1600" dirty="0"/>
          </a:p>
        </p:txBody>
      </p:sp>
      <p:sp>
        <p:nvSpPr>
          <p:cNvPr id="23" name="Text 19"/>
          <p:cNvSpPr txBox="1"/>
          <p:nvPr/>
        </p:nvSpPr>
        <p:spPr>
          <a:xfrm>
            <a:off x="7818120" y="4343400"/>
            <a:ext cx="3611880" cy="1691640"/>
          </a:xfrm>
          <a:prstGeom prst="rect">
            <a:avLst/>
          </a:prstGeom>
          <a:noFill/>
          <a:ln/>
        </p:spPr>
        <p:txBody>
          <a:bodyPr wrap="square" lIns="0" tIns="0" rIns="0" bIns="0" rtlCol="0" anchor="t"/>
          <a:lstStyle/>
          <a:p>
            <a:pPr indent="0" marL="0">
              <a:buNone/>
            </a:pPr>
            <a:r>
              <a:rPr lang="en-US" sz="1200" dirty="0">
                <a:solidFill>
                  <a:srgbClr val="0B2135"/>
                </a:solidFill>
                <a:latin typeface="Calibri" pitchFamily="34" charset="0"/>
                <a:ea typeface="Calibri" pitchFamily="34" charset="-122"/>
                <a:cs typeface="Calibri" pitchFamily="34" charset="-120"/>
              </a:rPr>
              <a:t>A deficit like this one is visible the moment it happens — not at the year-end meeting. Residents can see the same collection and spending figures the committee sees, and the phase filter shows which part of the community each rupee came from or went to.</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t"/>
          <a:lstStyle/>
          <a:p>
            <a:pPr indent="0" marL="0">
              <a:buNone/>
            </a:pPr>
            <a:r>
              <a:rPr lang="en-US" sz="1100" b="1" spc="300" kern="0" dirty="0">
                <a:solidFill>
                  <a:srgbClr val="0E7C76"/>
                </a:solidFill>
                <a:latin typeface="Calibri" pitchFamily="34" charset="0"/>
                <a:ea typeface="Calibri" pitchFamily="34" charset="-122"/>
                <a:cs typeface="Calibri" pitchFamily="34" charset="-120"/>
              </a:rPr>
              <a:t>MODULE 10 · COMMUNITY  ·  ANNOUNCEMENTS</a:t>
            </a:r>
            <a:endParaRPr lang="en-US" sz="1100" dirty="0"/>
          </a:p>
        </p:txBody>
      </p:sp>
      <p:sp>
        <p:nvSpPr>
          <p:cNvPr id="3" name="Text 1"/>
          <p:cNvSpPr/>
          <p:nvPr>
            <p:ph idx="101" type="title" hasCustomPrompt="1"/>
          </p:nvPr>
        </p:nvSpPr>
        <p:spPr>
          <a:xfrm>
            <a:off x="548640" y="457200"/>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Announcements: one official noticeboard</a:t>
            </a:r>
            <a:endParaRPr lang="en-US" sz="3000" dirty="0"/>
          </a:p>
        </p:txBody>
      </p:sp>
      <p:sp>
        <p:nvSpPr>
          <p:cNvPr id="4" name="Text 2"/>
          <p:cNvSpPr txBox="1"/>
          <p:nvPr/>
        </p:nvSpPr>
        <p:spPr>
          <a:xfrm>
            <a:off x="548640" y="1261872"/>
            <a:ext cx="5074920" cy="822960"/>
          </a:xfrm>
          <a:prstGeom prst="rect">
            <a:avLst/>
          </a:prstGeom>
          <a:noFill/>
          <a:ln/>
        </p:spPr>
        <p:txBody>
          <a:bodyPr wrap="square" lIns="0" tIns="0" rIns="0" bIns="0" rtlCol="0" anchor="t"/>
          <a:lstStyle/>
          <a:p>
            <a:pPr indent="0" marL="0">
              <a:buNone/>
            </a:pPr>
            <a:r>
              <a:rPr lang="en-US" sz="1400" dirty="0">
                <a:solidFill>
                  <a:srgbClr val="16384F"/>
                </a:solidFill>
                <a:latin typeface="Calibri" pitchFamily="34" charset="0"/>
                <a:ea typeface="Calibri" pitchFamily="34" charset="-122"/>
                <a:cs typeface="Calibri" pitchFamily="34" charset="-120"/>
              </a:rPr>
              <a:t>One place for every official notice — water cuts, events, emergencies — instead of messages scattered across WhatsApp groups.</a:t>
            </a:r>
            <a:endParaRPr lang="en-US" sz="1400" dirty="0"/>
          </a:p>
        </p:txBody>
      </p:sp>
      <p:sp>
        <p:nvSpPr>
          <p:cNvPr id="5" name="Text 3"/>
          <p:cNvSpPr txBox="1"/>
          <p:nvPr/>
        </p:nvSpPr>
        <p:spPr>
          <a:xfrm>
            <a:off x="548640" y="2176272"/>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WHO USES IT</a:t>
            </a:r>
            <a:endParaRPr lang="en-US" sz="1000" dirty="0"/>
          </a:p>
        </p:txBody>
      </p:sp>
      <p:sp>
        <p:nvSpPr>
          <p:cNvPr id="6" name="role-chip"/>
          <p:cNvSpPr/>
          <p:nvPr/>
        </p:nvSpPr>
        <p:spPr>
          <a:xfrm>
            <a:off x="548640" y="2450592"/>
            <a:ext cx="1115751" cy="329184"/>
          </a:xfrm>
          <a:prstGeom prst="roundRect">
            <a:avLst>
              <a:gd name="adj" fmla="val 50000"/>
            </a:avLst>
          </a:prstGeom>
          <a:solidFill>
            <a:srgbClr val="0B2135"/>
          </a:solidFill>
          <a:ln w="12700">
            <a:solidFill>
              <a:srgbClr val="0B2135"/>
            </a:solidFill>
            <a:prstDash val="solid"/>
          </a:ln>
        </p:spPr>
      </p:sp>
      <p:sp>
        <p:nvSpPr>
          <p:cNvPr id="7" name="Text 5"/>
          <p:cNvSpPr txBox="1"/>
          <p:nvPr/>
        </p:nvSpPr>
        <p:spPr>
          <a:xfrm>
            <a:off x="548640" y="2450592"/>
            <a:ext cx="1115751"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Super Admin</a:t>
            </a:r>
            <a:endParaRPr lang="en-US" sz="1150" dirty="0"/>
          </a:p>
        </p:txBody>
      </p:sp>
      <p:sp>
        <p:nvSpPr>
          <p:cNvPr id="8" name="role-chip"/>
          <p:cNvSpPr/>
          <p:nvPr/>
        </p:nvSpPr>
        <p:spPr>
          <a:xfrm>
            <a:off x="1774119" y="2450592"/>
            <a:ext cx="972739" cy="329184"/>
          </a:xfrm>
          <a:prstGeom prst="roundRect">
            <a:avLst>
              <a:gd name="adj" fmla="val 50000"/>
            </a:avLst>
          </a:prstGeom>
          <a:solidFill>
            <a:srgbClr val="0E7C76"/>
          </a:solidFill>
          <a:ln w="12700">
            <a:solidFill>
              <a:srgbClr val="0E7C76"/>
            </a:solidFill>
            <a:prstDash val="solid"/>
          </a:ln>
        </p:spPr>
      </p:sp>
      <p:sp>
        <p:nvSpPr>
          <p:cNvPr id="9" name="Text 7"/>
          <p:cNvSpPr txBox="1"/>
          <p:nvPr/>
        </p:nvSpPr>
        <p:spPr>
          <a:xfrm>
            <a:off x="1774119" y="2450592"/>
            <a:ext cx="972739"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Volunteer</a:t>
            </a:r>
            <a:endParaRPr lang="en-US" sz="1150" dirty="0"/>
          </a:p>
        </p:txBody>
      </p:sp>
      <p:sp>
        <p:nvSpPr>
          <p:cNvPr id="10" name="role-chip"/>
          <p:cNvSpPr/>
          <p:nvPr/>
        </p:nvSpPr>
        <p:spPr>
          <a:xfrm>
            <a:off x="2856586" y="2450592"/>
            <a:ext cx="1187257" cy="329184"/>
          </a:xfrm>
          <a:prstGeom prst="roundRect">
            <a:avLst>
              <a:gd name="adj" fmla="val 50000"/>
            </a:avLst>
          </a:prstGeom>
          <a:solidFill>
            <a:srgbClr val="FFFFFF"/>
          </a:solidFill>
          <a:ln w="12700">
            <a:solidFill>
              <a:srgbClr val="B57A0C"/>
            </a:solidFill>
            <a:prstDash val="solid"/>
          </a:ln>
        </p:spPr>
      </p:sp>
      <p:sp>
        <p:nvSpPr>
          <p:cNvPr id="11" name="Text 9"/>
          <p:cNvSpPr txBox="1"/>
          <p:nvPr/>
        </p:nvSpPr>
        <p:spPr>
          <a:xfrm>
            <a:off x="2856586" y="2450592"/>
            <a:ext cx="1187257" cy="329184"/>
          </a:xfrm>
          <a:prstGeom prst="rect">
            <a:avLst/>
          </a:prstGeom>
          <a:noFill/>
          <a:ln/>
        </p:spPr>
        <p:txBody>
          <a:bodyPr wrap="square" lIns="0" tIns="0" rIns="0" bIns="0" rtlCol="0" anchor="ctr"/>
          <a:lstStyle/>
          <a:p>
            <a:pPr algn="ctr" indent="0" marL="0">
              <a:buNone/>
            </a:pPr>
            <a:r>
              <a:rPr lang="en-US" sz="1150" b="1" dirty="0">
                <a:solidFill>
                  <a:srgbClr val="B57A0C"/>
                </a:solidFill>
                <a:latin typeface="Calibri" pitchFamily="34" charset="0"/>
                <a:ea typeface="Calibri" pitchFamily="34" charset="-122"/>
                <a:cs typeface="Calibri" pitchFamily="34" charset="-120"/>
              </a:rPr>
              <a:t>Guard · view</a:t>
            </a:r>
            <a:endParaRPr lang="en-US" sz="1150" dirty="0"/>
          </a:p>
        </p:txBody>
      </p:sp>
      <p:sp>
        <p:nvSpPr>
          <p:cNvPr id="12" name="role-chip"/>
          <p:cNvSpPr/>
          <p:nvPr/>
        </p:nvSpPr>
        <p:spPr>
          <a:xfrm>
            <a:off x="4153571" y="2450592"/>
            <a:ext cx="1401775" cy="329184"/>
          </a:xfrm>
          <a:prstGeom prst="roundRect">
            <a:avLst>
              <a:gd name="adj" fmla="val 50000"/>
            </a:avLst>
          </a:prstGeom>
          <a:solidFill>
            <a:srgbClr val="FFFFFF"/>
          </a:solidFill>
          <a:ln w="12700">
            <a:solidFill>
              <a:srgbClr val="13A89E"/>
            </a:solidFill>
            <a:prstDash val="solid"/>
          </a:ln>
        </p:spPr>
      </p:sp>
      <p:sp>
        <p:nvSpPr>
          <p:cNvPr id="13" name="Text 11"/>
          <p:cNvSpPr txBox="1"/>
          <p:nvPr/>
        </p:nvSpPr>
        <p:spPr>
          <a:xfrm>
            <a:off x="4153571" y="2450592"/>
            <a:ext cx="1401775" cy="329184"/>
          </a:xfrm>
          <a:prstGeom prst="rect">
            <a:avLst/>
          </a:prstGeom>
          <a:noFill/>
          <a:ln/>
        </p:spPr>
        <p:txBody>
          <a:bodyPr wrap="square" lIns="0" tIns="0" rIns="0" bIns="0" rtlCol="0" anchor="ctr"/>
          <a:lstStyle/>
          <a:p>
            <a:pPr algn="ctr" indent="0" marL="0">
              <a:buNone/>
            </a:pPr>
            <a:r>
              <a:rPr lang="en-US" sz="1150" b="1" dirty="0">
                <a:solidFill>
                  <a:srgbClr val="13A89E"/>
                </a:solidFill>
                <a:latin typeface="Calibri" pitchFamily="34" charset="0"/>
                <a:ea typeface="Calibri" pitchFamily="34" charset="-122"/>
                <a:cs typeface="Calibri" pitchFamily="34" charset="-120"/>
              </a:rPr>
              <a:t>Resident · view</a:t>
            </a:r>
            <a:endParaRPr lang="en-US" sz="1150" dirty="0"/>
          </a:p>
        </p:txBody>
      </p:sp>
      <p:sp>
        <p:nvSpPr>
          <p:cNvPr id="14" name="Text 12"/>
          <p:cNvSpPr txBox="1"/>
          <p:nvPr/>
        </p:nvSpPr>
        <p:spPr>
          <a:xfrm>
            <a:off x="548640" y="2971800"/>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WHAT GETS RECORDED</a:t>
            </a:r>
            <a:endParaRPr lang="en-US" sz="1000" dirty="0"/>
          </a:p>
        </p:txBody>
      </p:sp>
      <p:sp>
        <p:nvSpPr>
          <p:cNvPr id="15" name="field-tag"/>
          <p:cNvSpPr/>
          <p:nvPr/>
        </p:nvSpPr>
        <p:spPr>
          <a:xfrm>
            <a:off x="548640" y="3246120"/>
            <a:ext cx="2468880" cy="310896"/>
          </a:xfrm>
          <a:prstGeom prst="roundRect">
            <a:avLst>
              <a:gd name="adj" fmla="val 17647"/>
            </a:avLst>
          </a:prstGeom>
          <a:solidFill>
            <a:srgbClr val="F1F7F7"/>
          </a:solidFill>
          <a:ln w="12700">
            <a:solidFill>
              <a:srgbClr val="F1F7F7"/>
            </a:solidFill>
            <a:prstDash val="solid"/>
          </a:ln>
        </p:spPr>
      </p:sp>
      <p:sp>
        <p:nvSpPr>
          <p:cNvPr id="16" name="dot"/>
          <p:cNvSpPr/>
          <p:nvPr/>
        </p:nvSpPr>
        <p:spPr>
          <a:xfrm>
            <a:off x="658368" y="3364992"/>
            <a:ext cx="73152" cy="73152"/>
          </a:xfrm>
          <a:prstGeom prst="ellipse">
            <a:avLst/>
          </a:prstGeom>
          <a:solidFill>
            <a:srgbClr val="13A89E"/>
          </a:solidFill>
          <a:ln w="12700">
            <a:solidFill>
              <a:srgbClr val="13A89E"/>
            </a:solidFill>
            <a:prstDash val="solid"/>
          </a:ln>
        </p:spPr>
      </p:sp>
      <p:sp>
        <p:nvSpPr>
          <p:cNvPr id="17" name="Text 15"/>
          <p:cNvSpPr txBox="1"/>
          <p:nvPr/>
        </p:nvSpPr>
        <p:spPr>
          <a:xfrm>
            <a:off x="804672" y="3246120"/>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Notice title</a:t>
            </a:r>
            <a:endParaRPr lang="en-US" sz="1100" dirty="0"/>
          </a:p>
        </p:txBody>
      </p:sp>
      <p:sp>
        <p:nvSpPr>
          <p:cNvPr id="18" name="field-tag"/>
          <p:cNvSpPr/>
          <p:nvPr/>
        </p:nvSpPr>
        <p:spPr>
          <a:xfrm>
            <a:off x="3154680" y="3246120"/>
            <a:ext cx="2468880" cy="310896"/>
          </a:xfrm>
          <a:prstGeom prst="roundRect">
            <a:avLst>
              <a:gd name="adj" fmla="val 17647"/>
            </a:avLst>
          </a:prstGeom>
          <a:solidFill>
            <a:srgbClr val="F1F7F7"/>
          </a:solidFill>
          <a:ln w="12700">
            <a:solidFill>
              <a:srgbClr val="F1F7F7"/>
            </a:solidFill>
            <a:prstDash val="solid"/>
          </a:ln>
        </p:spPr>
      </p:sp>
      <p:sp>
        <p:nvSpPr>
          <p:cNvPr id="19" name="dot"/>
          <p:cNvSpPr/>
          <p:nvPr/>
        </p:nvSpPr>
        <p:spPr>
          <a:xfrm>
            <a:off x="3264408" y="3364992"/>
            <a:ext cx="73152" cy="73152"/>
          </a:xfrm>
          <a:prstGeom prst="ellipse">
            <a:avLst/>
          </a:prstGeom>
          <a:solidFill>
            <a:srgbClr val="13A89E"/>
          </a:solidFill>
          <a:ln w="12700">
            <a:solidFill>
              <a:srgbClr val="13A89E"/>
            </a:solidFill>
            <a:prstDash val="solid"/>
          </a:ln>
        </p:spPr>
      </p:sp>
      <p:sp>
        <p:nvSpPr>
          <p:cNvPr id="20" name="Text 18"/>
          <p:cNvSpPr txBox="1"/>
          <p:nvPr/>
        </p:nvSpPr>
        <p:spPr>
          <a:xfrm>
            <a:off x="3410712" y="3246120"/>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Message content</a:t>
            </a:r>
            <a:endParaRPr lang="en-US" sz="1100" dirty="0"/>
          </a:p>
        </p:txBody>
      </p:sp>
      <p:sp>
        <p:nvSpPr>
          <p:cNvPr id="21" name="field-tag"/>
          <p:cNvSpPr/>
          <p:nvPr/>
        </p:nvSpPr>
        <p:spPr>
          <a:xfrm>
            <a:off x="548640" y="3630168"/>
            <a:ext cx="2468880" cy="310896"/>
          </a:xfrm>
          <a:prstGeom prst="roundRect">
            <a:avLst>
              <a:gd name="adj" fmla="val 17647"/>
            </a:avLst>
          </a:prstGeom>
          <a:solidFill>
            <a:srgbClr val="F1F7F7"/>
          </a:solidFill>
          <a:ln w="12700">
            <a:solidFill>
              <a:srgbClr val="F1F7F7"/>
            </a:solidFill>
            <a:prstDash val="solid"/>
          </a:ln>
        </p:spPr>
      </p:sp>
      <p:sp>
        <p:nvSpPr>
          <p:cNvPr id="22" name="dot"/>
          <p:cNvSpPr/>
          <p:nvPr/>
        </p:nvSpPr>
        <p:spPr>
          <a:xfrm>
            <a:off x="658368" y="3749040"/>
            <a:ext cx="73152" cy="73152"/>
          </a:xfrm>
          <a:prstGeom prst="ellipse">
            <a:avLst/>
          </a:prstGeom>
          <a:solidFill>
            <a:srgbClr val="13A89E"/>
          </a:solidFill>
          <a:ln w="12700">
            <a:solidFill>
              <a:srgbClr val="13A89E"/>
            </a:solidFill>
            <a:prstDash val="solid"/>
          </a:ln>
        </p:spPr>
      </p:sp>
      <p:sp>
        <p:nvSpPr>
          <p:cNvPr id="23" name="Text 21"/>
          <p:cNvSpPr txBox="1"/>
          <p:nvPr/>
        </p:nvSpPr>
        <p:spPr>
          <a:xfrm>
            <a:off x="804672" y="3630168"/>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Target: All Residents / Phase 1 / Phase 2 / Security Team</a:t>
            </a:r>
            <a:endParaRPr lang="en-US" sz="1100" dirty="0"/>
          </a:p>
        </p:txBody>
      </p:sp>
      <p:sp>
        <p:nvSpPr>
          <p:cNvPr id="24" name="field-tag"/>
          <p:cNvSpPr/>
          <p:nvPr/>
        </p:nvSpPr>
        <p:spPr>
          <a:xfrm>
            <a:off x="3154680" y="3630168"/>
            <a:ext cx="2468880" cy="310896"/>
          </a:xfrm>
          <a:prstGeom prst="roundRect">
            <a:avLst>
              <a:gd name="adj" fmla="val 17647"/>
            </a:avLst>
          </a:prstGeom>
          <a:solidFill>
            <a:srgbClr val="F1F7F7"/>
          </a:solidFill>
          <a:ln w="12700">
            <a:solidFill>
              <a:srgbClr val="F1F7F7"/>
            </a:solidFill>
            <a:prstDash val="solid"/>
          </a:ln>
        </p:spPr>
      </p:sp>
      <p:sp>
        <p:nvSpPr>
          <p:cNvPr id="25" name="dot"/>
          <p:cNvSpPr/>
          <p:nvPr/>
        </p:nvSpPr>
        <p:spPr>
          <a:xfrm>
            <a:off x="3264408" y="3749040"/>
            <a:ext cx="73152" cy="73152"/>
          </a:xfrm>
          <a:prstGeom prst="ellipse">
            <a:avLst/>
          </a:prstGeom>
          <a:solidFill>
            <a:srgbClr val="13A89E"/>
          </a:solidFill>
          <a:ln w="12700">
            <a:solidFill>
              <a:srgbClr val="13A89E"/>
            </a:solidFill>
            <a:prstDash val="solid"/>
          </a:ln>
        </p:spPr>
      </p:sp>
      <p:sp>
        <p:nvSpPr>
          <p:cNvPr id="26" name="Text 24"/>
          <p:cNvSpPr txBox="1"/>
          <p:nvPr/>
        </p:nvSpPr>
        <p:spPr>
          <a:xfrm>
            <a:off x="3410712" y="3630168"/>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Priority: High (Emergency) / Normal / Low</a:t>
            </a:r>
            <a:endParaRPr lang="en-US" sz="1100" dirty="0"/>
          </a:p>
        </p:txBody>
      </p:sp>
      <p:sp>
        <p:nvSpPr>
          <p:cNvPr id="27" name="field-tag"/>
          <p:cNvSpPr/>
          <p:nvPr/>
        </p:nvSpPr>
        <p:spPr>
          <a:xfrm>
            <a:off x="548640" y="4014216"/>
            <a:ext cx="2468880" cy="310896"/>
          </a:xfrm>
          <a:prstGeom prst="roundRect">
            <a:avLst>
              <a:gd name="adj" fmla="val 17647"/>
            </a:avLst>
          </a:prstGeom>
          <a:solidFill>
            <a:srgbClr val="F1F7F7"/>
          </a:solidFill>
          <a:ln w="12700">
            <a:solidFill>
              <a:srgbClr val="F1F7F7"/>
            </a:solidFill>
            <a:prstDash val="solid"/>
          </a:ln>
        </p:spPr>
      </p:sp>
      <p:sp>
        <p:nvSpPr>
          <p:cNvPr id="28" name="dot"/>
          <p:cNvSpPr/>
          <p:nvPr/>
        </p:nvSpPr>
        <p:spPr>
          <a:xfrm>
            <a:off x="658368" y="4133088"/>
            <a:ext cx="73152" cy="73152"/>
          </a:xfrm>
          <a:prstGeom prst="ellipse">
            <a:avLst/>
          </a:prstGeom>
          <a:solidFill>
            <a:srgbClr val="13A89E"/>
          </a:solidFill>
          <a:ln w="12700">
            <a:solidFill>
              <a:srgbClr val="13A89E"/>
            </a:solidFill>
            <a:prstDash val="solid"/>
          </a:ln>
        </p:spPr>
      </p:sp>
      <p:sp>
        <p:nvSpPr>
          <p:cNvPr id="29" name="Text 27"/>
          <p:cNvSpPr txBox="1"/>
          <p:nvPr/>
        </p:nvSpPr>
        <p:spPr>
          <a:xfrm>
            <a:off x="804672" y="4014216"/>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Date and time (auto)</a:t>
            </a:r>
            <a:endParaRPr lang="en-US" sz="1100" dirty="0"/>
          </a:p>
        </p:txBody>
      </p:sp>
      <p:sp>
        <p:nvSpPr>
          <p:cNvPr id="30" name="Text 28"/>
          <p:cNvSpPr txBox="1"/>
          <p:nvPr/>
        </p:nvSpPr>
        <p:spPr>
          <a:xfrm>
            <a:off x="548640" y="4507992"/>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WHAT HAPPENS ON BROADCAST</a:t>
            </a:r>
            <a:endParaRPr lang="en-US" sz="1000" dirty="0"/>
          </a:p>
        </p:txBody>
      </p:sp>
      <p:sp>
        <p:nvSpPr>
          <p:cNvPr id="31" name="flow-chip"/>
          <p:cNvSpPr/>
          <p:nvPr/>
        </p:nvSpPr>
        <p:spPr>
          <a:xfrm>
            <a:off x="548640" y="4782312"/>
            <a:ext cx="702259" cy="384048"/>
          </a:xfrm>
          <a:prstGeom prst="roundRect">
            <a:avLst>
              <a:gd name="adj" fmla="val 50000"/>
            </a:avLst>
          </a:prstGeom>
          <a:solidFill>
            <a:srgbClr val="F1F7F7"/>
          </a:solidFill>
          <a:ln w="12700">
            <a:solidFill>
              <a:srgbClr val="0B2135"/>
            </a:solidFill>
            <a:prstDash val="solid"/>
          </a:ln>
        </p:spPr>
      </p:sp>
      <p:sp>
        <p:nvSpPr>
          <p:cNvPr id="32" name="Text 30"/>
          <p:cNvSpPr txBox="1"/>
          <p:nvPr/>
        </p:nvSpPr>
        <p:spPr>
          <a:xfrm>
            <a:off x="548640" y="4782312"/>
            <a:ext cx="702259" cy="384048"/>
          </a:xfrm>
          <a:prstGeom prst="rect">
            <a:avLst/>
          </a:prstGeom>
          <a:noFill/>
          <a:ln/>
        </p:spPr>
        <p:txBody>
          <a:bodyPr wrap="square" lIns="0" tIns="0" rIns="0" bIns="0" rtlCol="0" anchor="ctr"/>
          <a:lstStyle/>
          <a:p>
            <a:pPr algn="ctr" indent="0" marL="0">
              <a:buNone/>
            </a:pPr>
            <a:r>
              <a:rPr lang="en-US" sz="1200" b="1" dirty="0">
                <a:solidFill>
                  <a:srgbClr val="0B2135"/>
                </a:solidFill>
                <a:latin typeface="Calibri" pitchFamily="34" charset="0"/>
                <a:ea typeface="Calibri" pitchFamily="34" charset="-122"/>
                <a:cs typeface="Calibri" pitchFamily="34" charset="-120"/>
              </a:rPr>
              <a:t>Write</a:t>
            </a:r>
            <a:endParaRPr lang="en-US" sz="1200" dirty="0"/>
          </a:p>
        </p:txBody>
      </p:sp>
      <p:pic>
        <p:nvPicPr>
          <p:cNvPr id="33" name="arrow" descr="preencoded.png">    </p:cNvPr>
          <p:cNvPicPr>
            <a:picLocks noChangeAspect="1"/>
          </p:cNvPicPr>
          <p:nvPr/>
        </p:nvPicPr>
        <p:blipFill>
          <a:blip r:embed="rId1"/>
          <a:stretch>
            <a:fillRect/>
          </a:stretch>
        </p:blipFill>
        <p:spPr>
          <a:xfrm>
            <a:off x="1296619" y="4873752"/>
            <a:ext cx="201168" cy="201168"/>
          </a:xfrm>
          <a:prstGeom prst="rect">
            <a:avLst/>
          </a:prstGeom>
        </p:spPr>
      </p:pic>
      <p:sp>
        <p:nvSpPr>
          <p:cNvPr id="34" name="flow-chip"/>
          <p:cNvSpPr/>
          <p:nvPr/>
        </p:nvSpPr>
        <p:spPr>
          <a:xfrm>
            <a:off x="1543507" y="4782312"/>
            <a:ext cx="1000719" cy="384048"/>
          </a:xfrm>
          <a:prstGeom prst="roundRect">
            <a:avLst>
              <a:gd name="adj" fmla="val 50000"/>
            </a:avLst>
          </a:prstGeom>
          <a:solidFill>
            <a:srgbClr val="F1F7F7"/>
          </a:solidFill>
          <a:ln w="12700">
            <a:solidFill>
              <a:srgbClr val="0B2135"/>
            </a:solidFill>
            <a:prstDash val="solid"/>
          </a:ln>
        </p:spPr>
      </p:sp>
      <p:sp>
        <p:nvSpPr>
          <p:cNvPr id="35" name="Text 32"/>
          <p:cNvSpPr txBox="1"/>
          <p:nvPr/>
        </p:nvSpPr>
        <p:spPr>
          <a:xfrm>
            <a:off x="1543507" y="4782312"/>
            <a:ext cx="1000719" cy="384048"/>
          </a:xfrm>
          <a:prstGeom prst="rect">
            <a:avLst/>
          </a:prstGeom>
          <a:noFill/>
          <a:ln/>
        </p:spPr>
        <p:txBody>
          <a:bodyPr wrap="square" lIns="0" tIns="0" rIns="0" bIns="0" rtlCol="0" anchor="ctr"/>
          <a:lstStyle/>
          <a:p>
            <a:pPr algn="ctr" indent="0" marL="0">
              <a:buNone/>
            </a:pPr>
            <a:r>
              <a:rPr lang="en-US" sz="1200" b="1" dirty="0">
                <a:solidFill>
                  <a:srgbClr val="0B2135"/>
                </a:solidFill>
                <a:latin typeface="Calibri" pitchFamily="34" charset="0"/>
                <a:ea typeface="Calibri" pitchFamily="34" charset="-122"/>
                <a:cs typeface="Calibri" pitchFamily="34" charset="-120"/>
              </a:rPr>
              <a:t>Broadcast</a:t>
            </a:r>
            <a:endParaRPr lang="en-US" sz="1200" dirty="0"/>
          </a:p>
        </p:txBody>
      </p:sp>
      <p:pic>
        <p:nvPicPr>
          <p:cNvPr id="36" name="arrow" descr="preencoded.png">    </p:cNvPr>
          <p:cNvPicPr>
            <a:picLocks noChangeAspect="1"/>
          </p:cNvPicPr>
          <p:nvPr/>
        </p:nvPicPr>
        <p:blipFill>
          <a:blip r:embed="rId2"/>
          <a:stretch>
            <a:fillRect/>
          </a:stretch>
        </p:blipFill>
        <p:spPr>
          <a:xfrm>
            <a:off x="2589947" y="4873752"/>
            <a:ext cx="201168" cy="201168"/>
          </a:xfrm>
          <a:prstGeom prst="rect">
            <a:avLst/>
          </a:prstGeom>
        </p:spPr>
      </p:pic>
      <p:sp>
        <p:nvSpPr>
          <p:cNvPr id="37" name="flow-chip"/>
          <p:cNvSpPr/>
          <p:nvPr/>
        </p:nvSpPr>
        <p:spPr>
          <a:xfrm>
            <a:off x="2836835" y="4782312"/>
            <a:ext cx="1373795" cy="384048"/>
          </a:xfrm>
          <a:prstGeom prst="roundRect">
            <a:avLst>
              <a:gd name="adj" fmla="val 50000"/>
            </a:avLst>
          </a:prstGeom>
          <a:solidFill>
            <a:srgbClr val="F1F7F7"/>
          </a:solidFill>
          <a:ln w="12700">
            <a:solidFill>
              <a:srgbClr val="0B2135"/>
            </a:solidFill>
            <a:prstDash val="solid"/>
          </a:ln>
        </p:spPr>
      </p:sp>
      <p:sp>
        <p:nvSpPr>
          <p:cNvPr id="38" name="Text 34"/>
          <p:cNvSpPr txBox="1"/>
          <p:nvPr/>
        </p:nvSpPr>
        <p:spPr>
          <a:xfrm>
            <a:off x="2836835" y="4782312"/>
            <a:ext cx="1373795" cy="384048"/>
          </a:xfrm>
          <a:prstGeom prst="rect">
            <a:avLst/>
          </a:prstGeom>
          <a:noFill/>
          <a:ln/>
        </p:spPr>
        <p:txBody>
          <a:bodyPr wrap="square" lIns="0" tIns="0" rIns="0" bIns="0" rtlCol="0" anchor="ctr"/>
          <a:lstStyle/>
          <a:p>
            <a:pPr algn="ctr" indent="0" marL="0">
              <a:buNone/>
            </a:pPr>
            <a:r>
              <a:rPr lang="en-US" sz="1200" b="1" dirty="0">
                <a:solidFill>
                  <a:srgbClr val="0B2135"/>
                </a:solidFill>
                <a:latin typeface="Calibri" pitchFamily="34" charset="0"/>
                <a:ea typeface="Calibri" pitchFamily="34" charset="-122"/>
                <a:cs typeface="Calibri" pitchFamily="34" charset="-120"/>
              </a:rPr>
              <a:t>WhatsApp alert</a:t>
            </a:r>
            <a:endParaRPr lang="en-US" sz="1200" dirty="0"/>
          </a:p>
        </p:txBody>
      </p:sp>
      <p:pic>
        <p:nvPicPr>
          <p:cNvPr id="39" name="arrow" descr="preencoded.png">    </p:cNvPr>
          <p:cNvPicPr>
            <a:picLocks noChangeAspect="1"/>
          </p:cNvPicPr>
          <p:nvPr/>
        </p:nvPicPr>
        <p:blipFill>
          <a:blip r:embed="rId3"/>
          <a:stretch>
            <a:fillRect/>
          </a:stretch>
        </p:blipFill>
        <p:spPr>
          <a:xfrm>
            <a:off x="4256349" y="4873752"/>
            <a:ext cx="201168" cy="201168"/>
          </a:xfrm>
          <a:prstGeom prst="rect">
            <a:avLst/>
          </a:prstGeom>
        </p:spPr>
      </p:pic>
      <p:sp>
        <p:nvSpPr>
          <p:cNvPr id="40" name="flow-chip"/>
          <p:cNvSpPr/>
          <p:nvPr/>
        </p:nvSpPr>
        <p:spPr>
          <a:xfrm>
            <a:off x="4503237" y="4782312"/>
            <a:ext cx="1149949" cy="384048"/>
          </a:xfrm>
          <a:prstGeom prst="roundRect">
            <a:avLst>
              <a:gd name="adj" fmla="val 50000"/>
            </a:avLst>
          </a:prstGeom>
          <a:solidFill>
            <a:srgbClr val="E6F4F2"/>
          </a:solidFill>
          <a:ln w="12700">
            <a:solidFill>
              <a:srgbClr val="0B2135"/>
            </a:solidFill>
            <a:prstDash val="solid"/>
          </a:ln>
        </p:spPr>
      </p:sp>
      <p:sp>
        <p:nvSpPr>
          <p:cNvPr id="41" name="Text 36"/>
          <p:cNvSpPr txBox="1"/>
          <p:nvPr/>
        </p:nvSpPr>
        <p:spPr>
          <a:xfrm>
            <a:off x="4503237" y="4782312"/>
            <a:ext cx="1149949" cy="384048"/>
          </a:xfrm>
          <a:prstGeom prst="rect">
            <a:avLst/>
          </a:prstGeom>
          <a:noFill/>
          <a:ln/>
        </p:spPr>
        <p:txBody>
          <a:bodyPr wrap="square" lIns="0" tIns="0" rIns="0" bIns="0" rtlCol="0" anchor="ctr"/>
          <a:lstStyle/>
          <a:p>
            <a:pPr algn="ctr" indent="0" marL="0">
              <a:buNone/>
            </a:pPr>
            <a:r>
              <a:rPr lang="en-US" sz="1200" b="1" dirty="0">
                <a:solidFill>
                  <a:srgbClr val="0B2135"/>
                </a:solidFill>
                <a:latin typeface="Calibri" pitchFamily="34" charset="0"/>
                <a:ea typeface="Calibri" pitchFamily="34" charset="-122"/>
                <a:cs typeface="Calibri" pitchFamily="34" charset="-120"/>
              </a:rPr>
              <a:t>Noticeboard</a:t>
            </a:r>
            <a:endParaRPr lang="en-US" sz="1200" dirty="0"/>
          </a:p>
        </p:txBody>
      </p:sp>
      <p:sp>
        <p:nvSpPr>
          <p:cNvPr id="42" name="icon-bg"/>
          <p:cNvSpPr/>
          <p:nvPr/>
        </p:nvSpPr>
        <p:spPr>
          <a:xfrm>
            <a:off x="548640" y="5376672"/>
            <a:ext cx="384048" cy="384048"/>
          </a:xfrm>
          <a:prstGeom prst="ellipse">
            <a:avLst/>
          </a:prstGeom>
          <a:solidFill>
            <a:srgbClr val="F4B942"/>
          </a:solidFill>
          <a:ln w="12700">
            <a:solidFill>
              <a:srgbClr val="F4B942"/>
            </a:solidFill>
            <a:prstDash val="solid"/>
          </a:ln>
        </p:spPr>
      </p:sp>
      <p:pic>
        <p:nvPicPr>
          <p:cNvPr id="43" name="icon" descr="preencoded.png">    </p:cNvPr>
          <p:cNvPicPr>
            <a:picLocks noChangeAspect="1"/>
          </p:cNvPicPr>
          <p:nvPr/>
        </p:nvPicPr>
        <p:blipFill>
          <a:blip r:embed="rId4"/>
          <a:stretch>
            <a:fillRect/>
          </a:stretch>
        </p:blipFill>
        <p:spPr>
          <a:xfrm>
            <a:off x="640812" y="5468844"/>
            <a:ext cx="199705" cy="199705"/>
          </a:xfrm>
          <a:prstGeom prst="rect">
            <a:avLst/>
          </a:prstGeom>
        </p:spPr>
      </p:pic>
      <p:sp>
        <p:nvSpPr>
          <p:cNvPr id="44" name="Text 38"/>
          <p:cNvSpPr txBox="1"/>
          <p:nvPr/>
        </p:nvSpPr>
        <p:spPr>
          <a:xfrm>
            <a:off x="1051560" y="5340096"/>
            <a:ext cx="4572000" cy="548640"/>
          </a:xfrm>
          <a:prstGeom prst="rect">
            <a:avLst/>
          </a:prstGeom>
          <a:noFill/>
          <a:ln/>
        </p:spPr>
        <p:txBody>
          <a:bodyPr wrap="square" lIns="0" tIns="0" rIns="0" bIns="0" rtlCol="0" anchor="ctr"/>
          <a:lstStyle/>
          <a:p>
            <a:pPr indent="0" marL="0">
              <a:buNone/>
            </a:pPr>
            <a:r>
              <a:rPr lang="en-US" sz="1150" dirty="0">
                <a:solidFill>
                  <a:srgbClr val="0B2135"/>
                </a:solidFill>
                <a:latin typeface="Calibri" pitchFamily="34" charset="0"/>
                <a:ea typeface="Calibri" pitchFamily="34" charset="-122"/>
                <a:cs typeface="Calibri" pitchFamily="34" charset="-120"/>
              </a:rPr>
              <a:t>High-priority notices are highlighted in red and also appear on the dashboard.</a:t>
            </a:r>
            <a:endParaRPr lang="en-US" sz="1150" dirty="0"/>
          </a:p>
        </p:txBody>
      </p:sp>
      <p:pic>
        <p:nvPicPr>
          <p:cNvPr id="45" name="screenshot" descr="img/p_announce.png">    </p:cNvPr>
          <p:cNvPicPr>
            <a:picLocks noChangeAspect="1"/>
          </p:cNvPicPr>
          <p:nvPr/>
        </p:nvPicPr>
        <p:blipFill>
          <a:blip r:embed="rId5"/>
          <a:stretch>
            <a:fillRect/>
          </a:stretch>
        </p:blipFill>
        <p:spPr>
          <a:xfrm>
            <a:off x="5989320" y="1261872"/>
            <a:ext cx="5669280" cy="2134445"/>
          </a:xfrm>
          <a:prstGeom prst="rect">
            <a:avLst/>
          </a:prstGeom>
          <a:effectLst>
            <a:outerShdw sx="100000" sy="100000" kx="0" ky="0" algn="bl" rotWithShape="0" blurRad="228600" dist="50800" dir="5400000">
              <a:srgbClr val="0B2135">
                <a:alpha val="22000"/>
              </a:srgbClr>
            </a:outerShdw>
          </a:effectLst>
        </p:spPr>
      </p:pic>
      <p:pic>
        <p:nvPicPr>
          <p:cNvPr id="46" name="form-inset" descr="img/modal_announce.png">    </p:cNvPr>
          <p:cNvPicPr>
            <a:picLocks noChangeAspect="1"/>
          </p:cNvPicPr>
          <p:nvPr/>
        </p:nvPicPr>
        <p:blipFill>
          <a:blip r:embed="rId6"/>
          <a:stretch>
            <a:fillRect/>
          </a:stretch>
        </p:blipFill>
        <p:spPr>
          <a:xfrm>
            <a:off x="9060724" y="3886200"/>
            <a:ext cx="2506436" cy="2286000"/>
          </a:xfrm>
          <a:prstGeom prst="rect">
            <a:avLst/>
          </a:prstGeom>
          <a:effectLst>
            <a:outerShdw sx="100000" sy="100000" kx="0" ky="0" algn="bl" rotWithShape="0" blurRad="279400" dist="63500" dir="5400000">
              <a:srgbClr val="0B2135">
                <a:alpha val="30000"/>
              </a:srgbClr>
            </a:outerShdw>
          </a:effectLst>
        </p:spPr>
      </p:pic>
      <p:sp>
        <p:nvSpPr>
          <p:cNvPr id="47" name="Text 39"/>
          <p:cNvSpPr txBox="1"/>
          <p:nvPr/>
        </p:nvSpPr>
        <p:spPr>
          <a:xfrm>
            <a:off x="5989320" y="3670637"/>
            <a:ext cx="310896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SUMMARY CARDS ON THIS PAGE</a:t>
            </a:r>
            <a:endParaRPr lang="en-US" sz="1000" dirty="0"/>
          </a:p>
        </p:txBody>
      </p:sp>
      <p:sp>
        <p:nvSpPr>
          <p:cNvPr id="48" name="dot"/>
          <p:cNvSpPr/>
          <p:nvPr/>
        </p:nvSpPr>
        <p:spPr>
          <a:xfrm>
            <a:off x="5989320" y="4054685"/>
            <a:ext cx="128016" cy="128016"/>
          </a:xfrm>
          <a:prstGeom prst="ellipse">
            <a:avLst/>
          </a:prstGeom>
          <a:solidFill>
            <a:srgbClr val="5B8DEF"/>
          </a:solidFill>
          <a:ln w="12700">
            <a:solidFill>
              <a:srgbClr val="5B8DEF"/>
            </a:solidFill>
            <a:prstDash val="solid"/>
          </a:ln>
        </p:spPr>
      </p:sp>
      <p:sp>
        <p:nvSpPr>
          <p:cNvPr id="49" name="Text 41"/>
          <p:cNvSpPr txBox="1"/>
          <p:nvPr/>
        </p:nvSpPr>
        <p:spPr>
          <a:xfrm>
            <a:off x="6217920" y="3963245"/>
            <a:ext cx="2743200" cy="310896"/>
          </a:xfrm>
          <a:prstGeom prst="rect">
            <a:avLst/>
          </a:prstGeom>
          <a:noFill/>
          <a:ln/>
        </p:spPr>
        <p:txBody>
          <a:bodyPr wrap="square" lIns="0" tIns="0" rIns="0" bIns="0" rtlCol="0" anchor="ctr"/>
          <a:lstStyle/>
          <a:p>
            <a:pPr indent="0" marL="0">
              <a:buNone/>
            </a:pPr>
            <a:r>
              <a:rPr lang="en-US" sz="1200" dirty="0">
                <a:solidFill>
                  <a:srgbClr val="0B2135"/>
                </a:solidFill>
                <a:latin typeface="Calibri" pitchFamily="34" charset="0"/>
                <a:ea typeface="Calibri" pitchFamily="34" charset="-122"/>
                <a:cs typeface="Calibri" pitchFamily="34" charset="-120"/>
              </a:rPr>
              <a:t>Searchable noticeboard</a:t>
            </a:r>
            <a:endParaRPr lang="en-US" sz="1200" dirty="0"/>
          </a:p>
        </p:txBody>
      </p:sp>
      <p:sp>
        <p:nvSpPr>
          <p:cNvPr id="50" name="dot"/>
          <p:cNvSpPr/>
          <p:nvPr/>
        </p:nvSpPr>
        <p:spPr>
          <a:xfrm>
            <a:off x="5989320" y="4438733"/>
            <a:ext cx="128016" cy="128016"/>
          </a:xfrm>
          <a:prstGeom prst="ellipse">
            <a:avLst/>
          </a:prstGeom>
          <a:solidFill>
            <a:srgbClr val="F0605D"/>
          </a:solidFill>
          <a:ln w="12700">
            <a:solidFill>
              <a:srgbClr val="F0605D"/>
            </a:solidFill>
            <a:prstDash val="solid"/>
          </a:ln>
        </p:spPr>
      </p:sp>
      <p:sp>
        <p:nvSpPr>
          <p:cNvPr id="51" name="Text 43"/>
          <p:cNvSpPr txBox="1"/>
          <p:nvPr/>
        </p:nvSpPr>
        <p:spPr>
          <a:xfrm>
            <a:off x="6217920" y="4347293"/>
            <a:ext cx="2743200" cy="310896"/>
          </a:xfrm>
          <a:prstGeom prst="rect">
            <a:avLst/>
          </a:prstGeom>
          <a:noFill/>
          <a:ln/>
        </p:spPr>
        <p:txBody>
          <a:bodyPr wrap="square" lIns="0" tIns="0" rIns="0" bIns="0" rtlCol="0" anchor="ctr"/>
          <a:lstStyle/>
          <a:p>
            <a:pPr indent="0" marL="0">
              <a:buNone/>
            </a:pPr>
            <a:r>
              <a:rPr lang="en-US" sz="1200" dirty="0">
                <a:solidFill>
                  <a:srgbClr val="0B2135"/>
                </a:solidFill>
                <a:latin typeface="Calibri" pitchFamily="34" charset="0"/>
                <a:ea typeface="Calibri" pitchFamily="34" charset="-122"/>
                <a:cs typeface="Calibri" pitchFamily="34" charset="-120"/>
              </a:rPr>
              <a:t>Priority badge on each notice</a:t>
            </a:r>
            <a:endParaRPr lang="en-US" sz="1200" dirty="0"/>
          </a:p>
        </p:txBody>
      </p:sp>
      <p:sp>
        <p:nvSpPr>
          <p:cNvPr id="52" name="dot"/>
          <p:cNvSpPr/>
          <p:nvPr/>
        </p:nvSpPr>
        <p:spPr>
          <a:xfrm>
            <a:off x="5989320" y="4822781"/>
            <a:ext cx="128016" cy="128016"/>
          </a:xfrm>
          <a:prstGeom prst="ellipse">
            <a:avLst/>
          </a:prstGeom>
          <a:solidFill>
            <a:srgbClr val="13A89E"/>
          </a:solidFill>
          <a:ln w="12700">
            <a:solidFill>
              <a:srgbClr val="13A89E"/>
            </a:solidFill>
            <a:prstDash val="solid"/>
          </a:ln>
        </p:spPr>
      </p:sp>
      <p:sp>
        <p:nvSpPr>
          <p:cNvPr id="53" name="Text 45"/>
          <p:cNvSpPr txBox="1"/>
          <p:nvPr/>
        </p:nvSpPr>
        <p:spPr>
          <a:xfrm>
            <a:off x="6217920" y="4731341"/>
            <a:ext cx="2743200" cy="310896"/>
          </a:xfrm>
          <a:prstGeom prst="rect">
            <a:avLst/>
          </a:prstGeom>
          <a:noFill/>
          <a:ln/>
        </p:spPr>
        <p:txBody>
          <a:bodyPr wrap="square" lIns="0" tIns="0" rIns="0" bIns="0" rtlCol="0" anchor="ctr"/>
          <a:lstStyle/>
          <a:p>
            <a:pPr indent="0" marL="0">
              <a:buNone/>
            </a:pPr>
            <a:r>
              <a:rPr lang="en-US" sz="1200" dirty="0">
                <a:solidFill>
                  <a:srgbClr val="0B2135"/>
                </a:solidFill>
                <a:latin typeface="Calibri" pitchFamily="34" charset="0"/>
                <a:ea typeface="Calibri" pitchFamily="34" charset="-122"/>
                <a:cs typeface="Calibri" pitchFamily="34" charset="-120"/>
              </a:rPr>
              <a:t>Target audience shown</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t"/>
          <a:lstStyle/>
          <a:p>
            <a:pPr indent="0" marL="0">
              <a:buNone/>
            </a:pPr>
            <a:r>
              <a:rPr lang="en-US" sz="1100" b="1" spc="300" kern="0" dirty="0">
                <a:solidFill>
                  <a:srgbClr val="0E7C76"/>
                </a:solidFill>
                <a:latin typeface="Calibri" pitchFamily="34" charset="0"/>
                <a:ea typeface="Calibri" pitchFamily="34" charset="-122"/>
                <a:cs typeface="Calibri" pitchFamily="34" charset="-120"/>
              </a:rPr>
              <a:t>MODULE 11 · COMMUNITY  ·  ASSOCIATION</a:t>
            </a:r>
            <a:endParaRPr lang="en-US" sz="1100" dirty="0"/>
          </a:p>
        </p:txBody>
      </p:sp>
      <p:sp>
        <p:nvSpPr>
          <p:cNvPr id="3" name="Text 1"/>
          <p:cNvSpPr/>
          <p:nvPr>
            <p:ph idx="101" type="title" hasCustomPrompt="1"/>
          </p:nvPr>
        </p:nvSpPr>
        <p:spPr>
          <a:xfrm>
            <a:off x="548640" y="457200"/>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Association: who runs the community</a:t>
            </a:r>
            <a:endParaRPr lang="en-US" sz="3000" dirty="0"/>
          </a:p>
        </p:txBody>
      </p:sp>
      <p:sp>
        <p:nvSpPr>
          <p:cNvPr id="4" name="Text 2"/>
          <p:cNvSpPr txBox="1"/>
          <p:nvPr/>
        </p:nvSpPr>
        <p:spPr>
          <a:xfrm>
            <a:off x="548640" y="1261872"/>
            <a:ext cx="5074920" cy="822960"/>
          </a:xfrm>
          <a:prstGeom prst="rect">
            <a:avLst/>
          </a:prstGeom>
          <a:noFill/>
          <a:ln/>
        </p:spPr>
        <p:txBody>
          <a:bodyPr wrap="square" lIns="0" tIns="0" rIns="0" bIns="0" rtlCol="0" anchor="t"/>
          <a:lstStyle/>
          <a:p>
            <a:pPr indent="0" marL="0">
              <a:buNone/>
            </a:pPr>
            <a:r>
              <a:rPr lang="en-US" sz="1400" dirty="0">
                <a:solidFill>
                  <a:srgbClr val="16384F"/>
                </a:solidFill>
                <a:latin typeface="Calibri" pitchFamily="34" charset="0"/>
                <a:ea typeface="Calibri" pitchFamily="34" charset="-122"/>
                <a:cs typeface="Calibri" pitchFamily="34" charset="-120"/>
              </a:rPr>
              <a:t>A public directory of the management committee — names, roles and contacts — so residents always know whom to approach.</a:t>
            </a:r>
            <a:endParaRPr lang="en-US" sz="1400" dirty="0"/>
          </a:p>
        </p:txBody>
      </p:sp>
      <p:sp>
        <p:nvSpPr>
          <p:cNvPr id="5" name="Text 3"/>
          <p:cNvSpPr txBox="1"/>
          <p:nvPr/>
        </p:nvSpPr>
        <p:spPr>
          <a:xfrm>
            <a:off x="548640" y="2176272"/>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WHO USES IT</a:t>
            </a:r>
            <a:endParaRPr lang="en-US" sz="1000" dirty="0"/>
          </a:p>
        </p:txBody>
      </p:sp>
      <p:sp>
        <p:nvSpPr>
          <p:cNvPr id="6" name="role-chip"/>
          <p:cNvSpPr/>
          <p:nvPr/>
        </p:nvSpPr>
        <p:spPr>
          <a:xfrm>
            <a:off x="548640" y="2450592"/>
            <a:ext cx="1115751" cy="329184"/>
          </a:xfrm>
          <a:prstGeom prst="roundRect">
            <a:avLst>
              <a:gd name="adj" fmla="val 50000"/>
            </a:avLst>
          </a:prstGeom>
          <a:solidFill>
            <a:srgbClr val="0B2135"/>
          </a:solidFill>
          <a:ln w="12700">
            <a:solidFill>
              <a:srgbClr val="0B2135"/>
            </a:solidFill>
            <a:prstDash val="solid"/>
          </a:ln>
        </p:spPr>
      </p:sp>
      <p:sp>
        <p:nvSpPr>
          <p:cNvPr id="7" name="Text 5"/>
          <p:cNvSpPr txBox="1"/>
          <p:nvPr/>
        </p:nvSpPr>
        <p:spPr>
          <a:xfrm>
            <a:off x="548640" y="2450592"/>
            <a:ext cx="1115751"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Super Admin</a:t>
            </a:r>
            <a:endParaRPr lang="en-US" sz="1150" dirty="0"/>
          </a:p>
        </p:txBody>
      </p:sp>
      <p:sp>
        <p:nvSpPr>
          <p:cNvPr id="8" name="role-chip"/>
          <p:cNvSpPr/>
          <p:nvPr/>
        </p:nvSpPr>
        <p:spPr>
          <a:xfrm>
            <a:off x="1774119" y="2450592"/>
            <a:ext cx="972739" cy="329184"/>
          </a:xfrm>
          <a:prstGeom prst="roundRect">
            <a:avLst>
              <a:gd name="adj" fmla="val 50000"/>
            </a:avLst>
          </a:prstGeom>
          <a:solidFill>
            <a:srgbClr val="0E7C76"/>
          </a:solidFill>
          <a:ln w="12700">
            <a:solidFill>
              <a:srgbClr val="0E7C76"/>
            </a:solidFill>
            <a:prstDash val="solid"/>
          </a:ln>
        </p:spPr>
      </p:sp>
      <p:sp>
        <p:nvSpPr>
          <p:cNvPr id="9" name="Text 7"/>
          <p:cNvSpPr txBox="1"/>
          <p:nvPr/>
        </p:nvSpPr>
        <p:spPr>
          <a:xfrm>
            <a:off x="1774119" y="2450592"/>
            <a:ext cx="972739"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Volunteer</a:t>
            </a:r>
            <a:endParaRPr lang="en-US" sz="1150" dirty="0"/>
          </a:p>
        </p:txBody>
      </p:sp>
      <p:sp>
        <p:nvSpPr>
          <p:cNvPr id="10" name="Text 8"/>
          <p:cNvSpPr txBox="1"/>
          <p:nvPr/>
        </p:nvSpPr>
        <p:spPr>
          <a:xfrm>
            <a:off x="548640" y="2971800"/>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WHAT GETS RECORDED</a:t>
            </a:r>
            <a:endParaRPr lang="en-US" sz="1000" dirty="0"/>
          </a:p>
        </p:txBody>
      </p:sp>
      <p:sp>
        <p:nvSpPr>
          <p:cNvPr id="11" name="field-tag"/>
          <p:cNvSpPr/>
          <p:nvPr/>
        </p:nvSpPr>
        <p:spPr>
          <a:xfrm>
            <a:off x="548640" y="3246120"/>
            <a:ext cx="2468880" cy="310896"/>
          </a:xfrm>
          <a:prstGeom prst="roundRect">
            <a:avLst>
              <a:gd name="adj" fmla="val 17647"/>
            </a:avLst>
          </a:prstGeom>
          <a:solidFill>
            <a:srgbClr val="F1F7F7"/>
          </a:solidFill>
          <a:ln w="12700">
            <a:solidFill>
              <a:srgbClr val="F1F7F7"/>
            </a:solidFill>
            <a:prstDash val="solid"/>
          </a:ln>
        </p:spPr>
      </p:sp>
      <p:sp>
        <p:nvSpPr>
          <p:cNvPr id="12" name="dot"/>
          <p:cNvSpPr/>
          <p:nvPr/>
        </p:nvSpPr>
        <p:spPr>
          <a:xfrm>
            <a:off x="658368" y="3364992"/>
            <a:ext cx="73152" cy="73152"/>
          </a:xfrm>
          <a:prstGeom prst="ellipse">
            <a:avLst/>
          </a:prstGeom>
          <a:solidFill>
            <a:srgbClr val="13A89E"/>
          </a:solidFill>
          <a:ln w="12700">
            <a:solidFill>
              <a:srgbClr val="13A89E"/>
            </a:solidFill>
            <a:prstDash val="solid"/>
          </a:ln>
        </p:spPr>
      </p:sp>
      <p:sp>
        <p:nvSpPr>
          <p:cNvPr id="13" name="Text 11"/>
          <p:cNvSpPr txBox="1"/>
          <p:nvPr/>
        </p:nvSpPr>
        <p:spPr>
          <a:xfrm>
            <a:off x="804672" y="3246120"/>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Member name</a:t>
            </a:r>
            <a:endParaRPr lang="en-US" sz="1100" dirty="0"/>
          </a:p>
        </p:txBody>
      </p:sp>
      <p:sp>
        <p:nvSpPr>
          <p:cNvPr id="14" name="field-tag"/>
          <p:cNvSpPr/>
          <p:nvPr/>
        </p:nvSpPr>
        <p:spPr>
          <a:xfrm>
            <a:off x="3154680" y="3246120"/>
            <a:ext cx="2468880" cy="310896"/>
          </a:xfrm>
          <a:prstGeom prst="roundRect">
            <a:avLst>
              <a:gd name="adj" fmla="val 17647"/>
            </a:avLst>
          </a:prstGeom>
          <a:solidFill>
            <a:srgbClr val="F1F7F7"/>
          </a:solidFill>
          <a:ln w="12700">
            <a:solidFill>
              <a:srgbClr val="F1F7F7"/>
            </a:solidFill>
            <a:prstDash val="solid"/>
          </a:ln>
        </p:spPr>
      </p:sp>
      <p:sp>
        <p:nvSpPr>
          <p:cNvPr id="15" name="dot"/>
          <p:cNvSpPr/>
          <p:nvPr/>
        </p:nvSpPr>
        <p:spPr>
          <a:xfrm>
            <a:off x="3264408" y="3364992"/>
            <a:ext cx="73152" cy="73152"/>
          </a:xfrm>
          <a:prstGeom prst="ellipse">
            <a:avLst/>
          </a:prstGeom>
          <a:solidFill>
            <a:srgbClr val="13A89E"/>
          </a:solidFill>
          <a:ln w="12700">
            <a:solidFill>
              <a:srgbClr val="13A89E"/>
            </a:solidFill>
            <a:prstDash val="solid"/>
          </a:ln>
        </p:spPr>
      </p:sp>
      <p:sp>
        <p:nvSpPr>
          <p:cNvPr id="16" name="Text 14"/>
          <p:cNvSpPr txBox="1"/>
          <p:nvPr/>
        </p:nvSpPr>
        <p:spPr>
          <a:xfrm>
            <a:off x="3410712" y="3246120"/>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Role: President / Secretary / Treasurer / Member</a:t>
            </a:r>
            <a:endParaRPr lang="en-US" sz="1100" dirty="0"/>
          </a:p>
        </p:txBody>
      </p:sp>
      <p:sp>
        <p:nvSpPr>
          <p:cNvPr id="17" name="field-tag"/>
          <p:cNvSpPr/>
          <p:nvPr/>
        </p:nvSpPr>
        <p:spPr>
          <a:xfrm>
            <a:off x="548640" y="3630168"/>
            <a:ext cx="2468880" cy="310896"/>
          </a:xfrm>
          <a:prstGeom prst="roundRect">
            <a:avLst>
              <a:gd name="adj" fmla="val 17647"/>
            </a:avLst>
          </a:prstGeom>
          <a:solidFill>
            <a:srgbClr val="F1F7F7"/>
          </a:solidFill>
          <a:ln w="12700">
            <a:solidFill>
              <a:srgbClr val="F1F7F7"/>
            </a:solidFill>
            <a:prstDash val="solid"/>
          </a:ln>
        </p:spPr>
      </p:sp>
      <p:sp>
        <p:nvSpPr>
          <p:cNvPr id="18" name="dot"/>
          <p:cNvSpPr/>
          <p:nvPr/>
        </p:nvSpPr>
        <p:spPr>
          <a:xfrm>
            <a:off x="658368" y="3749040"/>
            <a:ext cx="73152" cy="73152"/>
          </a:xfrm>
          <a:prstGeom prst="ellipse">
            <a:avLst/>
          </a:prstGeom>
          <a:solidFill>
            <a:srgbClr val="13A89E"/>
          </a:solidFill>
          <a:ln w="12700">
            <a:solidFill>
              <a:srgbClr val="13A89E"/>
            </a:solidFill>
            <a:prstDash val="solid"/>
          </a:ln>
        </p:spPr>
      </p:sp>
      <p:sp>
        <p:nvSpPr>
          <p:cNvPr id="19" name="Text 17"/>
          <p:cNvSpPr txBox="1"/>
          <p:nvPr/>
        </p:nvSpPr>
        <p:spPr>
          <a:xfrm>
            <a:off x="804672" y="3630168"/>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Phase and sector they represent</a:t>
            </a:r>
            <a:endParaRPr lang="en-US" sz="1100" dirty="0"/>
          </a:p>
        </p:txBody>
      </p:sp>
      <p:sp>
        <p:nvSpPr>
          <p:cNvPr id="20" name="field-tag"/>
          <p:cNvSpPr/>
          <p:nvPr/>
        </p:nvSpPr>
        <p:spPr>
          <a:xfrm>
            <a:off x="3154680" y="3630168"/>
            <a:ext cx="2468880" cy="310896"/>
          </a:xfrm>
          <a:prstGeom prst="roundRect">
            <a:avLst>
              <a:gd name="adj" fmla="val 17647"/>
            </a:avLst>
          </a:prstGeom>
          <a:solidFill>
            <a:srgbClr val="F1F7F7"/>
          </a:solidFill>
          <a:ln w="12700">
            <a:solidFill>
              <a:srgbClr val="F1F7F7"/>
            </a:solidFill>
            <a:prstDash val="solid"/>
          </a:ln>
        </p:spPr>
      </p:sp>
      <p:sp>
        <p:nvSpPr>
          <p:cNvPr id="21" name="dot"/>
          <p:cNvSpPr/>
          <p:nvPr/>
        </p:nvSpPr>
        <p:spPr>
          <a:xfrm>
            <a:off x="3264408" y="3749040"/>
            <a:ext cx="73152" cy="73152"/>
          </a:xfrm>
          <a:prstGeom prst="ellipse">
            <a:avLst/>
          </a:prstGeom>
          <a:solidFill>
            <a:srgbClr val="13A89E"/>
          </a:solidFill>
          <a:ln w="12700">
            <a:solidFill>
              <a:srgbClr val="13A89E"/>
            </a:solidFill>
            <a:prstDash val="solid"/>
          </a:ln>
        </p:spPr>
      </p:sp>
      <p:sp>
        <p:nvSpPr>
          <p:cNvPr id="22" name="Text 20"/>
          <p:cNvSpPr txBox="1"/>
          <p:nvPr/>
        </p:nvSpPr>
        <p:spPr>
          <a:xfrm>
            <a:off x="3410712" y="3630168"/>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Contact number</a:t>
            </a:r>
            <a:endParaRPr lang="en-US" sz="1100" dirty="0"/>
          </a:p>
        </p:txBody>
      </p:sp>
      <p:sp>
        <p:nvSpPr>
          <p:cNvPr id="23" name="Text 21"/>
          <p:cNvSpPr txBox="1"/>
          <p:nvPr/>
        </p:nvSpPr>
        <p:spPr>
          <a:xfrm>
            <a:off x="548640" y="4123944"/>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LIFECYCLE</a:t>
            </a:r>
            <a:endParaRPr lang="en-US" sz="1000" dirty="0"/>
          </a:p>
        </p:txBody>
      </p:sp>
      <p:sp>
        <p:nvSpPr>
          <p:cNvPr id="24" name="flow-chip"/>
          <p:cNvSpPr/>
          <p:nvPr/>
        </p:nvSpPr>
        <p:spPr>
          <a:xfrm>
            <a:off x="548640" y="4398264"/>
            <a:ext cx="1075334" cy="384048"/>
          </a:xfrm>
          <a:prstGeom prst="roundRect">
            <a:avLst>
              <a:gd name="adj" fmla="val 50000"/>
            </a:avLst>
          </a:prstGeom>
          <a:solidFill>
            <a:srgbClr val="F1F7F7"/>
          </a:solidFill>
          <a:ln w="12700">
            <a:solidFill>
              <a:srgbClr val="0B2135"/>
            </a:solidFill>
            <a:prstDash val="solid"/>
          </a:ln>
        </p:spPr>
      </p:sp>
      <p:sp>
        <p:nvSpPr>
          <p:cNvPr id="25" name="Text 23"/>
          <p:cNvSpPr txBox="1"/>
          <p:nvPr/>
        </p:nvSpPr>
        <p:spPr>
          <a:xfrm>
            <a:off x="548640" y="4398264"/>
            <a:ext cx="1075334" cy="384048"/>
          </a:xfrm>
          <a:prstGeom prst="rect">
            <a:avLst/>
          </a:prstGeom>
          <a:noFill/>
          <a:ln/>
        </p:spPr>
        <p:txBody>
          <a:bodyPr wrap="square" lIns="0" tIns="0" rIns="0" bIns="0" rtlCol="0" anchor="ctr"/>
          <a:lstStyle/>
          <a:p>
            <a:pPr algn="ctr" indent="0" marL="0">
              <a:buNone/>
            </a:pPr>
            <a:r>
              <a:rPr lang="en-US" sz="1200" b="1" dirty="0">
                <a:solidFill>
                  <a:srgbClr val="0B2135"/>
                </a:solidFill>
                <a:latin typeface="Calibri" pitchFamily="34" charset="0"/>
                <a:ea typeface="Calibri" pitchFamily="34" charset="-122"/>
                <a:cs typeface="Calibri" pitchFamily="34" charset="-120"/>
              </a:rPr>
              <a:t>Add member</a:t>
            </a:r>
            <a:endParaRPr lang="en-US" sz="1200" dirty="0"/>
          </a:p>
        </p:txBody>
      </p:sp>
      <p:pic>
        <p:nvPicPr>
          <p:cNvPr id="26" name="arrow" descr="preencoded.png">    </p:cNvPr>
          <p:cNvPicPr>
            <a:picLocks noChangeAspect="1"/>
          </p:cNvPicPr>
          <p:nvPr/>
        </p:nvPicPr>
        <p:blipFill>
          <a:blip r:embed="rId1"/>
          <a:stretch>
            <a:fillRect/>
          </a:stretch>
        </p:blipFill>
        <p:spPr>
          <a:xfrm>
            <a:off x="1669694" y="4489704"/>
            <a:ext cx="201168" cy="201168"/>
          </a:xfrm>
          <a:prstGeom prst="rect">
            <a:avLst/>
          </a:prstGeom>
        </p:spPr>
      </p:pic>
      <p:sp>
        <p:nvSpPr>
          <p:cNvPr id="27" name="flow-chip"/>
          <p:cNvSpPr/>
          <p:nvPr/>
        </p:nvSpPr>
        <p:spPr>
          <a:xfrm>
            <a:off x="1916582" y="4398264"/>
            <a:ext cx="1373795" cy="384048"/>
          </a:xfrm>
          <a:prstGeom prst="roundRect">
            <a:avLst>
              <a:gd name="adj" fmla="val 50000"/>
            </a:avLst>
          </a:prstGeom>
          <a:solidFill>
            <a:srgbClr val="F1F7F7"/>
          </a:solidFill>
          <a:ln w="12700">
            <a:solidFill>
              <a:srgbClr val="0B2135"/>
            </a:solidFill>
            <a:prstDash val="solid"/>
          </a:ln>
        </p:spPr>
      </p:sp>
      <p:sp>
        <p:nvSpPr>
          <p:cNvPr id="28" name="Text 25"/>
          <p:cNvSpPr txBox="1"/>
          <p:nvPr/>
        </p:nvSpPr>
        <p:spPr>
          <a:xfrm>
            <a:off x="1916582" y="4398264"/>
            <a:ext cx="1373795" cy="384048"/>
          </a:xfrm>
          <a:prstGeom prst="rect">
            <a:avLst/>
          </a:prstGeom>
          <a:noFill/>
          <a:ln/>
        </p:spPr>
        <p:txBody>
          <a:bodyPr wrap="square" lIns="0" tIns="0" rIns="0" bIns="0" rtlCol="0" anchor="ctr"/>
          <a:lstStyle/>
          <a:p>
            <a:pPr algn="ctr" indent="0" marL="0">
              <a:buNone/>
            </a:pPr>
            <a:r>
              <a:rPr lang="en-US" sz="1200" b="1" dirty="0">
                <a:solidFill>
                  <a:srgbClr val="0B2135"/>
                </a:solidFill>
                <a:latin typeface="Calibri" pitchFamily="34" charset="0"/>
                <a:ea typeface="Calibri" pitchFamily="34" charset="-122"/>
                <a:cs typeface="Calibri" pitchFamily="34" charset="-120"/>
              </a:rPr>
              <a:t>Directory card</a:t>
            </a:r>
            <a:endParaRPr lang="en-US" sz="1200" dirty="0"/>
          </a:p>
        </p:txBody>
      </p:sp>
      <p:pic>
        <p:nvPicPr>
          <p:cNvPr id="29" name="arrow" descr="preencoded.png">    </p:cNvPr>
          <p:cNvPicPr>
            <a:picLocks noChangeAspect="1"/>
          </p:cNvPicPr>
          <p:nvPr/>
        </p:nvPicPr>
        <p:blipFill>
          <a:blip r:embed="rId2"/>
          <a:stretch>
            <a:fillRect/>
          </a:stretch>
        </p:blipFill>
        <p:spPr>
          <a:xfrm>
            <a:off x="3336097" y="4489704"/>
            <a:ext cx="201168" cy="201168"/>
          </a:xfrm>
          <a:prstGeom prst="rect">
            <a:avLst/>
          </a:prstGeom>
        </p:spPr>
      </p:pic>
      <p:sp>
        <p:nvSpPr>
          <p:cNvPr id="30" name="flow-chip"/>
          <p:cNvSpPr/>
          <p:nvPr/>
        </p:nvSpPr>
        <p:spPr>
          <a:xfrm>
            <a:off x="3582985" y="4398264"/>
            <a:ext cx="1896100" cy="384048"/>
          </a:xfrm>
          <a:prstGeom prst="roundRect">
            <a:avLst>
              <a:gd name="adj" fmla="val 50000"/>
            </a:avLst>
          </a:prstGeom>
          <a:solidFill>
            <a:srgbClr val="E6F4F2"/>
          </a:solidFill>
          <a:ln w="12700">
            <a:solidFill>
              <a:srgbClr val="0B2135"/>
            </a:solidFill>
            <a:prstDash val="solid"/>
          </a:ln>
        </p:spPr>
      </p:sp>
      <p:sp>
        <p:nvSpPr>
          <p:cNvPr id="31" name="Text 27"/>
          <p:cNvSpPr txBox="1"/>
          <p:nvPr/>
        </p:nvSpPr>
        <p:spPr>
          <a:xfrm>
            <a:off x="3582985" y="4398264"/>
            <a:ext cx="1896100" cy="384048"/>
          </a:xfrm>
          <a:prstGeom prst="rect">
            <a:avLst/>
          </a:prstGeom>
          <a:noFill/>
          <a:ln/>
        </p:spPr>
        <p:txBody>
          <a:bodyPr wrap="square" lIns="0" tIns="0" rIns="0" bIns="0" rtlCol="0" anchor="ctr"/>
          <a:lstStyle/>
          <a:p>
            <a:pPr algn="ctr" indent="0" marL="0">
              <a:buNone/>
            </a:pPr>
            <a:r>
              <a:rPr lang="en-US" sz="1200" b="1" dirty="0">
                <a:solidFill>
                  <a:srgbClr val="0B2135"/>
                </a:solidFill>
                <a:latin typeface="Calibri" pitchFamily="34" charset="0"/>
                <a:ea typeface="Calibri" pitchFamily="34" charset="-122"/>
                <a:cs typeface="Calibri" pitchFamily="34" charset="-120"/>
              </a:rPr>
              <a:t>Remove when term ends</a:t>
            </a:r>
            <a:endParaRPr lang="en-US" sz="1200" dirty="0"/>
          </a:p>
        </p:txBody>
      </p:sp>
      <p:sp>
        <p:nvSpPr>
          <p:cNvPr id="32" name="icon-bg"/>
          <p:cNvSpPr/>
          <p:nvPr/>
        </p:nvSpPr>
        <p:spPr>
          <a:xfrm>
            <a:off x="548640" y="4992624"/>
            <a:ext cx="384048" cy="384048"/>
          </a:xfrm>
          <a:prstGeom prst="ellipse">
            <a:avLst/>
          </a:prstGeom>
          <a:solidFill>
            <a:srgbClr val="F4B942"/>
          </a:solidFill>
          <a:ln w="12700">
            <a:solidFill>
              <a:srgbClr val="F4B942"/>
            </a:solidFill>
            <a:prstDash val="solid"/>
          </a:ln>
        </p:spPr>
      </p:sp>
      <p:pic>
        <p:nvPicPr>
          <p:cNvPr id="33" name="icon" descr="preencoded.png">    </p:cNvPr>
          <p:cNvPicPr>
            <a:picLocks noChangeAspect="1"/>
          </p:cNvPicPr>
          <p:nvPr/>
        </p:nvPicPr>
        <p:blipFill>
          <a:blip r:embed="rId3"/>
          <a:stretch>
            <a:fillRect/>
          </a:stretch>
        </p:blipFill>
        <p:spPr>
          <a:xfrm>
            <a:off x="640812" y="5084796"/>
            <a:ext cx="199705" cy="199705"/>
          </a:xfrm>
          <a:prstGeom prst="rect">
            <a:avLst/>
          </a:prstGeom>
        </p:spPr>
      </p:pic>
      <p:sp>
        <p:nvSpPr>
          <p:cNvPr id="34" name="Text 29"/>
          <p:cNvSpPr txBox="1"/>
          <p:nvPr/>
        </p:nvSpPr>
        <p:spPr>
          <a:xfrm>
            <a:off x="1051560" y="4956048"/>
            <a:ext cx="4572000" cy="548640"/>
          </a:xfrm>
          <a:prstGeom prst="rect">
            <a:avLst/>
          </a:prstGeom>
          <a:noFill/>
          <a:ln/>
        </p:spPr>
        <p:txBody>
          <a:bodyPr wrap="square" lIns="0" tIns="0" rIns="0" bIns="0" rtlCol="0" anchor="ctr"/>
          <a:lstStyle/>
          <a:p>
            <a:pPr indent="0" marL="0">
              <a:buNone/>
            </a:pPr>
            <a:r>
              <a:rPr lang="en-US" sz="1150" dirty="0">
                <a:solidFill>
                  <a:srgbClr val="0B2135"/>
                </a:solidFill>
                <a:latin typeface="Calibri" pitchFamily="34" charset="0"/>
                <a:ea typeface="Calibri" pitchFamily="34" charset="-122"/>
                <a:cs typeface="Calibri" pitchFamily="34" charset="-120"/>
              </a:rPr>
              <a:t>Each member appears as a card with a role badge; the phase switcher shows each phase's representatives.</a:t>
            </a:r>
            <a:endParaRPr lang="en-US" sz="1150" dirty="0"/>
          </a:p>
        </p:txBody>
      </p:sp>
      <p:pic>
        <p:nvPicPr>
          <p:cNvPr id="35" name="screenshot" descr="img/p_association.png">    </p:cNvPr>
          <p:cNvPicPr>
            <a:picLocks noChangeAspect="1"/>
          </p:cNvPicPr>
          <p:nvPr/>
        </p:nvPicPr>
        <p:blipFill>
          <a:blip r:embed="rId4"/>
          <a:stretch>
            <a:fillRect/>
          </a:stretch>
        </p:blipFill>
        <p:spPr>
          <a:xfrm>
            <a:off x="5989320" y="1261872"/>
            <a:ext cx="5669280" cy="1863576"/>
          </a:xfrm>
          <a:prstGeom prst="rect">
            <a:avLst/>
          </a:prstGeom>
          <a:effectLst>
            <a:outerShdw sx="100000" sy="100000" kx="0" ky="0" algn="bl" rotWithShape="0" blurRad="228600" dist="50800" dir="5400000">
              <a:srgbClr val="0B2135">
                <a:alpha val="22000"/>
              </a:srgbClr>
            </a:outerShdw>
          </a:effectLst>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t"/>
          <a:lstStyle/>
          <a:p>
            <a:pPr indent="0" marL="0">
              <a:buNone/>
            </a:pPr>
            <a:r>
              <a:rPr lang="en-US" sz="1100" b="1" spc="300" kern="0" dirty="0">
                <a:solidFill>
                  <a:srgbClr val="0E7C76"/>
                </a:solidFill>
                <a:latin typeface="Calibri" pitchFamily="34" charset="0"/>
                <a:ea typeface="Calibri" pitchFamily="34" charset="-122"/>
                <a:cs typeface="Calibri" pitchFamily="34" charset="-120"/>
              </a:rPr>
              <a:t>MODULE 12 · COMMUNITY  ·  SERVICE PROVIDERS</a:t>
            </a:r>
            <a:endParaRPr lang="en-US" sz="1100" dirty="0"/>
          </a:p>
        </p:txBody>
      </p:sp>
      <p:sp>
        <p:nvSpPr>
          <p:cNvPr id="3" name="Text 1"/>
          <p:cNvSpPr/>
          <p:nvPr>
            <p:ph idx="101" type="title" hasCustomPrompt="1"/>
          </p:nvPr>
        </p:nvSpPr>
        <p:spPr>
          <a:xfrm>
            <a:off x="548640" y="457200"/>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Service Providers: a trusted directory</a:t>
            </a:r>
            <a:endParaRPr lang="en-US" sz="3000" dirty="0"/>
          </a:p>
        </p:txBody>
      </p:sp>
      <p:sp>
        <p:nvSpPr>
          <p:cNvPr id="4" name="Text 2"/>
          <p:cNvSpPr txBox="1"/>
          <p:nvPr/>
        </p:nvSpPr>
        <p:spPr>
          <a:xfrm>
            <a:off x="548640" y="1261872"/>
            <a:ext cx="5074920" cy="822960"/>
          </a:xfrm>
          <a:prstGeom prst="rect">
            <a:avLst/>
          </a:prstGeom>
          <a:noFill/>
          <a:ln/>
        </p:spPr>
        <p:txBody>
          <a:bodyPr wrap="square" lIns="0" tIns="0" rIns="0" bIns="0" rtlCol="0" anchor="t"/>
          <a:lstStyle/>
          <a:p>
            <a:pPr indent="0" marL="0">
              <a:buNone/>
            </a:pPr>
            <a:r>
              <a:rPr lang="en-US" sz="1400" dirty="0">
                <a:solidFill>
                  <a:srgbClr val="16384F"/>
                </a:solidFill>
                <a:latin typeface="Calibri" pitchFamily="34" charset="0"/>
                <a:ea typeface="Calibri" pitchFamily="34" charset="-122"/>
                <a:cs typeface="Calibri" pitchFamily="34" charset="-120"/>
              </a:rPr>
              <a:t>A shared list of the people who work in homes, with a verified badge, so residents can hire with confidence and guards know who to expect.</a:t>
            </a:r>
            <a:endParaRPr lang="en-US" sz="1400" dirty="0"/>
          </a:p>
        </p:txBody>
      </p:sp>
      <p:sp>
        <p:nvSpPr>
          <p:cNvPr id="5" name="Text 3"/>
          <p:cNvSpPr txBox="1"/>
          <p:nvPr/>
        </p:nvSpPr>
        <p:spPr>
          <a:xfrm>
            <a:off x="548640" y="2176272"/>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WHO USES IT</a:t>
            </a:r>
            <a:endParaRPr lang="en-US" sz="1000" dirty="0"/>
          </a:p>
        </p:txBody>
      </p:sp>
      <p:sp>
        <p:nvSpPr>
          <p:cNvPr id="6" name="role-chip"/>
          <p:cNvSpPr/>
          <p:nvPr/>
        </p:nvSpPr>
        <p:spPr>
          <a:xfrm>
            <a:off x="548640" y="2450592"/>
            <a:ext cx="1115751" cy="329184"/>
          </a:xfrm>
          <a:prstGeom prst="roundRect">
            <a:avLst>
              <a:gd name="adj" fmla="val 50000"/>
            </a:avLst>
          </a:prstGeom>
          <a:solidFill>
            <a:srgbClr val="0B2135"/>
          </a:solidFill>
          <a:ln w="12700">
            <a:solidFill>
              <a:srgbClr val="0B2135"/>
            </a:solidFill>
            <a:prstDash val="solid"/>
          </a:ln>
        </p:spPr>
      </p:sp>
      <p:sp>
        <p:nvSpPr>
          <p:cNvPr id="7" name="Text 5"/>
          <p:cNvSpPr txBox="1"/>
          <p:nvPr/>
        </p:nvSpPr>
        <p:spPr>
          <a:xfrm>
            <a:off x="548640" y="2450592"/>
            <a:ext cx="1115751"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Super Admin</a:t>
            </a:r>
            <a:endParaRPr lang="en-US" sz="1150" dirty="0"/>
          </a:p>
        </p:txBody>
      </p:sp>
      <p:sp>
        <p:nvSpPr>
          <p:cNvPr id="8" name="role-chip"/>
          <p:cNvSpPr/>
          <p:nvPr/>
        </p:nvSpPr>
        <p:spPr>
          <a:xfrm>
            <a:off x="1774119" y="2450592"/>
            <a:ext cx="972739" cy="329184"/>
          </a:xfrm>
          <a:prstGeom prst="roundRect">
            <a:avLst>
              <a:gd name="adj" fmla="val 50000"/>
            </a:avLst>
          </a:prstGeom>
          <a:solidFill>
            <a:srgbClr val="0E7C76"/>
          </a:solidFill>
          <a:ln w="12700">
            <a:solidFill>
              <a:srgbClr val="0E7C76"/>
            </a:solidFill>
            <a:prstDash val="solid"/>
          </a:ln>
        </p:spPr>
      </p:sp>
      <p:sp>
        <p:nvSpPr>
          <p:cNvPr id="9" name="Text 7"/>
          <p:cNvSpPr txBox="1"/>
          <p:nvPr/>
        </p:nvSpPr>
        <p:spPr>
          <a:xfrm>
            <a:off x="1774119" y="2450592"/>
            <a:ext cx="972739"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Volunteer</a:t>
            </a:r>
            <a:endParaRPr lang="en-US" sz="1150" dirty="0"/>
          </a:p>
        </p:txBody>
      </p:sp>
      <p:sp>
        <p:nvSpPr>
          <p:cNvPr id="10" name="role-chip"/>
          <p:cNvSpPr/>
          <p:nvPr/>
        </p:nvSpPr>
        <p:spPr>
          <a:xfrm>
            <a:off x="2856586" y="2450592"/>
            <a:ext cx="1187257" cy="329184"/>
          </a:xfrm>
          <a:prstGeom prst="roundRect">
            <a:avLst>
              <a:gd name="adj" fmla="val 50000"/>
            </a:avLst>
          </a:prstGeom>
          <a:solidFill>
            <a:srgbClr val="FFFFFF"/>
          </a:solidFill>
          <a:ln w="12700">
            <a:solidFill>
              <a:srgbClr val="B57A0C"/>
            </a:solidFill>
            <a:prstDash val="solid"/>
          </a:ln>
        </p:spPr>
      </p:sp>
      <p:sp>
        <p:nvSpPr>
          <p:cNvPr id="11" name="Text 9"/>
          <p:cNvSpPr txBox="1"/>
          <p:nvPr/>
        </p:nvSpPr>
        <p:spPr>
          <a:xfrm>
            <a:off x="2856586" y="2450592"/>
            <a:ext cx="1187257" cy="329184"/>
          </a:xfrm>
          <a:prstGeom prst="rect">
            <a:avLst/>
          </a:prstGeom>
          <a:noFill/>
          <a:ln/>
        </p:spPr>
        <p:txBody>
          <a:bodyPr wrap="square" lIns="0" tIns="0" rIns="0" bIns="0" rtlCol="0" anchor="ctr"/>
          <a:lstStyle/>
          <a:p>
            <a:pPr algn="ctr" indent="0" marL="0">
              <a:buNone/>
            </a:pPr>
            <a:r>
              <a:rPr lang="en-US" sz="1150" b="1" dirty="0">
                <a:solidFill>
                  <a:srgbClr val="B57A0C"/>
                </a:solidFill>
                <a:latin typeface="Calibri" pitchFamily="34" charset="0"/>
                <a:ea typeface="Calibri" pitchFamily="34" charset="-122"/>
                <a:cs typeface="Calibri" pitchFamily="34" charset="-120"/>
              </a:rPr>
              <a:t>Guard · view</a:t>
            </a:r>
            <a:endParaRPr lang="en-US" sz="1150" dirty="0"/>
          </a:p>
        </p:txBody>
      </p:sp>
      <p:sp>
        <p:nvSpPr>
          <p:cNvPr id="12" name="role-chip"/>
          <p:cNvSpPr/>
          <p:nvPr/>
        </p:nvSpPr>
        <p:spPr>
          <a:xfrm>
            <a:off x="4153571" y="2450592"/>
            <a:ext cx="1401775" cy="329184"/>
          </a:xfrm>
          <a:prstGeom prst="roundRect">
            <a:avLst>
              <a:gd name="adj" fmla="val 50000"/>
            </a:avLst>
          </a:prstGeom>
          <a:solidFill>
            <a:srgbClr val="FFFFFF"/>
          </a:solidFill>
          <a:ln w="12700">
            <a:solidFill>
              <a:srgbClr val="13A89E"/>
            </a:solidFill>
            <a:prstDash val="solid"/>
          </a:ln>
        </p:spPr>
      </p:sp>
      <p:sp>
        <p:nvSpPr>
          <p:cNvPr id="13" name="Text 11"/>
          <p:cNvSpPr txBox="1"/>
          <p:nvPr/>
        </p:nvSpPr>
        <p:spPr>
          <a:xfrm>
            <a:off x="4153571" y="2450592"/>
            <a:ext cx="1401775" cy="329184"/>
          </a:xfrm>
          <a:prstGeom prst="rect">
            <a:avLst/>
          </a:prstGeom>
          <a:noFill/>
          <a:ln/>
        </p:spPr>
        <p:txBody>
          <a:bodyPr wrap="square" lIns="0" tIns="0" rIns="0" bIns="0" rtlCol="0" anchor="ctr"/>
          <a:lstStyle/>
          <a:p>
            <a:pPr algn="ctr" indent="0" marL="0">
              <a:buNone/>
            </a:pPr>
            <a:r>
              <a:rPr lang="en-US" sz="1150" b="1" dirty="0">
                <a:solidFill>
                  <a:srgbClr val="13A89E"/>
                </a:solidFill>
                <a:latin typeface="Calibri" pitchFamily="34" charset="0"/>
                <a:ea typeface="Calibri" pitchFamily="34" charset="-122"/>
                <a:cs typeface="Calibri" pitchFamily="34" charset="-120"/>
              </a:rPr>
              <a:t>Resident · view</a:t>
            </a:r>
            <a:endParaRPr lang="en-US" sz="1150" dirty="0"/>
          </a:p>
        </p:txBody>
      </p:sp>
      <p:sp>
        <p:nvSpPr>
          <p:cNvPr id="14" name="Text 12"/>
          <p:cNvSpPr txBox="1"/>
          <p:nvPr/>
        </p:nvSpPr>
        <p:spPr>
          <a:xfrm>
            <a:off x="548640" y="2971800"/>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WHAT GETS RECORDED</a:t>
            </a:r>
            <a:endParaRPr lang="en-US" sz="1000" dirty="0"/>
          </a:p>
        </p:txBody>
      </p:sp>
      <p:sp>
        <p:nvSpPr>
          <p:cNvPr id="15" name="field-tag"/>
          <p:cNvSpPr/>
          <p:nvPr/>
        </p:nvSpPr>
        <p:spPr>
          <a:xfrm>
            <a:off x="548640" y="3246120"/>
            <a:ext cx="2468880" cy="310896"/>
          </a:xfrm>
          <a:prstGeom prst="roundRect">
            <a:avLst>
              <a:gd name="adj" fmla="val 17647"/>
            </a:avLst>
          </a:prstGeom>
          <a:solidFill>
            <a:srgbClr val="F1F7F7"/>
          </a:solidFill>
          <a:ln w="12700">
            <a:solidFill>
              <a:srgbClr val="F1F7F7"/>
            </a:solidFill>
            <a:prstDash val="solid"/>
          </a:ln>
        </p:spPr>
      </p:sp>
      <p:sp>
        <p:nvSpPr>
          <p:cNvPr id="16" name="dot"/>
          <p:cNvSpPr/>
          <p:nvPr/>
        </p:nvSpPr>
        <p:spPr>
          <a:xfrm>
            <a:off x="658368" y="3364992"/>
            <a:ext cx="73152" cy="73152"/>
          </a:xfrm>
          <a:prstGeom prst="ellipse">
            <a:avLst/>
          </a:prstGeom>
          <a:solidFill>
            <a:srgbClr val="13A89E"/>
          </a:solidFill>
          <a:ln w="12700">
            <a:solidFill>
              <a:srgbClr val="13A89E"/>
            </a:solidFill>
            <a:prstDash val="solid"/>
          </a:ln>
        </p:spPr>
      </p:sp>
      <p:sp>
        <p:nvSpPr>
          <p:cNvPr id="17" name="Text 15"/>
          <p:cNvSpPr txBox="1"/>
          <p:nvPr/>
        </p:nvSpPr>
        <p:spPr>
          <a:xfrm>
            <a:off x="804672" y="3246120"/>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Name</a:t>
            </a:r>
            <a:endParaRPr lang="en-US" sz="1100" dirty="0"/>
          </a:p>
        </p:txBody>
      </p:sp>
      <p:sp>
        <p:nvSpPr>
          <p:cNvPr id="18" name="field-tag"/>
          <p:cNvSpPr/>
          <p:nvPr/>
        </p:nvSpPr>
        <p:spPr>
          <a:xfrm>
            <a:off x="3154680" y="3246120"/>
            <a:ext cx="2468880" cy="310896"/>
          </a:xfrm>
          <a:prstGeom prst="roundRect">
            <a:avLst>
              <a:gd name="adj" fmla="val 17647"/>
            </a:avLst>
          </a:prstGeom>
          <a:solidFill>
            <a:srgbClr val="F1F7F7"/>
          </a:solidFill>
          <a:ln w="12700">
            <a:solidFill>
              <a:srgbClr val="F1F7F7"/>
            </a:solidFill>
            <a:prstDash val="solid"/>
          </a:ln>
        </p:spPr>
      </p:sp>
      <p:sp>
        <p:nvSpPr>
          <p:cNvPr id="19" name="dot"/>
          <p:cNvSpPr/>
          <p:nvPr/>
        </p:nvSpPr>
        <p:spPr>
          <a:xfrm>
            <a:off x="3264408" y="3364992"/>
            <a:ext cx="73152" cy="73152"/>
          </a:xfrm>
          <a:prstGeom prst="ellipse">
            <a:avLst/>
          </a:prstGeom>
          <a:solidFill>
            <a:srgbClr val="13A89E"/>
          </a:solidFill>
          <a:ln w="12700">
            <a:solidFill>
              <a:srgbClr val="13A89E"/>
            </a:solidFill>
            <a:prstDash val="solid"/>
          </a:ln>
        </p:spPr>
      </p:sp>
      <p:sp>
        <p:nvSpPr>
          <p:cNvPr id="20" name="Text 18"/>
          <p:cNvSpPr txBox="1"/>
          <p:nvPr/>
        </p:nvSpPr>
        <p:spPr>
          <a:xfrm>
            <a:off x="3410712" y="3246120"/>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Service type (13 types)</a:t>
            </a:r>
            <a:endParaRPr lang="en-US" sz="1100" dirty="0"/>
          </a:p>
        </p:txBody>
      </p:sp>
      <p:sp>
        <p:nvSpPr>
          <p:cNvPr id="21" name="field-tag"/>
          <p:cNvSpPr/>
          <p:nvPr/>
        </p:nvSpPr>
        <p:spPr>
          <a:xfrm>
            <a:off x="548640" y="3630168"/>
            <a:ext cx="2468880" cy="310896"/>
          </a:xfrm>
          <a:prstGeom prst="roundRect">
            <a:avLst>
              <a:gd name="adj" fmla="val 17647"/>
            </a:avLst>
          </a:prstGeom>
          <a:solidFill>
            <a:srgbClr val="F1F7F7"/>
          </a:solidFill>
          <a:ln w="12700">
            <a:solidFill>
              <a:srgbClr val="F1F7F7"/>
            </a:solidFill>
            <a:prstDash val="solid"/>
          </a:ln>
        </p:spPr>
      </p:sp>
      <p:sp>
        <p:nvSpPr>
          <p:cNvPr id="22" name="dot"/>
          <p:cNvSpPr/>
          <p:nvPr/>
        </p:nvSpPr>
        <p:spPr>
          <a:xfrm>
            <a:off x="658368" y="3749040"/>
            <a:ext cx="73152" cy="73152"/>
          </a:xfrm>
          <a:prstGeom prst="ellipse">
            <a:avLst/>
          </a:prstGeom>
          <a:solidFill>
            <a:srgbClr val="13A89E"/>
          </a:solidFill>
          <a:ln w="12700">
            <a:solidFill>
              <a:srgbClr val="13A89E"/>
            </a:solidFill>
            <a:prstDash val="solid"/>
          </a:ln>
        </p:spPr>
      </p:sp>
      <p:sp>
        <p:nvSpPr>
          <p:cNvPr id="23" name="Text 21"/>
          <p:cNvSpPr txBox="1"/>
          <p:nvPr/>
        </p:nvSpPr>
        <p:spPr>
          <a:xfrm>
            <a:off x="804672" y="3630168"/>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Contact number</a:t>
            </a:r>
            <a:endParaRPr lang="en-US" sz="1100" dirty="0"/>
          </a:p>
        </p:txBody>
      </p:sp>
      <p:sp>
        <p:nvSpPr>
          <p:cNvPr id="24" name="field-tag"/>
          <p:cNvSpPr/>
          <p:nvPr/>
        </p:nvSpPr>
        <p:spPr>
          <a:xfrm>
            <a:off x="3154680" y="3630168"/>
            <a:ext cx="2468880" cy="310896"/>
          </a:xfrm>
          <a:prstGeom prst="roundRect">
            <a:avLst>
              <a:gd name="adj" fmla="val 17647"/>
            </a:avLst>
          </a:prstGeom>
          <a:solidFill>
            <a:srgbClr val="F1F7F7"/>
          </a:solidFill>
          <a:ln w="12700">
            <a:solidFill>
              <a:srgbClr val="F1F7F7"/>
            </a:solidFill>
            <a:prstDash val="solid"/>
          </a:ln>
        </p:spPr>
      </p:sp>
      <p:sp>
        <p:nvSpPr>
          <p:cNvPr id="25" name="dot"/>
          <p:cNvSpPr/>
          <p:nvPr/>
        </p:nvSpPr>
        <p:spPr>
          <a:xfrm>
            <a:off x="3264408" y="3749040"/>
            <a:ext cx="73152" cy="73152"/>
          </a:xfrm>
          <a:prstGeom prst="ellipse">
            <a:avLst/>
          </a:prstGeom>
          <a:solidFill>
            <a:srgbClr val="13A89E"/>
          </a:solidFill>
          <a:ln w="12700">
            <a:solidFill>
              <a:srgbClr val="13A89E"/>
            </a:solidFill>
            <a:prstDash val="solid"/>
          </a:ln>
        </p:spPr>
      </p:sp>
      <p:sp>
        <p:nvSpPr>
          <p:cNvPr id="26" name="Text 24"/>
          <p:cNvSpPr txBox="1"/>
          <p:nvPr/>
        </p:nvSpPr>
        <p:spPr>
          <a:xfrm>
            <a:off x="3410712" y="3630168"/>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Phase, or all phases</a:t>
            </a:r>
            <a:endParaRPr lang="en-US" sz="1100" dirty="0"/>
          </a:p>
        </p:txBody>
      </p:sp>
      <p:sp>
        <p:nvSpPr>
          <p:cNvPr id="27" name="field-tag"/>
          <p:cNvSpPr/>
          <p:nvPr/>
        </p:nvSpPr>
        <p:spPr>
          <a:xfrm>
            <a:off x="548640" y="4014216"/>
            <a:ext cx="2468880" cy="310896"/>
          </a:xfrm>
          <a:prstGeom prst="roundRect">
            <a:avLst>
              <a:gd name="adj" fmla="val 17647"/>
            </a:avLst>
          </a:prstGeom>
          <a:solidFill>
            <a:srgbClr val="F1F7F7"/>
          </a:solidFill>
          <a:ln w="12700">
            <a:solidFill>
              <a:srgbClr val="F1F7F7"/>
            </a:solidFill>
            <a:prstDash val="solid"/>
          </a:ln>
        </p:spPr>
      </p:sp>
      <p:sp>
        <p:nvSpPr>
          <p:cNvPr id="28" name="dot"/>
          <p:cNvSpPr/>
          <p:nvPr/>
        </p:nvSpPr>
        <p:spPr>
          <a:xfrm>
            <a:off x="658368" y="4133088"/>
            <a:ext cx="73152" cy="73152"/>
          </a:xfrm>
          <a:prstGeom prst="ellipse">
            <a:avLst/>
          </a:prstGeom>
          <a:solidFill>
            <a:srgbClr val="13A89E"/>
          </a:solidFill>
          <a:ln w="12700">
            <a:solidFill>
              <a:srgbClr val="13A89E"/>
            </a:solidFill>
            <a:prstDash val="solid"/>
          </a:ln>
        </p:spPr>
      </p:sp>
      <p:sp>
        <p:nvSpPr>
          <p:cNvPr id="29" name="Text 27"/>
          <p:cNvSpPr txBox="1"/>
          <p:nvPr/>
        </p:nvSpPr>
        <p:spPr>
          <a:xfrm>
            <a:off x="804672" y="4014216"/>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Sector (optional)</a:t>
            </a:r>
            <a:endParaRPr lang="en-US" sz="1100" dirty="0"/>
          </a:p>
        </p:txBody>
      </p:sp>
      <p:sp>
        <p:nvSpPr>
          <p:cNvPr id="30" name="field-tag"/>
          <p:cNvSpPr/>
          <p:nvPr/>
        </p:nvSpPr>
        <p:spPr>
          <a:xfrm>
            <a:off x="3154680" y="4014216"/>
            <a:ext cx="2468880" cy="310896"/>
          </a:xfrm>
          <a:prstGeom prst="roundRect">
            <a:avLst>
              <a:gd name="adj" fmla="val 17647"/>
            </a:avLst>
          </a:prstGeom>
          <a:solidFill>
            <a:srgbClr val="F1F7F7"/>
          </a:solidFill>
          <a:ln w="12700">
            <a:solidFill>
              <a:srgbClr val="F1F7F7"/>
            </a:solidFill>
            <a:prstDash val="solid"/>
          </a:ln>
        </p:spPr>
      </p:sp>
      <p:sp>
        <p:nvSpPr>
          <p:cNvPr id="31" name="dot"/>
          <p:cNvSpPr/>
          <p:nvPr/>
        </p:nvSpPr>
        <p:spPr>
          <a:xfrm>
            <a:off x="3264408" y="4133088"/>
            <a:ext cx="73152" cy="73152"/>
          </a:xfrm>
          <a:prstGeom prst="ellipse">
            <a:avLst/>
          </a:prstGeom>
          <a:solidFill>
            <a:srgbClr val="13A89E"/>
          </a:solidFill>
          <a:ln w="12700">
            <a:solidFill>
              <a:srgbClr val="13A89E"/>
            </a:solidFill>
            <a:prstDash val="solid"/>
          </a:ln>
        </p:spPr>
      </p:sp>
      <p:sp>
        <p:nvSpPr>
          <p:cNvPr id="32" name="Text 30"/>
          <p:cNvSpPr txBox="1"/>
          <p:nvPr/>
        </p:nvSpPr>
        <p:spPr>
          <a:xfrm>
            <a:off x="3410712" y="4014216"/>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Verified by association</a:t>
            </a:r>
            <a:endParaRPr lang="en-US" sz="1100" dirty="0"/>
          </a:p>
        </p:txBody>
      </p:sp>
      <p:sp>
        <p:nvSpPr>
          <p:cNvPr id="33" name="Text 31"/>
          <p:cNvSpPr txBox="1"/>
          <p:nvPr/>
        </p:nvSpPr>
        <p:spPr>
          <a:xfrm>
            <a:off x="548640" y="4507992"/>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LIFECYCLE</a:t>
            </a:r>
            <a:endParaRPr lang="en-US" sz="1000" dirty="0"/>
          </a:p>
        </p:txBody>
      </p:sp>
      <p:sp>
        <p:nvSpPr>
          <p:cNvPr id="34" name="flow-chip"/>
          <p:cNvSpPr/>
          <p:nvPr/>
        </p:nvSpPr>
        <p:spPr>
          <a:xfrm>
            <a:off x="548640" y="4782312"/>
            <a:ext cx="1224564" cy="384048"/>
          </a:xfrm>
          <a:prstGeom prst="roundRect">
            <a:avLst>
              <a:gd name="adj" fmla="val 50000"/>
            </a:avLst>
          </a:prstGeom>
          <a:solidFill>
            <a:srgbClr val="F1F7F7"/>
          </a:solidFill>
          <a:ln w="12700">
            <a:solidFill>
              <a:srgbClr val="0B2135"/>
            </a:solidFill>
            <a:prstDash val="solid"/>
          </a:ln>
        </p:spPr>
      </p:sp>
      <p:sp>
        <p:nvSpPr>
          <p:cNvPr id="35" name="Text 33"/>
          <p:cNvSpPr txBox="1"/>
          <p:nvPr/>
        </p:nvSpPr>
        <p:spPr>
          <a:xfrm>
            <a:off x="548640" y="4782312"/>
            <a:ext cx="1224564" cy="384048"/>
          </a:xfrm>
          <a:prstGeom prst="rect">
            <a:avLst/>
          </a:prstGeom>
          <a:noFill/>
          <a:ln/>
        </p:spPr>
        <p:txBody>
          <a:bodyPr wrap="square" lIns="0" tIns="0" rIns="0" bIns="0" rtlCol="0" anchor="ctr"/>
          <a:lstStyle/>
          <a:p>
            <a:pPr algn="ctr" indent="0" marL="0">
              <a:buNone/>
            </a:pPr>
            <a:r>
              <a:rPr lang="en-US" sz="1200" b="1" dirty="0">
                <a:solidFill>
                  <a:srgbClr val="0B2135"/>
                </a:solidFill>
                <a:latin typeface="Calibri" pitchFamily="34" charset="0"/>
                <a:ea typeface="Calibri" pitchFamily="34" charset="-122"/>
                <a:cs typeface="Calibri" pitchFamily="34" charset="-120"/>
              </a:rPr>
              <a:t>Add provider</a:t>
            </a:r>
            <a:endParaRPr lang="en-US" sz="1200" dirty="0"/>
          </a:p>
        </p:txBody>
      </p:sp>
      <p:pic>
        <p:nvPicPr>
          <p:cNvPr id="36" name="arrow" descr="preencoded.png">    </p:cNvPr>
          <p:cNvPicPr>
            <a:picLocks noChangeAspect="1"/>
          </p:cNvPicPr>
          <p:nvPr/>
        </p:nvPicPr>
        <p:blipFill>
          <a:blip r:embed="rId1"/>
          <a:stretch>
            <a:fillRect/>
          </a:stretch>
        </p:blipFill>
        <p:spPr>
          <a:xfrm>
            <a:off x="1818924" y="4873752"/>
            <a:ext cx="201168" cy="201168"/>
          </a:xfrm>
          <a:prstGeom prst="rect">
            <a:avLst/>
          </a:prstGeom>
        </p:spPr>
      </p:pic>
      <p:sp>
        <p:nvSpPr>
          <p:cNvPr id="37" name="flow-chip"/>
          <p:cNvSpPr/>
          <p:nvPr/>
        </p:nvSpPr>
        <p:spPr>
          <a:xfrm>
            <a:off x="2065812" y="4782312"/>
            <a:ext cx="776874" cy="384048"/>
          </a:xfrm>
          <a:prstGeom prst="roundRect">
            <a:avLst>
              <a:gd name="adj" fmla="val 50000"/>
            </a:avLst>
          </a:prstGeom>
          <a:solidFill>
            <a:srgbClr val="F1F7F7"/>
          </a:solidFill>
          <a:ln w="12700">
            <a:solidFill>
              <a:srgbClr val="0B2135"/>
            </a:solidFill>
            <a:prstDash val="solid"/>
          </a:ln>
        </p:spPr>
      </p:sp>
      <p:sp>
        <p:nvSpPr>
          <p:cNvPr id="38" name="Text 35"/>
          <p:cNvSpPr txBox="1"/>
          <p:nvPr/>
        </p:nvSpPr>
        <p:spPr>
          <a:xfrm>
            <a:off x="2065812" y="4782312"/>
            <a:ext cx="776874" cy="384048"/>
          </a:xfrm>
          <a:prstGeom prst="rect">
            <a:avLst/>
          </a:prstGeom>
          <a:noFill/>
          <a:ln/>
        </p:spPr>
        <p:txBody>
          <a:bodyPr wrap="square" lIns="0" tIns="0" rIns="0" bIns="0" rtlCol="0" anchor="ctr"/>
          <a:lstStyle/>
          <a:p>
            <a:pPr algn="ctr" indent="0" marL="0">
              <a:buNone/>
            </a:pPr>
            <a:r>
              <a:rPr lang="en-US" sz="1200" b="1" dirty="0">
                <a:solidFill>
                  <a:srgbClr val="0B2135"/>
                </a:solidFill>
                <a:latin typeface="Calibri" pitchFamily="34" charset="0"/>
                <a:ea typeface="Calibri" pitchFamily="34" charset="-122"/>
                <a:cs typeface="Calibri" pitchFamily="34" charset="-120"/>
              </a:rPr>
              <a:t>Verify</a:t>
            </a:r>
            <a:endParaRPr lang="en-US" sz="1200" dirty="0"/>
          </a:p>
        </p:txBody>
      </p:sp>
      <p:pic>
        <p:nvPicPr>
          <p:cNvPr id="39" name="arrow" descr="preencoded.png">    </p:cNvPr>
          <p:cNvPicPr>
            <a:picLocks noChangeAspect="1"/>
          </p:cNvPicPr>
          <p:nvPr/>
        </p:nvPicPr>
        <p:blipFill>
          <a:blip r:embed="rId2"/>
          <a:stretch>
            <a:fillRect/>
          </a:stretch>
        </p:blipFill>
        <p:spPr>
          <a:xfrm>
            <a:off x="2888407" y="4873752"/>
            <a:ext cx="201168" cy="201168"/>
          </a:xfrm>
          <a:prstGeom prst="rect">
            <a:avLst/>
          </a:prstGeom>
        </p:spPr>
      </p:pic>
      <p:sp>
        <p:nvSpPr>
          <p:cNvPr id="40" name="flow-chip"/>
          <p:cNvSpPr/>
          <p:nvPr/>
        </p:nvSpPr>
        <p:spPr>
          <a:xfrm>
            <a:off x="3135295" y="4782312"/>
            <a:ext cx="2045330" cy="384048"/>
          </a:xfrm>
          <a:prstGeom prst="roundRect">
            <a:avLst>
              <a:gd name="adj" fmla="val 50000"/>
            </a:avLst>
          </a:prstGeom>
          <a:solidFill>
            <a:srgbClr val="E6F4F2"/>
          </a:solidFill>
          <a:ln w="12700">
            <a:solidFill>
              <a:srgbClr val="0B2135"/>
            </a:solidFill>
            <a:prstDash val="solid"/>
          </a:ln>
        </p:spPr>
      </p:sp>
      <p:sp>
        <p:nvSpPr>
          <p:cNvPr id="41" name="Text 37"/>
          <p:cNvSpPr txBox="1"/>
          <p:nvPr/>
        </p:nvSpPr>
        <p:spPr>
          <a:xfrm>
            <a:off x="3135295" y="4782312"/>
            <a:ext cx="2045330" cy="384048"/>
          </a:xfrm>
          <a:prstGeom prst="rect">
            <a:avLst/>
          </a:prstGeom>
          <a:noFill/>
          <a:ln/>
        </p:spPr>
        <p:txBody>
          <a:bodyPr wrap="square" lIns="0" tIns="0" rIns="0" bIns="0" rtlCol="0" anchor="ctr"/>
          <a:lstStyle/>
          <a:p>
            <a:pPr algn="ctr" indent="0" marL="0">
              <a:buNone/>
            </a:pPr>
            <a:r>
              <a:rPr lang="en-US" sz="1200" b="1" dirty="0">
                <a:solidFill>
                  <a:srgbClr val="0B2135"/>
                </a:solidFill>
                <a:latin typeface="Calibri" pitchFamily="34" charset="0"/>
                <a:ea typeface="Calibri" pitchFamily="34" charset="-122"/>
                <a:cs typeface="Calibri" pitchFamily="34" charset="-120"/>
              </a:rPr>
              <a:t>Residents call directly</a:t>
            </a:r>
            <a:endParaRPr lang="en-US" sz="1200" dirty="0"/>
          </a:p>
        </p:txBody>
      </p:sp>
      <p:sp>
        <p:nvSpPr>
          <p:cNvPr id="42" name="icon-bg"/>
          <p:cNvSpPr/>
          <p:nvPr/>
        </p:nvSpPr>
        <p:spPr>
          <a:xfrm>
            <a:off x="548640" y="5376672"/>
            <a:ext cx="384048" cy="384048"/>
          </a:xfrm>
          <a:prstGeom prst="ellipse">
            <a:avLst/>
          </a:prstGeom>
          <a:solidFill>
            <a:srgbClr val="F4B942"/>
          </a:solidFill>
          <a:ln w="12700">
            <a:solidFill>
              <a:srgbClr val="F4B942"/>
            </a:solidFill>
            <a:prstDash val="solid"/>
          </a:ln>
        </p:spPr>
      </p:sp>
      <p:pic>
        <p:nvPicPr>
          <p:cNvPr id="43" name="icon" descr="preencoded.png">    </p:cNvPr>
          <p:cNvPicPr>
            <a:picLocks noChangeAspect="1"/>
          </p:cNvPicPr>
          <p:nvPr/>
        </p:nvPicPr>
        <p:blipFill>
          <a:blip r:embed="rId3"/>
          <a:stretch>
            <a:fillRect/>
          </a:stretch>
        </p:blipFill>
        <p:spPr>
          <a:xfrm>
            <a:off x="640812" y="5468844"/>
            <a:ext cx="199705" cy="199705"/>
          </a:xfrm>
          <a:prstGeom prst="rect">
            <a:avLst/>
          </a:prstGeom>
        </p:spPr>
      </p:pic>
      <p:sp>
        <p:nvSpPr>
          <p:cNvPr id="44" name="Text 39"/>
          <p:cNvSpPr txBox="1"/>
          <p:nvPr/>
        </p:nvSpPr>
        <p:spPr>
          <a:xfrm>
            <a:off x="1051560" y="5340096"/>
            <a:ext cx="4572000" cy="548640"/>
          </a:xfrm>
          <a:prstGeom prst="rect">
            <a:avLst/>
          </a:prstGeom>
          <a:noFill/>
          <a:ln/>
        </p:spPr>
        <p:txBody>
          <a:bodyPr wrap="square" lIns="0" tIns="0" rIns="0" bIns="0" rtlCol="0" anchor="ctr"/>
          <a:lstStyle/>
          <a:p>
            <a:pPr indent="0" marL="0">
              <a:buNone/>
            </a:pPr>
            <a:r>
              <a:rPr lang="en-US" sz="1150" dirty="0">
                <a:solidFill>
                  <a:srgbClr val="0B2135"/>
                </a:solidFill>
                <a:latin typeface="Calibri" pitchFamily="34" charset="0"/>
                <a:ea typeface="Calibri" pitchFamily="34" charset="-122"/>
                <a:cs typeface="Calibri" pitchFamily="34" charset="-120"/>
              </a:rPr>
              <a:t>Types: maid, cook, driver, plumber, electrician, carpenter, painter, gardener, AC and fridge repair, deep cleaning, pest control, other.</a:t>
            </a:r>
            <a:endParaRPr lang="en-US" sz="1150" dirty="0"/>
          </a:p>
        </p:txBody>
      </p:sp>
      <p:pic>
        <p:nvPicPr>
          <p:cNvPr id="45" name="screenshot" descr="img/p_services.png">    </p:cNvPr>
          <p:cNvPicPr>
            <a:picLocks noChangeAspect="1"/>
          </p:cNvPicPr>
          <p:nvPr/>
        </p:nvPicPr>
        <p:blipFill>
          <a:blip r:embed="rId4"/>
          <a:stretch>
            <a:fillRect/>
          </a:stretch>
        </p:blipFill>
        <p:spPr>
          <a:xfrm>
            <a:off x="5989320" y="1261872"/>
            <a:ext cx="5669280" cy="1863576"/>
          </a:xfrm>
          <a:prstGeom prst="rect">
            <a:avLst/>
          </a:prstGeom>
          <a:effectLst>
            <a:outerShdw sx="100000" sy="100000" kx="0" ky="0" algn="bl" rotWithShape="0" blurRad="228600" dist="50800" dir="5400000">
              <a:srgbClr val="0B2135">
                <a:alpha val="22000"/>
              </a:srgbClr>
            </a:outerShdw>
          </a:effectLst>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t"/>
          <a:lstStyle/>
          <a:p>
            <a:pPr indent="0" marL="0">
              <a:buNone/>
            </a:pPr>
            <a:r>
              <a:rPr lang="en-US" sz="1100" b="1" spc="300" kern="0" dirty="0">
                <a:solidFill>
                  <a:srgbClr val="0E7C76"/>
                </a:solidFill>
                <a:latin typeface="Calibri" pitchFamily="34" charset="0"/>
                <a:ea typeface="Calibri" pitchFamily="34" charset="-122"/>
                <a:cs typeface="Calibri" pitchFamily="34" charset="-120"/>
              </a:rPr>
              <a:t>MODULE 13 · MONEY  ·  REPORTS</a:t>
            </a:r>
            <a:endParaRPr lang="en-US" sz="1100" dirty="0"/>
          </a:p>
        </p:txBody>
      </p:sp>
      <p:sp>
        <p:nvSpPr>
          <p:cNvPr id="3" name="Text 1"/>
          <p:cNvSpPr/>
          <p:nvPr>
            <p:ph idx="101" type="title" hasCustomPrompt="1"/>
          </p:nvPr>
        </p:nvSpPr>
        <p:spPr>
          <a:xfrm>
            <a:off x="548640" y="457200"/>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Reports: records ready for any meeting</a:t>
            </a:r>
            <a:endParaRPr lang="en-US" sz="3000" dirty="0"/>
          </a:p>
        </p:txBody>
      </p:sp>
      <p:sp>
        <p:nvSpPr>
          <p:cNvPr id="4" name="Text 2"/>
          <p:cNvSpPr txBox="1"/>
          <p:nvPr/>
        </p:nvSpPr>
        <p:spPr>
          <a:xfrm>
            <a:off x="548640" y="1261872"/>
            <a:ext cx="10972800" cy="411480"/>
          </a:xfrm>
          <a:prstGeom prst="rect">
            <a:avLst/>
          </a:prstGeom>
          <a:noFill/>
          <a:ln/>
        </p:spPr>
        <p:txBody>
          <a:bodyPr wrap="square" lIns="0" tIns="0" rIns="0" bIns="0" rtlCol="0" anchor="t"/>
          <a:lstStyle/>
          <a:p>
            <a:pPr indent="0" marL="0">
              <a:buNone/>
            </a:pPr>
            <a:r>
              <a:rPr lang="en-US" sz="1400" dirty="0">
                <a:solidFill>
                  <a:srgbClr val="16384F"/>
                </a:solidFill>
                <a:latin typeface="Calibri" pitchFamily="34" charset="0"/>
                <a:ea typeface="Calibri" pitchFamily="34" charset="-122"/>
                <a:cs typeface="Calibri" pitchFamily="34" charset="-120"/>
              </a:rPr>
              <a:t>One-click exports for annual meetings, audits and disputes. Available to the Super Admin and volunteers.</a:t>
            </a:r>
            <a:endParaRPr lang="en-US" sz="1400" dirty="0"/>
          </a:p>
        </p:txBody>
      </p:sp>
      <p:sp>
        <p:nvSpPr>
          <p:cNvPr id="5" name="card"/>
          <p:cNvSpPr/>
          <p:nvPr/>
        </p:nvSpPr>
        <p:spPr>
          <a:xfrm>
            <a:off x="548640" y="1874520"/>
            <a:ext cx="3474720" cy="2468880"/>
          </a:xfrm>
          <a:prstGeom prst="roundRect">
            <a:avLst>
              <a:gd name="adj" fmla="val 4444"/>
            </a:avLst>
          </a:prstGeom>
          <a:solidFill>
            <a:srgbClr val="FFFFFF"/>
          </a:solidFill>
          <a:ln w="9525">
            <a:solidFill>
              <a:srgbClr val="D5E3E3"/>
            </a:solidFill>
            <a:prstDash val="solid"/>
          </a:ln>
          <a:effectLst>
            <a:outerShdw sx="100000" sy="100000" kx="0" ky="0" algn="bl" rotWithShape="0" blurRad="152400" dist="38100" dir="5400000">
              <a:srgbClr val="0B2135">
                <a:alpha val="16000"/>
              </a:srgbClr>
            </a:outerShdw>
          </a:effectLst>
        </p:spPr>
      </p:sp>
      <p:sp>
        <p:nvSpPr>
          <p:cNvPr id="6" name="icon-bg"/>
          <p:cNvSpPr/>
          <p:nvPr/>
        </p:nvSpPr>
        <p:spPr>
          <a:xfrm>
            <a:off x="822960" y="2148840"/>
            <a:ext cx="640080" cy="640080"/>
          </a:xfrm>
          <a:prstGeom prst="ellipse">
            <a:avLst/>
          </a:prstGeom>
          <a:solidFill>
            <a:srgbClr val="0E7C76"/>
          </a:solidFill>
          <a:ln w="12700">
            <a:solidFill>
              <a:srgbClr val="0E7C76"/>
            </a:solidFill>
            <a:prstDash val="solid"/>
          </a:ln>
        </p:spPr>
      </p:sp>
      <p:pic>
        <p:nvPicPr>
          <p:cNvPr id="7" name="icon" descr="preencoded.png">    </p:cNvPr>
          <p:cNvPicPr>
            <a:picLocks noChangeAspect="1"/>
          </p:cNvPicPr>
          <p:nvPr/>
        </p:nvPicPr>
        <p:blipFill>
          <a:blip r:embed="rId1"/>
          <a:stretch>
            <a:fillRect/>
          </a:stretch>
        </p:blipFill>
        <p:spPr>
          <a:xfrm>
            <a:off x="976579" y="2302459"/>
            <a:ext cx="332842" cy="332842"/>
          </a:xfrm>
          <a:prstGeom prst="rect">
            <a:avLst/>
          </a:prstGeom>
        </p:spPr>
      </p:pic>
      <p:sp>
        <p:nvSpPr>
          <p:cNvPr id="8" name="format"/>
          <p:cNvSpPr/>
          <p:nvPr/>
        </p:nvSpPr>
        <p:spPr>
          <a:xfrm>
            <a:off x="3154680" y="2258568"/>
            <a:ext cx="640080" cy="329184"/>
          </a:xfrm>
          <a:prstGeom prst="roundRect">
            <a:avLst>
              <a:gd name="adj" fmla="val 50000"/>
            </a:avLst>
          </a:prstGeom>
          <a:solidFill>
            <a:srgbClr val="F4B942"/>
          </a:solidFill>
          <a:ln w="12700">
            <a:solidFill>
              <a:srgbClr val="F4B942"/>
            </a:solidFill>
            <a:prstDash val="solid"/>
          </a:ln>
        </p:spPr>
      </p:sp>
      <p:sp>
        <p:nvSpPr>
          <p:cNvPr id="9" name="Text 6"/>
          <p:cNvSpPr txBox="1"/>
          <p:nvPr/>
        </p:nvSpPr>
        <p:spPr>
          <a:xfrm>
            <a:off x="3154680" y="2258568"/>
            <a:ext cx="640080" cy="329184"/>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CSV</a:t>
            </a:r>
            <a:endParaRPr lang="en-US" sz="1100" dirty="0"/>
          </a:p>
        </p:txBody>
      </p:sp>
      <p:sp>
        <p:nvSpPr>
          <p:cNvPr id="10" name="Text 7"/>
          <p:cNvSpPr txBox="1"/>
          <p:nvPr/>
        </p:nvSpPr>
        <p:spPr>
          <a:xfrm>
            <a:off x="822960" y="2926080"/>
            <a:ext cx="301752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Financial reports</a:t>
            </a:r>
            <a:endParaRPr lang="en-US" sz="1700" dirty="0"/>
          </a:p>
        </p:txBody>
      </p:sp>
      <p:sp>
        <p:nvSpPr>
          <p:cNvPr id="11" name="Text 8"/>
          <p:cNvSpPr txBox="1"/>
          <p:nvPr/>
        </p:nvSpPr>
        <p:spPr>
          <a:xfrm>
            <a:off x="822960" y="3291840"/>
            <a:ext cx="3017520" cy="502920"/>
          </a:xfrm>
          <a:prstGeom prst="rect">
            <a:avLst/>
          </a:prstGeom>
          <a:noFill/>
          <a:ln/>
        </p:spPr>
        <p:txBody>
          <a:bodyPr wrap="square" lIns="0" tIns="0" rIns="0" bIns="0" rtlCol="0" anchor="t"/>
          <a:lstStyle/>
          <a:p>
            <a:pPr indent="0" marL="0">
              <a:buNone/>
            </a:pPr>
            <a:r>
              <a:rPr lang="en-US" sz="1250" dirty="0">
                <a:solidFill>
                  <a:srgbClr val="5B6B78"/>
                </a:solidFill>
                <a:latin typeface="Calibri" pitchFamily="34" charset="0"/>
                <a:ea typeface="Calibri" pitchFamily="34" charset="-122"/>
                <a:cs typeface="Calibri" pitchFamily="34" charset="-120"/>
              </a:rPr>
              <a:t>All collections, pending dues and expenses in a spreadsheet.</a:t>
            </a:r>
            <a:endParaRPr lang="en-US" sz="1250" dirty="0"/>
          </a:p>
        </p:txBody>
      </p:sp>
      <p:sp>
        <p:nvSpPr>
          <p:cNvPr id="12" name="Text 9"/>
          <p:cNvSpPr txBox="1"/>
          <p:nvPr/>
        </p:nvSpPr>
        <p:spPr>
          <a:xfrm>
            <a:off x="822960" y="3840480"/>
            <a:ext cx="3017520" cy="365760"/>
          </a:xfrm>
          <a:prstGeom prst="rect">
            <a:avLst/>
          </a:prstGeom>
          <a:noFill/>
          <a:ln/>
        </p:spPr>
        <p:txBody>
          <a:bodyPr wrap="square" lIns="0" tIns="0" rIns="0" bIns="0" rtlCol="0" anchor="t"/>
          <a:lstStyle/>
          <a:p>
            <a:pPr indent="0" marL="0">
              <a:buNone/>
            </a:pPr>
            <a:r>
              <a:rPr lang="en-US" sz="1200" b="1" dirty="0">
                <a:solidFill>
                  <a:srgbClr val="0E7C76"/>
                </a:solidFill>
                <a:latin typeface="Calibri" pitchFamily="34" charset="0"/>
                <a:ea typeface="Calibri" pitchFamily="34" charset="-122"/>
                <a:cs typeface="Calibri" pitchFamily="34" charset="-120"/>
              </a:rPr>
              <a:t>Use: </a:t>
            </a:r>
            <a:pPr indent="0" marL="0">
              <a:buNone/>
            </a:pPr>
            <a:r>
              <a:rPr lang="en-US" sz="1200" dirty="0">
                <a:solidFill>
                  <a:srgbClr val="0B2135"/>
                </a:solidFill>
                <a:latin typeface="Calibri" pitchFamily="34" charset="0"/>
                <a:ea typeface="Calibri" pitchFamily="34" charset="-122"/>
                <a:cs typeface="Calibri" pitchFamily="34" charset="-120"/>
              </a:rPr>
              <a:t>Treasurer's statement at the AGM</a:t>
            </a:r>
            <a:endParaRPr lang="en-US" sz="1200" dirty="0"/>
          </a:p>
        </p:txBody>
      </p:sp>
      <p:sp>
        <p:nvSpPr>
          <p:cNvPr id="13" name="card"/>
          <p:cNvSpPr/>
          <p:nvPr/>
        </p:nvSpPr>
        <p:spPr>
          <a:xfrm>
            <a:off x="4297680" y="1874520"/>
            <a:ext cx="3474720" cy="2468880"/>
          </a:xfrm>
          <a:prstGeom prst="roundRect">
            <a:avLst>
              <a:gd name="adj" fmla="val 4444"/>
            </a:avLst>
          </a:prstGeom>
          <a:solidFill>
            <a:srgbClr val="FFFFFF"/>
          </a:solidFill>
          <a:ln w="9525">
            <a:solidFill>
              <a:srgbClr val="D5E3E3"/>
            </a:solidFill>
            <a:prstDash val="solid"/>
          </a:ln>
          <a:effectLst>
            <a:outerShdw sx="100000" sy="100000" kx="0" ky="0" algn="bl" rotWithShape="0" blurRad="152400" dist="38100" dir="5400000">
              <a:srgbClr val="0B2135">
                <a:alpha val="16000"/>
              </a:srgbClr>
            </a:outerShdw>
          </a:effectLst>
        </p:spPr>
      </p:sp>
      <p:sp>
        <p:nvSpPr>
          <p:cNvPr id="14" name="icon-bg"/>
          <p:cNvSpPr/>
          <p:nvPr/>
        </p:nvSpPr>
        <p:spPr>
          <a:xfrm>
            <a:off x="4572000" y="2148840"/>
            <a:ext cx="640080" cy="640080"/>
          </a:xfrm>
          <a:prstGeom prst="ellipse">
            <a:avLst/>
          </a:prstGeom>
          <a:solidFill>
            <a:srgbClr val="0E7C76"/>
          </a:solidFill>
          <a:ln w="12700">
            <a:solidFill>
              <a:srgbClr val="0E7C76"/>
            </a:solidFill>
            <a:prstDash val="solid"/>
          </a:ln>
        </p:spPr>
      </p:sp>
      <p:pic>
        <p:nvPicPr>
          <p:cNvPr id="15" name="icon" descr="preencoded.png">    </p:cNvPr>
          <p:cNvPicPr>
            <a:picLocks noChangeAspect="1"/>
          </p:cNvPicPr>
          <p:nvPr/>
        </p:nvPicPr>
        <p:blipFill>
          <a:blip r:embed="rId2"/>
          <a:stretch>
            <a:fillRect/>
          </a:stretch>
        </p:blipFill>
        <p:spPr>
          <a:xfrm>
            <a:off x="4725619" y="2302459"/>
            <a:ext cx="332842" cy="332842"/>
          </a:xfrm>
          <a:prstGeom prst="rect">
            <a:avLst/>
          </a:prstGeom>
        </p:spPr>
      </p:pic>
      <p:sp>
        <p:nvSpPr>
          <p:cNvPr id="16" name="format"/>
          <p:cNvSpPr/>
          <p:nvPr/>
        </p:nvSpPr>
        <p:spPr>
          <a:xfrm>
            <a:off x="6903720" y="2258568"/>
            <a:ext cx="640080" cy="329184"/>
          </a:xfrm>
          <a:prstGeom prst="roundRect">
            <a:avLst>
              <a:gd name="adj" fmla="val 50000"/>
            </a:avLst>
          </a:prstGeom>
          <a:solidFill>
            <a:srgbClr val="F4B942"/>
          </a:solidFill>
          <a:ln w="12700">
            <a:solidFill>
              <a:srgbClr val="F4B942"/>
            </a:solidFill>
            <a:prstDash val="solid"/>
          </a:ln>
        </p:spPr>
      </p:sp>
      <p:sp>
        <p:nvSpPr>
          <p:cNvPr id="17" name="Text 13"/>
          <p:cNvSpPr txBox="1"/>
          <p:nvPr/>
        </p:nvSpPr>
        <p:spPr>
          <a:xfrm>
            <a:off x="6903720" y="2258568"/>
            <a:ext cx="640080" cy="329184"/>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CSV</a:t>
            </a:r>
            <a:endParaRPr lang="en-US" sz="1100" dirty="0"/>
          </a:p>
        </p:txBody>
      </p:sp>
      <p:sp>
        <p:nvSpPr>
          <p:cNvPr id="18" name="Text 14"/>
          <p:cNvSpPr txBox="1"/>
          <p:nvPr/>
        </p:nvSpPr>
        <p:spPr>
          <a:xfrm>
            <a:off x="4572000" y="2926080"/>
            <a:ext cx="301752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Visitor logs</a:t>
            </a:r>
            <a:endParaRPr lang="en-US" sz="1700" dirty="0"/>
          </a:p>
        </p:txBody>
      </p:sp>
      <p:sp>
        <p:nvSpPr>
          <p:cNvPr id="19" name="Text 15"/>
          <p:cNvSpPr txBox="1"/>
          <p:nvPr/>
        </p:nvSpPr>
        <p:spPr>
          <a:xfrm>
            <a:off x="4572000" y="3291840"/>
            <a:ext cx="3017520" cy="502920"/>
          </a:xfrm>
          <a:prstGeom prst="rect">
            <a:avLst/>
          </a:prstGeom>
          <a:noFill/>
          <a:ln/>
        </p:spPr>
        <p:txBody>
          <a:bodyPr wrap="square" lIns="0" tIns="0" rIns="0" bIns="0" rtlCol="0" anchor="t"/>
          <a:lstStyle/>
          <a:p>
            <a:pPr indent="0" marL="0">
              <a:buNone/>
            </a:pPr>
            <a:r>
              <a:rPr lang="en-US" sz="1250" dirty="0">
                <a:solidFill>
                  <a:srgbClr val="5B6B78"/>
                </a:solidFill>
                <a:latin typeface="Calibri" pitchFamily="34" charset="0"/>
                <a:ea typeface="Calibri" pitchFamily="34" charset="-122"/>
                <a:cs typeface="Calibri" pitchFamily="34" charset="-120"/>
              </a:rPr>
              <a:t>A complete log of all visitors and service providers.</a:t>
            </a:r>
            <a:endParaRPr lang="en-US" sz="1250" dirty="0"/>
          </a:p>
        </p:txBody>
      </p:sp>
      <p:sp>
        <p:nvSpPr>
          <p:cNvPr id="20" name="Text 16"/>
          <p:cNvSpPr txBox="1"/>
          <p:nvPr/>
        </p:nvSpPr>
        <p:spPr>
          <a:xfrm>
            <a:off x="4572000" y="3840480"/>
            <a:ext cx="3017520" cy="365760"/>
          </a:xfrm>
          <a:prstGeom prst="rect">
            <a:avLst/>
          </a:prstGeom>
          <a:noFill/>
          <a:ln/>
        </p:spPr>
        <p:txBody>
          <a:bodyPr wrap="square" lIns="0" tIns="0" rIns="0" bIns="0" rtlCol="0" anchor="t"/>
          <a:lstStyle/>
          <a:p>
            <a:pPr indent="0" marL="0">
              <a:buNone/>
            </a:pPr>
            <a:r>
              <a:rPr lang="en-US" sz="1200" b="1" dirty="0">
                <a:solidFill>
                  <a:srgbClr val="0E7C76"/>
                </a:solidFill>
                <a:latin typeface="Calibri" pitchFamily="34" charset="0"/>
                <a:ea typeface="Calibri" pitchFamily="34" charset="-122"/>
                <a:cs typeface="Calibri" pitchFamily="34" charset="-120"/>
              </a:rPr>
              <a:t>Use: </a:t>
            </a:r>
            <a:pPr indent="0" marL="0">
              <a:buNone/>
            </a:pPr>
            <a:r>
              <a:rPr lang="en-US" sz="1200" dirty="0">
                <a:solidFill>
                  <a:srgbClr val="0B2135"/>
                </a:solidFill>
                <a:latin typeface="Calibri" pitchFamily="34" charset="0"/>
                <a:ea typeface="Calibri" pitchFamily="34" charset="-122"/>
                <a:cs typeface="Calibri" pitchFamily="34" charset="-120"/>
              </a:rPr>
              <a:t>Checking who entered on a given day</a:t>
            </a:r>
            <a:endParaRPr lang="en-US" sz="1200" dirty="0"/>
          </a:p>
        </p:txBody>
      </p:sp>
      <p:sp>
        <p:nvSpPr>
          <p:cNvPr id="21" name="card"/>
          <p:cNvSpPr/>
          <p:nvPr/>
        </p:nvSpPr>
        <p:spPr>
          <a:xfrm>
            <a:off x="8046720" y="1874520"/>
            <a:ext cx="3474720" cy="2468880"/>
          </a:xfrm>
          <a:prstGeom prst="roundRect">
            <a:avLst>
              <a:gd name="adj" fmla="val 4444"/>
            </a:avLst>
          </a:prstGeom>
          <a:solidFill>
            <a:srgbClr val="FFFFFF"/>
          </a:solidFill>
          <a:ln w="9525">
            <a:solidFill>
              <a:srgbClr val="D5E3E3"/>
            </a:solidFill>
            <a:prstDash val="solid"/>
          </a:ln>
          <a:effectLst>
            <a:outerShdw sx="100000" sy="100000" kx="0" ky="0" algn="bl" rotWithShape="0" blurRad="152400" dist="38100" dir="5400000">
              <a:srgbClr val="0B2135">
                <a:alpha val="16000"/>
              </a:srgbClr>
            </a:outerShdw>
          </a:effectLst>
        </p:spPr>
      </p:sp>
      <p:sp>
        <p:nvSpPr>
          <p:cNvPr id="22" name="icon-bg"/>
          <p:cNvSpPr/>
          <p:nvPr/>
        </p:nvSpPr>
        <p:spPr>
          <a:xfrm>
            <a:off x="8321040" y="2148840"/>
            <a:ext cx="640080" cy="640080"/>
          </a:xfrm>
          <a:prstGeom prst="ellipse">
            <a:avLst/>
          </a:prstGeom>
          <a:solidFill>
            <a:srgbClr val="0E7C76"/>
          </a:solidFill>
          <a:ln w="12700">
            <a:solidFill>
              <a:srgbClr val="0E7C76"/>
            </a:solidFill>
            <a:prstDash val="solid"/>
          </a:ln>
        </p:spPr>
      </p:sp>
      <p:pic>
        <p:nvPicPr>
          <p:cNvPr id="23" name="icon" descr="preencoded.png">    </p:cNvPr>
          <p:cNvPicPr>
            <a:picLocks noChangeAspect="1"/>
          </p:cNvPicPr>
          <p:nvPr/>
        </p:nvPicPr>
        <p:blipFill>
          <a:blip r:embed="rId3"/>
          <a:stretch>
            <a:fillRect/>
          </a:stretch>
        </p:blipFill>
        <p:spPr>
          <a:xfrm>
            <a:off x="8474659" y="2302459"/>
            <a:ext cx="332842" cy="332842"/>
          </a:xfrm>
          <a:prstGeom prst="rect">
            <a:avLst/>
          </a:prstGeom>
        </p:spPr>
      </p:pic>
      <p:sp>
        <p:nvSpPr>
          <p:cNvPr id="24" name="format"/>
          <p:cNvSpPr/>
          <p:nvPr/>
        </p:nvSpPr>
        <p:spPr>
          <a:xfrm>
            <a:off x="10652760" y="2258568"/>
            <a:ext cx="640080" cy="329184"/>
          </a:xfrm>
          <a:prstGeom prst="roundRect">
            <a:avLst>
              <a:gd name="adj" fmla="val 50000"/>
            </a:avLst>
          </a:prstGeom>
          <a:solidFill>
            <a:srgbClr val="F4B942"/>
          </a:solidFill>
          <a:ln w="12700">
            <a:solidFill>
              <a:srgbClr val="F4B942"/>
            </a:solidFill>
            <a:prstDash val="solid"/>
          </a:ln>
        </p:spPr>
      </p:sp>
      <p:sp>
        <p:nvSpPr>
          <p:cNvPr id="25" name="Text 20"/>
          <p:cNvSpPr txBox="1"/>
          <p:nvPr/>
        </p:nvSpPr>
        <p:spPr>
          <a:xfrm>
            <a:off x="10652760" y="2258568"/>
            <a:ext cx="640080" cy="329184"/>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PDF</a:t>
            </a:r>
            <a:endParaRPr lang="en-US" sz="1100" dirty="0"/>
          </a:p>
        </p:txBody>
      </p:sp>
      <p:sp>
        <p:nvSpPr>
          <p:cNvPr id="26" name="Text 21"/>
          <p:cNvSpPr txBox="1"/>
          <p:nvPr/>
        </p:nvSpPr>
        <p:spPr>
          <a:xfrm>
            <a:off x="8321040" y="2926080"/>
            <a:ext cx="301752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Security incidents</a:t>
            </a:r>
            <a:endParaRPr lang="en-US" sz="1700" dirty="0"/>
          </a:p>
        </p:txBody>
      </p:sp>
      <p:sp>
        <p:nvSpPr>
          <p:cNvPr id="27" name="Text 22"/>
          <p:cNvSpPr txBox="1"/>
          <p:nvPr/>
        </p:nvSpPr>
        <p:spPr>
          <a:xfrm>
            <a:off x="8321040" y="3291840"/>
            <a:ext cx="3017520" cy="502920"/>
          </a:xfrm>
          <a:prstGeom prst="rect">
            <a:avLst/>
          </a:prstGeom>
          <a:noFill/>
          <a:ln/>
        </p:spPr>
        <p:txBody>
          <a:bodyPr wrap="square" lIns="0" tIns="0" rIns="0" bIns="0" rtlCol="0" anchor="t"/>
          <a:lstStyle/>
          <a:p>
            <a:pPr indent="0" marL="0">
              <a:buNone/>
            </a:pPr>
            <a:r>
              <a:rPr lang="en-US" sz="1250" dirty="0">
                <a:solidFill>
                  <a:srgbClr val="5B6B78"/>
                </a:solidFill>
                <a:latin typeface="Calibri" pitchFamily="34" charset="0"/>
                <a:ea typeface="Calibri" pitchFamily="34" charset="-122"/>
                <a:cs typeface="Calibri" pitchFamily="34" charset="-120"/>
              </a:rPr>
              <a:t>Every issue raised and how it was resolved.</a:t>
            </a:r>
            <a:endParaRPr lang="en-US" sz="1250" dirty="0"/>
          </a:p>
        </p:txBody>
      </p:sp>
      <p:sp>
        <p:nvSpPr>
          <p:cNvPr id="28" name="Text 23"/>
          <p:cNvSpPr txBox="1"/>
          <p:nvPr/>
        </p:nvSpPr>
        <p:spPr>
          <a:xfrm>
            <a:off x="8321040" y="3840480"/>
            <a:ext cx="3017520" cy="365760"/>
          </a:xfrm>
          <a:prstGeom prst="rect">
            <a:avLst/>
          </a:prstGeom>
          <a:noFill/>
          <a:ln/>
        </p:spPr>
        <p:txBody>
          <a:bodyPr wrap="square" lIns="0" tIns="0" rIns="0" bIns="0" rtlCol="0" anchor="t"/>
          <a:lstStyle/>
          <a:p>
            <a:pPr indent="0" marL="0">
              <a:buNone/>
            </a:pPr>
            <a:r>
              <a:rPr lang="en-US" sz="1200" b="1" dirty="0">
                <a:solidFill>
                  <a:srgbClr val="0E7C76"/>
                </a:solidFill>
                <a:latin typeface="Calibri" pitchFamily="34" charset="0"/>
                <a:ea typeface="Calibri" pitchFamily="34" charset="-122"/>
                <a:cs typeface="Calibri" pitchFamily="34" charset="-120"/>
              </a:rPr>
              <a:t>Use: </a:t>
            </a:r>
            <a:pPr indent="0" marL="0">
              <a:buNone/>
            </a:pPr>
            <a:r>
              <a:rPr lang="en-US" sz="1200" dirty="0">
                <a:solidFill>
                  <a:srgbClr val="0B2135"/>
                </a:solidFill>
                <a:latin typeface="Calibri" pitchFamily="34" charset="0"/>
                <a:ea typeface="Calibri" pitchFamily="34" charset="-122"/>
                <a:cs typeface="Calibri" pitchFamily="34" charset="-120"/>
              </a:rPr>
              <a:t>Reviewing security agency performance</a:t>
            </a:r>
            <a:endParaRPr lang="en-US" sz="1200" dirty="0"/>
          </a:p>
        </p:txBody>
      </p:sp>
      <p:pic>
        <p:nvPicPr>
          <p:cNvPr id="29" name="screenshot" descr="img/p_reports.png">    </p:cNvPr>
          <p:cNvPicPr>
            <a:picLocks noChangeAspect="1"/>
          </p:cNvPicPr>
          <p:nvPr/>
        </p:nvPicPr>
        <p:blipFill>
          <a:blip r:embed="rId4"/>
          <a:stretch>
            <a:fillRect/>
          </a:stretch>
        </p:blipFill>
        <p:spPr>
          <a:xfrm>
            <a:off x="548640" y="4572000"/>
            <a:ext cx="5146225" cy="1691640"/>
          </a:xfrm>
          <a:prstGeom prst="rect">
            <a:avLst/>
          </a:prstGeom>
          <a:effectLst>
            <a:outerShdw sx="100000" sy="100000" kx="0" ky="0" algn="bl" rotWithShape="0" blurRad="228600" dist="50800" dir="5400000">
              <a:srgbClr val="0B2135">
                <a:alpha val="22000"/>
              </a:srgbClr>
            </a:outerShdw>
          </a:effectLst>
        </p:spPr>
      </p:pic>
      <p:sp>
        <p:nvSpPr>
          <p:cNvPr id="30" name="Text 24"/>
          <p:cNvSpPr txBox="1"/>
          <p:nvPr/>
        </p:nvSpPr>
        <p:spPr>
          <a:xfrm>
            <a:off x="6400800" y="4846320"/>
            <a:ext cx="5212080" cy="731520"/>
          </a:xfrm>
          <a:prstGeom prst="rect">
            <a:avLst/>
          </a:prstGeom>
          <a:noFill/>
          <a:ln/>
        </p:spPr>
        <p:txBody>
          <a:bodyPr wrap="square" lIns="0" tIns="0" rIns="0" bIns="0" rtlCol="0" anchor="t"/>
          <a:lstStyle/>
          <a:p>
            <a:pPr indent="0" marL="0">
              <a:buNone/>
            </a:pPr>
            <a:r>
              <a:rPr lang="en-US" sz="1250" i="1" dirty="0">
                <a:solidFill>
                  <a:srgbClr val="5B6B78"/>
                </a:solidFill>
                <a:latin typeface="Calibri" pitchFamily="34" charset="0"/>
                <a:ea typeface="Calibri" pitchFamily="34" charset="-122"/>
                <a:cs typeface="Calibri" pitchFamily="34" charset="-120"/>
              </a:rPr>
              <a:t>In the prototype the download buttons are placeholders that show the intended experience.</a:t>
            </a:r>
            <a:endParaRPr lang="en-US" sz="12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t"/>
          <a:lstStyle/>
          <a:p>
            <a:pPr indent="0" marL="0">
              <a:buNone/>
            </a:pPr>
            <a:r>
              <a:rPr lang="en-US" sz="1100" b="1" spc="300" kern="0" dirty="0">
                <a:solidFill>
                  <a:srgbClr val="0E7C76"/>
                </a:solidFill>
                <a:latin typeface="Calibri" pitchFamily="34" charset="0"/>
                <a:ea typeface="Calibri" pitchFamily="34" charset="-122"/>
                <a:cs typeface="Calibri" pitchFamily="34" charset="-120"/>
              </a:rPr>
              <a:t>MODULE 14 · CONTROL  ·  USER MANAGEMENT</a:t>
            </a:r>
            <a:endParaRPr lang="en-US" sz="1100" dirty="0"/>
          </a:p>
        </p:txBody>
      </p:sp>
      <p:sp>
        <p:nvSpPr>
          <p:cNvPr id="3" name="Text 1"/>
          <p:cNvSpPr/>
          <p:nvPr>
            <p:ph idx="101" type="title" hasCustomPrompt="1"/>
          </p:nvPr>
        </p:nvSpPr>
        <p:spPr>
          <a:xfrm>
            <a:off x="548640" y="457200"/>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Users: who is on the platform, in what role</a:t>
            </a:r>
            <a:endParaRPr lang="en-US" sz="3000" dirty="0"/>
          </a:p>
        </p:txBody>
      </p:sp>
      <p:sp>
        <p:nvSpPr>
          <p:cNvPr id="4" name="Text 2"/>
          <p:cNvSpPr txBox="1"/>
          <p:nvPr/>
        </p:nvSpPr>
        <p:spPr>
          <a:xfrm>
            <a:off x="548640" y="1261872"/>
            <a:ext cx="5074920" cy="822960"/>
          </a:xfrm>
          <a:prstGeom prst="rect">
            <a:avLst/>
          </a:prstGeom>
          <a:noFill/>
          <a:ln/>
        </p:spPr>
        <p:txBody>
          <a:bodyPr wrap="square" lIns="0" tIns="0" rIns="0" bIns="0" rtlCol="0" anchor="t"/>
          <a:lstStyle/>
          <a:p>
            <a:pPr indent="0" marL="0">
              <a:buNone/>
            </a:pPr>
            <a:r>
              <a:rPr lang="en-US" sz="1400" dirty="0">
                <a:solidFill>
                  <a:srgbClr val="16384F"/>
                </a:solidFill>
                <a:latin typeface="Calibri" pitchFamily="34" charset="0"/>
                <a:ea typeface="Calibri" pitchFamily="34" charset="-122"/>
                <a:cs typeface="Calibri" pitchFamily="34" charset="-120"/>
              </a:rPr>
              <a:t>The Super Admin's control room for people. Every resident, volunteer and guard is added here with a role, phase and contact.</a:t>
            </a:r>
            <a:endParaRPr lang="en-US" sz="1400" dirty="0"/>
          </a:p>
        </p:txBody>
      </p:sp>
      <p:sp>
        <p:nvSpPr>
          <p:cNvPr id="5" name="Text 3"/>
          <p:cNvSpPr txBox="1"/>
          <p:nvPr/>
        </p:nvSpPr>
        <p:spPr>
          <a:xfrm>
            <a:off x="548640" y="2176272"/>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WHO USES IT</a:t>
            </a:r>
            <a:endParaRPr lang="en-US" sz="1000" dirty="0"/>
          </a:p>
        </p:txBody>
      </p:sp>
      <p:sp>
        <p:nvSpPr>
          <p:cNvPr id="6" name="role-chip"/>
          <p:cNvSpPr/>
          <p:nvPr/>
        </p:nvSpPr>
        <p:spPr>
          <a:xfrm>
            <a:off x="548640" y="2450592"/>
            <a:ext cx="1115751" cy="329184"/>
          </a:xfrm>
          <a:prstGeom prst="roundRect">
            <a:avLst>
              <a:gd name="adj" fmla="val 50000"/>
            </a:avLst>
          </a:prstGeom>
          <a:solidFill>
            <a:srgbClr val="0B2135"/>
          </a:solidFill>
          <a:ln w="12700">
            <a:solidFill>
              <a:srgbClr val="0B2135"/>
            </a:solidFill>
            <a:prstDash val="solid"/>
          </a:ln>
        </p:spPr>
      </p:sp>
      <p:sp>
        <p:nvSpPr>
          <p:cNvPr id="7" name="Text 5"/>
          <p:cNvSpPr txBox="1"/>
          <p:nvPr/>
        </p:nvSpPr>
        <p:spPr>
          <a:xfrm>
            <a:off x="548640" y="2450592"/>
            <a:ext cx="1115751"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Super Admin</a:t>
            </a:r>
            <a:endParaRPr lang="en-US" sz="1150" dirty="0"/>
          </a:p>
        </p:txBody>
      </p:sp>
      <p:sp>
        <p:nvSpPr>
          <p:cNvPr id="8" name="Text 6"/>
          <p:cNvSpPr txBox="1"/>
          <p:nvPr/>
        </p:nvSpPr>
        <p:spPr>
          <a:xfrm>
            <a:off x="548640" y="2971800"/>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WHAT GETS RECORDED</a:t>
            </a:r>
            <a:endParaRPr lang="en-US" sz="1000" dirty="0"/>
          </a:p>
        </p:txBody>
      </p:sp>
      <p:sp>
        <p:nvSpPr>
          <p:cNvPr id="9" name="field-tag"/>
          <p:cNvSpPr/>
          <p:nvPr/>
        </p:nvSpPr>
        <p:spPr>
          <a:xfrm>
            <a:off x="548640" y="3246120"/>
            <a:ext cx="2468880" cy="310896"/>
          </a:xfrm>
          <a:prstGeom prst="roundRect">
            <a:avLst>
              <a:gd name="adj" fmla="val 17647"/>
            </a:avLst>
          </a:prstGeom>
          <a:solidFill>
            <a:srgbClr val="F1F7F7"/>
          </a:solidFill>
          <a:ln w="12700">
            <a:solidFill>
              <a:srgbClr val="F1F7F7"/>
            </a:solidFill>
            <a:prstDash val="solid"/>
          </a:ln>
        </p:spPr>
      </p:sp>
      <p:sp>
        <p:nvSpPr>
          <p:cNvPr id="10" name="dot"/>
          <p:cNvSpPr/>
          <p:nvPr/>
        </p:nvSpPr>
        <p:spPr>
          <a:xfrm>
            <a:off x="658368" y="3364992"/>
            <a:ext cx="73152" cy="73152"/>
          </a:xfrm>
          <a:prstGeom prst="ellipse">
            <a:avLst/>
          </a:prstGeom>
          <a:solidFill>
            <a:srgbClr val="13A89E"/>
          </a:solidFill>
          <a:ln w="12700">
            <a:solidFill>
              <a:srgbClr val="13A89E"/>
            </a:solidFill>
            <a:prstDash val="solid"/>
          </a:ln>
        </p:spPr>
      </p:sp>
      <p:sp>
        <p:nvSpPr>
          <p:cNvPr id="11" name="Text 9"/>
          <p:cNvSpPr txBox="1"/>
          <p:nvPr/>
        </p:nvSpPr>
        <p:spPr>
          <a:xfrm>
            <a:off x="804672" y="3246120"/>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Full name</a:t>
            </a:r>
            <a:endParaRPr lang="en-US" sz="1100" dirty="0"/>
          </a:p>
        </p:txBody>
      </p:sp>
      <p:sp>
        <p:nvSpPr>
          <p:cNvPr id="12" name="field-tag"/>
          <p:cNvSpPr/>
          <p:nvPr/>
        </p:nvSpPr>
        <p:spPr>
          <a:xfrm>
            <a:off x="3154680" y="3246120"/>
            <a:ext cx="2468880" cy="310896"/>
          </a:xfrm>
          <a:prstGeom prst="roundRect">
            <a:avLst>
              <a:gd name="adj" fmla="val 17647"/>
            </a:avLst>
          </a:prstGeom>
          <a:solidFill>
            <a:srgbClr val="F1F7F7"/>
          </a:solidFill>
          <a:ln w="12700">
            <a:solidFill>
              <a:srgbClr val="F1F7F7"/>
            </a:solidFill>
            <a:prstDash val="solid"/>
          </a:ln>
        </p:spPr>
      </p:sp>
      <p:sp>
        <p:nvSpPr>
          <p:cNvPr id="13" name="dot"/>
          <p:cNvSpPr/>
          <p:nvPr/>
        </p:nvSpPr>
        <p:spPr>
          <a:xfrm>
            <a:off x="3264408" y="3364992"/>
            <a:ext cx="73152" cy="73152"/>
          </a:xfrm>
          <a:prstGeom prst="ellipse">
            <a:avLst/>
          </a:prstGeom>
          <a:solidFill>
            <a:srgbClr val="13A89E"/>
          </a:solidFill>
          <a:ln w="12700">
            <a:solidFill>
              <a:srgbClr val="13A89E"/>
            </a:solidFill>
            <a:prstDash val="solid"/>
          </a:ln>
        </p:spPr>
      </p:sp>
      <p:sp>
        <p:nvSpPr>
          <p:cNvPr id="14" name="Text 12"/>
          <p:cNvSpPr txBox="1"/>
          <p:nvPr/>
        </p:nvSpPr>
        <p:spPr>
          <a:xfrm>
            <a:off x="3410712" y="3246120"/>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Role: Community Member / Volunteer / Guard</a:t>
            </a:r>
            <a:endParaRPr lang="en-US" sz="1100" dirty="0"/>
          </a:p>
        </p:txBody>
      </p:sp>
      <p:sp>
        <p:nvSpPr>
          <p:cNvPr id="15" name="field-tag"/>
          <p:cNvSpPr/>
          <p:nvPr/>
        </p:nvSpPr>
        <p:spPr>
          <a:xfrm>
            <a:off x="548640" y="3630168"/>
            <a:ext cx="2468880" cy="310896"/>
          </a:xfrm>
          <a:prstGeom prst="roundRect">
            <a:avLst>
              <a:gd name="adj" fmla="val 17647"/>
            </a:avLst>
          </a:prstGeom>
          <a:solidFill>
            <a:srgbClr val="F1F7F7"/>
          </a:solidFill>
          <a:ln w="12700">
            <a:solidFill>
              <a:srgbClr val="F1F7F7"/>
            </a:solidFill>
            <a:prstDash val="solid"/>
          </a:ln>
        </p:spPr>
      </p:sp>
      <p:sp>
        <p:nvSpPr>
          <p:cNvPr id="16" name="dot"/>
          <p:cNvSpPr/>
          <p:nvPr/>
        </p:nvSpPr>
        <p:spPr>
          <a:xfrm>
            <a:off x="658368" y="3749040"/>
            <a:ext cx="73152" cy="73152"/>
          </a:xfrm>
          <a:prstGeom prst="ellipse">
            <a:avLst/>
          </a:prstGeom>
          <a:solidFill>
            <a:srgbClr val="13A89E"/>
          </a:solidFill>
          <a:ln w="12700">
            <a:solidFill>
              <a:srgbClr val="13A89E"/>
            </a:solidFill>
            <a:prstDash val="solid"/>
          </a:ln>
        </p:spPr>
      </p:sp>
      <p:sp>
        <p:nvSpPr>
          <p:cNvPr id="17" name="Text 15"/>
          <p:cNvSpPr txBox="1"/>
          <p:nvPr/>
        </p:nvSpPr>
        <p:spPr>
          <a:xfrm>
            <a:off x="804672" y="3630168"/>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Guard shift: Day / Night / Reliever</a:t>
            </a:r>
            <a:endParaRPr lang="en-US" sz="1100" dirty="0"/>
          </a:p>
        </p:txBody>
      </p:sp>
      <p:sp>
        <p:nvSpPr>
          <p:cNvPr id="18" name="field-tag"/>
          <p:cNvSpPr/>
          <p:nvPr/>
        </p:nvSpPr>
        <p:spPr>
          <a:xfrm>
            <a:off x="3154680" y="3630168"/>
            <a:ext cx="2468880" cy="310896"/>
          </a:xfrm>
          <a:prstGeom prst="roundRect">
            <a:avLst>
              <a:gd name="adj" fmla="val 17647"/>
            </a:avLst>
          </a:prstGeom>
          <a:solidFill>
            <a:srgbClr val="F1F7F7"/>
          </a:solidFill>
          <a:ln w="12700">
            <a:solidFill>
              <a:srgbClr val="F1F7F7"/>
            </a:solidFill>
            <a:prstDash val="solid"/>
          </a:ln>
        </p:spPr>
      </p:sp>
      <p:sp>
        <p:nvSpPr>
          <p:cNvPr id="19" name="dot"/>
          <p:cNvSpPr/>
          <p:nvPr/>
        </p:nvSpPr>
        <p:spPr>
          <a:xfrm>
            <a:off x="3264408" y="3749040"/>
            <a:ext cx="73152" cy="73152"/>
          </a:xfrm>
          <a:prstGeom prst="ellipse">
            <a:avLst/>
          </a:prstGeom>
          <a:solidFill>
            <a:srgbClr val="13A89E"/>
          </a:solidFill>
          <a:ln w="12700">
            <a:solidFill>
              <a:srgbClr val="13A89E"/>
            </a:solidFill>
            <a:prstDash val="solid"/>
          </a:ln>
        </p:spPr>
      </p:sp>
      <p:sp>
        <p:nvSpPr>
          <p:cNvPr id="20" name="Text 18"/>
          <p:cNvSpPr txBox="1"/>
          <p:nvPr/>
        </p:nvSpPr>
        <p:spPr>
          <a:xfrm>
            <a:off x="3410712" y="3630168"/>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Phase and sector</a:t>
            </a:r>
            <a:endParaRPr lang="en-US" sz="1100" dirty="0"/>
          </a:p>
        </p:txBody>
      </p:sp>
      <p:sp>
        <p:nvSpPr>
          <p:cNvPr id="21" name="field-tag"/>
          <p:cNvSpPr/>
          <p:nvPr/>
        </p:nvSpPr>
        <p:spPr>
          <a:xfrm>
            <a:off x="548640" y="4014216"/>
            <a:ext cx="2468880" cy="310896"/>
          </a:xfrm>
          <a:prstGeom prst="roundRect">
            <a:avLst>
              <a:gd name="adj" fmla="val 17647"/>
            </a:avLst>
          </a:prstGeom>
          <a:solidFill>
            <a:srgbClr val="F1F7F7"/>
          </a:solidFill>
          <a:ln w="12700">
            <a:solidFill>
              <a:srgbClr val="F1F7F7"/>
            </a:solidFill>
            <a:prstDash val="solid"/>
          </a:ln>
        </p:spPr>
      </p:sp>
      <p:sp>
        <p:nvSpPr>
          <p:cNvPr id="22" name="dot"/>
          <p:cNvSpPr/>
          <p:nvPr/>
        </p:nvSpPr>
        <p:spPr>
          <a:xfrm>
            <a:off x="658368" y="4133088"/>
            <a:ext cx="73152" cy="73152"/>
          </a:xfrm>
          <a:prstGeom prst="ellipse">
            <a:avLst/>
          </a:prstGeom>
          <a:solidFill>
            <a:srgbClr val="13A89E"/>
          </a:solidFill>
          <a:ln w="12700">
            <a:solidFill>
              <a:srgbClr val="13A89E"/>
            </a:solidFill>
            <a:prstDash val="solid"/>
          </a:ln>
        </p:spPr>
      </p:sp>
      <p:sp>
        <p:nvSpPr>
          <p:cNvPr id="23" name="Text 21"/>
          <p:cNvSpPr txBox="1"/>
          <p:nvPr/>
        </p:nvSpPr>
        <p:spPr>
          <a:xfrm>
            <a:off x="804672" y="4014216"/>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Contact number</a:t>
            </a:r>
            <a:endParaRPr lang="en-US" sz="1100" dirty="0"/>
          </a:p>
        </p:txBody>
      </p:sp>
      <p:sp>
        <p:nvSpPr>
          <p:cNvPr id="24" name="field-tag"/>
          <p:cNvSpPr/>
          <p:nvPr/>
        </p:nvSpPr>
        <p:spPr>
          <a:xfrm>
            <a:off x="3154680" y="4014216"/>
            <a:ext cx="2468880" cy="310896"/>
          </a:xfrm>
          <a:prstGeom prst="roundRect">
            <a:avLst>
              <a:gd name="adj" fmla="val 17647"/>
            </a:avLst>
          </a:prstGeom>
          <a:solidFill>
            <a:srgbClr val="F1F7F7"/>
          </a:solidFill>
          <a:ln w="12700">
            <a:solidFill>
              <a:srgbClr val="F1F7F7"/>
            </a:solidFill>
            <a:prstDash val="solid"/>
          </a:ln>
        </p:spPr>
      </p:sp>
      <p:sp>
        <p:nvSpPr>
          <p:cNvPr id="25" name="dot"/>
          <p:cNvSpPr/>
          <p:nvPr/>
        </p:nvSpPr>
        <p:spPr>
          <a:xfrm>
            <a:off x="3264408" y="4133088"/>
            <a:ext cx="73152" cy="73152"/>
          </a:xfrm>
          <a:prstGeom prst="ellipse">
            <a:avLst/>
          </a:prstGeom>
          <a:solidFill>
            <a:srgbClr val="13A89E"/>
          </a:solidFill>
          <a:ln w="12700">
            <a:solidFill>
              <a:srgbClr val="13A89E"/>
            </a:solidFill>
            <a:prstDash val="solid"/>
          </a:ln>
        </p:spPr>
      </p:sp>
      <p:sp>
        <p:nvSpPr>
          <p:cNvPr id="26" name="Text 24"/>
          <p:cNvSpPr txBox="1"/>
          <p:nvPr/>
        </p:nvSpPr>
        <p:spPr>
          <a:xfrm>
            <a:off x="3410712" y="4014216"/>
            <a:ext cx="2157984" cy="310896"/>
          </a:xfrm>
          <a:prstGeom prst="rect">
            <a:avLst/>
          </a:prstGeom>
          <a:noFill/>
          <a:ln/>
        </p:spPr>
        <p:txBody>
          <a:bodyPr wrap="square" lIns="0" tIns="0" rIns="0" bIns="0" rtlCol="0" anchor="ctr"/>
          <a:lstStyle/>
          <a:p>
            <a:pPr indent="0" marL="0">
              <a:buNone/>
            </a:pPr>
            <a:r>
              <a:rPr lang="en-US" sz="1100" dirty="0">
                <a:solidFill>
                  <a:srgbClr val="0B2135"/>
                </a:solidFill>
                <a:latin typeface="Calibri" pitchFamily="34" charset="0"/>
                <a:ea typeface="Calibri" pitchFamily="34" charset="-122"/>
                <a:cs typeface="Calibri" pitchFamily="34" charset="-120"/>
              </a:rPr>
              <a:t>Profile photo</a:t>
            </a:r>
            <a:endParaRPr lang="en-US" sz="1100" dirty="0"/>
          </a:p>
        </p:txBody>
      </p:sp>
      <p:sp>
        <p:nvSpPr>
          <p:cNvPr id="27" name="Text 25"/>
          <p:cNvSpPr txBox="1"/>
          <p:nvPr/>
        </p:nvSpPr>
        <p:spPr>
          <a:xfrm>
            <a:off x="548640" y="4507992"/>
            <a:ext cx="502920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LIFECYCLE</a:t>
            </a:r>
            <a:endParaRPr lang="en-US" sz="1000" dirty="0"/>
          </a:p>
        </p:txBody>
      </p:sp>
      <p:sp>
        <p:nvSpPr>
          <p:cNvPr id="28" name="flow-chip"/>
          <p:cNvSpPr/>
          <p:nvPr/>
        </p:nvSpPr>
        <p:spPr>
          <a:xfrm>
            <a:off x="548640" y="4782312"/>
            <a:ext cx="926104" cy="384048"/>
          </a:xfrm>
          <a:prstGeom prst="roundRect">
            <a:avLst>
              <a:gd name="adj" fmla="val 50000"/>
            </a:avLst>
          </a:prstGeom>
          <a:solidFill>
            <a:srgbClr val="F1F7F7"/>
          </a:solidFill>
          <a:ln w="12700">
            <a:solidFill>
              <a:srgbClr val="0B2135"/>
            </a:solidFill>
            <a:prstDash val="solid"/>
          </a:ln>
        </p:spPr>
      </p:sp>
      <p:sp>
        <p:nvSpPr>
          <p:cNvPr id="29" name="Text 27"/>
          <p:cNvSpPr txBox="1"/>
          <p:nvPr/>
        </p:nvSpPr>
        <p:spPr>
          <a:xfrm>
            <a:off x="548640" y="4782312"/>
            <a:ext cx="926104" cy="384048"/>
          </a:xfrm>
          <a:prstGeom prst="rect">
            <a:avLst/>
          </a:prstGeom>
          <a:noFill/>
          <a:ln/>
        </p:spPr>
        <p:txBody>
          <a:bodyPr wrap="square" lIns="0" tIns="0" rIns="0" bIns="0" rtlCol="0" anchor="ctr"/>
          <a:lstStyle/>
          <a:p>
            <a:pPr algn="ctr" indent="0" marL="0">
              <a:buNone/>
            </a:pPr>
            <a:r>
              <a:rPr lang="en-US" sz="1200" b="1" dirty="0">
                <a:solidFill>
                  <a:srgbClr val="0B2135"/>
                </a:solidFill>
                <a:latin typeface="Calibri" pitchFamily="34" charset="0"/>
                <a:ea typeface="Calibri" pitchFamily="34" charset="-122"/>
                <a:cs typeface="Calibri" pitchFamily="34" charset="-120"/>
              </a:rPr>
              <a:t>Add user</a:t>
            </a:r>
            <a:endParaRPr lang="en-US" sz="1200" dirty="0"/>
          </a:p>
        </p:txBody>
      </p:sp>
      <p:pic>
        <p:nvPicPr>
          <p:cNvPr id="30" name="arrow" descr="preencoded.png">    </p:cNvPr>
          <p:cNvPicPr>
            <a:picLocks noChangeAspect="1"/>
          </p:cNvPicPr>
          <p:nvPr/>
        </p:nvPicPr>
        <p:blipFill>
          <a:blip r:embed="rId1"/>
          <a:stretch>
            <a:fillRect/>
          </a:stretch>
        </p:blipFill>
        <p:spPr>
          <a:xfrm>
            <a:off x="1520464" y="4873752"/>
            <a:ext cx="201168" cy="201168"/>
          </a:xfrm>
          <a:prstGeom prst="rect">
            <a:avLst/>
          </a:prstGeom>
        </p:spPr>
      </p:pic>
      <p:sp>
        <p:nvSpPr>
          <p:cNvPr id="31" name="flow-chip"/>
          <p:cNvSpPr/>
          <p:nvPr/>
        </p:nvSpPr>
        <p:spPr>
          <a:xfrm>
            <a:off x="1767352" y="4782312"/>
            <a:ext cx="1075334" cy="384048"/>
          </a:xfrm>
          <a:prstGeom prst="roundRect">
            <a:avLst>
              <a:gd name="adj" fmla="val 50000"/>
            </a:avLst>
          </a:prstGeom>
          <a:solidFill>
            <a:srgbClr val="F1F7F7"/>
          </a:solidFill>
          <a:ln w="12700">
            <a:solidFill>
              <a:srgbClr val="0B2135"/>
            </a:solidFill>
            <a:prstDash val="solid"/>
          </a:ln>
        </p:spPr>
      </p:sp>
      <p:sp>
        <p:nvSpPr>
          <p:cNvPr id="32" name="Text 29"/>
          <p:cNvSpPr txBox="1"/>
          <p:nvPr/>
        </p:nvSpPr>
        <p:spPr>
          <a:xfrm>
            <a:off x="1767352" y="4782312"/>
            <a:ext cx="1075334" cy="384048"/>
          </a:xfrm>
          <a:prstGeom prst="rect">
            <a:avLst/>
          </a:prstGeom>
          <a:noFill/>
          <a:ln/>
        </p:spPr>
        <p:txBody>
          <a:bodyPr wrap="square" lIns="0" tIns="0" rIns="0" bIns="0" rtlCol="0" anchor="ctr"/>
          <a:lstStyle/>
          <a:p>
            <a:pPr algn="ctr" indent="0" marL="0">
              <a:buNone/>
            </a:pPr>
            <a:r>
              <a:rPr lang="en-US" sz="1200" b="1" dirty="0">
                <a:solidFill>
                  <a:srgbClr val="0B2135"/>
                </a:solidFill>
                <a:latin typeface="Calibri" pitchFamily="34" charset="0"/>
                <a:ea typeface="Calibri" pitchFamily="34" charset="-122"/>
                <a:cs typeface="Calibri" pitchFamily="34" charset="-120"/>
              </a:rPr>
              <a:t>Role badge</a:t>
            </a:r>
            <a:endParaRPr lang="en-US" sz="1200" dirty="0"/>
          </a:p>
        </p:txBody>
      </p:sp>
      <p:pic>
        <p:nvPicPr>
          <p:cNvPr id="33" name="arrow" descr="preencoded.png">    </p:cNvPr>
          <p:cNvPicPr>
            <a:picLocks noChangeAspect="1"/>
          </p:cNvPicPr>
          <p:nvPr/>
        </p:nvPicPr>
        <p:blipFill>
          <a:blip r:embed="rId2"/>
          <a:stretch>
            <a:fillRect/>
          </a:stretch>
        </p:blipFill>
        <p:spPr>
          <a:xfrm>
            <a:off x="2888407" y="4873752"/>
            <a:ext cx="201168" cy="201168"/>
          </a:xfrm>
          <a:prstGeom prst="rect">
            <a:avLst/>
          </a:prstGeom>
        </p:spPr>
      </p:pic>
      <p:sp>
        <p:nvSpPr>
          <p:cNvPr id="34" name="flow-chip"/>
          <p:cNvSpPr/>
          <p:nvPr/>
        </p:nvSpPr>
        <p:spPr>
          <a:xfrm>
            <a:off x="3135295" y="4782312"/>
            <a:ext cx="776874" cy="384048"/>
          </a:xfrm>
          <a:prstGeom prst="roundRect">
            <a:avLst>
              <a:gd name="adj" fmla="val 50000"/>
            </a:avLst>
          </a:prstGeom>
          <a:solidFill>
            <a:srgbClr val="F1F7F7"/>
          </a:solidFill>
          <a:ln w="12700">
            <a:solidFill>
              <a:srgbClr val="0B2135"/>
            </a:solidFill>
            <a:prstDash val="solid"/>
          </a:ln>
        </p:spPr>
      </p:sp>
      <p:sp>
        <p:nvSpPr>
          <p:cNvPr id="35" name="Text 31"/>
          <p:cNvSpPr txBox="1"/>
          <p:nvPr/>
        </p:nvSpPr>
        <p:spPr>
          <a:xfrm>
            <a:off x="3135295" y="4782312"/>
            <a:ext cx="776874" cy="384048"/>
          </a:xfrm>
          <a:prstGeom prst="rect">
            <a:avLst/>
          </a:prstGeom>
          <a:noFill/>
          <a:ln/>
        </p:spPr>
        <p:txBody>
          <a:bodyPr wrap="square" lIns="0" tIns="0" rIns="0" bIns="0" rtlCol="0" anchor="ctr"/>
          <a:lstStyle/>
          <a:p>
            <a:pPr algn="ctr" indent="0" marL="0">
              <a:buNone/>
            </a:pPr>
            <a:r>
              <a:rPr lang="en-US" sz="1200" b="1" dirty="0">
                <a:solidFill>
                  <a:srgbClr val="0B2135"/>
                </a:solidFill>
                <a:latin typeface="Calibri" pitchFamily="34" charset="0"/>
                <a:ea typeface="Calibri" pitchFamily="34" charset="-122"/>
                <a:cs typeface="Calibri" pitchFamily="34" charset="-120"/>
              </a:rPr>
              <a:t>Filter</a:t>
            </a:r>
            <a:endParaRPr lang="en-US" sz="1200" dirty="0"/>
          </a:p>
        </p:txBody>
      </p:sp>
      <p:pic>
        <p:nvPicPr>
          <p:cNvPr id="36" name="arrow" descr="preencoded.png">    </p:cNvPr>
          <p:cNvPicPr>
            <a:picLocks noChangeAspect="1"/>
          </p:cNvPicPr>
          <p:nvPr/>
        </p:nvPicPr>
        <p:blipFill>
          <a:blip r:embed="rId3"/>
          <a:stretch>
            <a:fillRect/>
          </a:stretch>
        </p:blipFill>
        <p:spPr>
          <a:xfrm>
            <a:off x="3957889" y="4873752"/>
            <a:ext cx="201168" cy="201168"/>
          </a:xfrm>
          <a:prstGeom prst="rect">
            <a:avLst/>
          </a:prstGeom>
        </p:spPr>
      </p:pic>
      <p:sp>
        <p:nvSpPr>
          <p:cNvPr id="37" name="flow-chip"/>
          <p:cNvSpPr/>
          <p:nvPr/>
        </p:nvSpPr>
        <p:spPr>
          <a:xfrm>
            <a:off x="4204777" y="4782312"/>
            <a:ext cx="776874" cy="384048"/>
          </a:xfrm>
          <a:prstGeom prst="roundRect">
            <a:avLst>
              <a:gd name="adj" fmla="val 50000"/>
            </a:avLst>
          </a:prstGeom>
          <a:solidFill>
            <a:srgbClr val="E6F4F2"/>
          </a:solidFill>
          <a:ln w="12700">
            <a:solidFill>
              <a:srgbClr val="0B2135"/>
            </a:solidFill>
            <a:prstDash val="solid"/>
          </a:ln>
        </p:spPr>
      </p:sp>
      <p:sp>
        <p:nvSpPr>
          <p:cNvPr id="38" name="Text 33"/>
          <p:cNvSpPr txBox="1"/>
          <p:nvPr/>
        </p:nvSpPr>
        <p:spPr>
          <a:xfrm>
            <a:off x="4204777" y="4782312"/>
            <a:ext cx="776874" cy="384048"/>
          </a:xfrm>
          <a:prstGeom prst="rect">
            <a:avLst/>
          </a:prstGeom>
          <a:noFill/>
          <a:ln/>
        </p:spPr>
        <p:txBody>
          <a:bodyPr wrap="square" lIns="0" tIns="0" rIns="0" bIns="0" rtlCol="0" anchor="ctr"/>
          <a:lstStyle/>
          <a:p>
            <a:pPr algn="ctr" indent="0" marL="0">
              <a:buNone/>
            </a:pPr>
            <a:r>
              <a:rPr lang="en-US" sz="1200" b="1" dirty="0">
                <a:solidFill>
                  <a:srgbClr val="0B2135"/>
                </a:solidFill>
                <a:latin typeface="Calibri" pitchFamily="34" charset="0"/>
                <a:ea typeface="Calibri" pitchFamily="34" charset="-122"/>
                <a:cs typeface="Calibri" pitchFamily="34" charset="-120"/>
              </a:rPr>
              <a:t>Remove</a:t>
            </a:r>
            <a:endParaRPr lang="en-US" sz="1200" dirty="0"/>
          </a:p>
        </p:txBody>
      </p:sp>
      <p:sp>
        <p:nvSpPr>
          <p:cNvPr id="39" name="icon-bg"/>
          <p:cNvSpPr/>
          <p:nvPr/>
        </p:nvSpPr>
        <p:spPr>
          <a:xfrm>
            <a:off x="548640" y="5376672"/>
            <a:ext cx="384048" cy="384048"/>
          </a:xfrm>
          <a:prstGeom prst="ellipse">
            <a:avLst/>
          </a:prstGeom>
          <a:solidFill>
            <a:srgbClr val="F4B942"/>
          </a:solidFill>
          <a:ln w="12700">
            <a:solidFill>
              <a:srgbClr val="F4B942"/>
            </a:solidFill>
            <a:prstDash val="solid"/>
          </a:ln>
        </p:spPr>
      </p:sp>
      <p:pic>
        <p:nvPicPr>
          <p:cNvPr id="40" name="icon" descr="preencoded.png">    </p:cNvPr>
          <p:cNvPicPr>
            <a:picLocks noChangeAspect="1"/>
          </p:cNvPicPr>
          <p:nvPr/>
        </p:nvPicPr>
        <p:blipFill>
          <a:blip r:embed="rId4"/>
          <a:stretch>
            <a:fillRect/>
          </a:stretch>
        </p:blipFill>
        <p:spPr>
          <a:xfrm>
            <a:off x="640812" y="5468844"/>
            <a:ext cx="199705" cy="199705"/>
          </a:xfrm>
          <a:prstGeom prst="rect">
            <a:avLst/>
          </a:prstGeom>
        </p:spPr>
      </p:pic>
      <p:sp>
        <p:nvSpPr>
          <p:cNvPr id="41" name="Text 35"/>
          <p:cNvSpPr txBox="1"/>
          <p:nvPr/>
        </p:nvSpPr>
        <p:spPr>
          <a:xfrm>
            <a:off x="1051560" y="5340096"/>
            <a:ext cx="4572000" cy="548640"/>
          </a:xfrm>
          <a:prstGeom prst="rect">
            <a:avLst/>
          </a:prstGeom>
          <a:noFill/>
          <a:ln/>
        </p:spPr>
        <p:txBody>
          <a:bodyPr wrap="square" lIns="0" tIns="0" rIns="0" bIns="0" rtlCol="0" anchor="ctr"/>
          <a:lstStyle/>
          <a:p>
            <a:pPr indent="0" marL="0">
              <a:buNone/>
            </a:pPr>
            <a:r>
              <a:rPr lang="en-US" sz="1150" dirty="0">
                <a:solidFill>
                  <a:srgbClr val="0B2135"/>
                </a:solidFill>
                <a:latin typeface="Calibri" pitchFamily="34" charset="0"/>
                <a:ea typeface="Calibri" pitchFamily="34" charset="-122"/>
                <a:cs typeface="Calibri" pitchFamily="34" charset="-120"/>
              </a:rPr>
              <a:t>Anyone else who opens this page sees: 'You do not have permission to view this page.'</a:t>
            </a:r>
            <a:endParaRPr lang="en-US" sz="1150" dirty="0"/>
          </a:p>
        </p:txBody>
      </p:sp>
      <p:pic>
        <p:nvPicPr>
          <p:cNvPr id="42" name="screenshot" descr="img/p_users.png">    </p:cNvPr>
          <p:cNvPicPr>
            <a:picLocks noChangeAspect="1"/>
          </p:cNvPicPr>
          <p:nvPr/>
        </p:nvPicPr>
        <p:blipFill>
          <a:blip r:embed="rId5"/>
          <a:stretch>
            <a:fillRect/>
          </a:stretch>
        </p:blipFill>
        <p:spPr>
          <a:xfrm>
            <a:off x="5989320" y="1261872"/>
            <a:ext cx="5669280" cy="2405313"/>
          </a:xfrm>
          <a:prstGeom prst="rect">
            <a:avLst/>
          </a:prstGeom>
          <a:effectLst>
            <a:outerShdw sx="100000" sy="100000" kx="0" ky="0" algn="bl" rotWithShape="0" blurRad="228600" dist="50800" dir="5400000">
              <a:srgbClr val="0B2135">
                <a:alpha val="22000"/>
              </a:srgbClr>
            </a:outerShdw>
          </a:effectLst>
        </p:spPr>
      </p:pic>
      <p:pic>
        <p:nvPicPr>
          <p:cNvPr id="43" name="form-inset" descr="img/modal_user.png">    </p:cNvPr>
          <p:cNvPicPr>
            <a:picLocks noChangeAspect="1"/>
          </p:cNvPicPr>
          <p:nvPr/>
        </p:nvPicPr>
        <p:blipFill>
          <a:blip r:embed="rId6"/>
          <a:stretch>
            <a:fillRect/>
          </a:stretch>
        </p:blipFill>
        <p:spPr>
          <a:xfrm>
            <a:off x="9248895" y="3657600"/>
            <a:ext cx="2318265" cy="2514600"/>
          </a:xfrm>
          <a:prstGeom prst="rect">
            <a:avLst/>
          </a:prstGeom>
          <a:effectLst>
            <a:outerShdw sx="100000" sy="100000" kx="0" ky="0" algn="bl" rotWithShape="0" blurRad="279400" dist="63500" dir="5400000">
              <a:srgbClr val="0B2135">
                <a:alpha val="30000"/>
              </a:srgbClr>
            </a:outerShdw>
          </a:effectLst>
        </p:spPr>
      </p:pic>
      <p:sp>
        <p:nvSpPr>
          <p:cNvPr id="44" name="Text 36"/>
          <p:cNvSpPr txBox="1"/>
          <p:nvPr/>
        </p:nvSpPr>
        <p:spPr>
          <a:xfrm>
            <a:off x="5989320" y="3941505"/>
            <a:ext cx="3108960" cy="228600"/>
          </a:xfrm>
          <a:prstGeom prst="rect">
            <a:avLst/>
          </a:prstGeom>
          <a:noFill/>
          <a:ln/>
        </p:spPr>
        <p:txBody>
          <a:bodyPr wrap="square" lIns="0" tIns="0" rIns="0" bIns="0" rtlCol="0" anchor="t"/>
          <a:lstStyle/>
          <a:p>
            <a:pPr indent="0" marL="0">
              <a:buNone/>
            </a:pPr>
            <a:r>
              <a:rPr lang="en-US" sz="1000" b="1" spc="200" kern="0" dirty="0">
                <a:solidFill>
                  <a:srgbClr val="5B6B78"/>
                </a:solidFill>
                <a:latin typeface="Calibri" pitchFamily="34" charset="0"/>
                <a:ea typeface="Calibri" pitchFamily="34" charset="-122"/>
                <a:cs typeface="Calibri" pitchFamily="34" charset="-120"/>
              </a:rPr>
              <a:t>SUMMARY CARDS ON THIS PAGE</a:t>
            </a:r>
            <a:endParaRPr lang="en-US" sz="1000" dirty="0"/>
          </a:p>
        </p:txBody>
      </p:sp>
      <p:sp>
        <p:nvSpPr>
          <p:cNvPr id="45" name="dot"/>
          <p:cNvSpPr/>
          <p:nvPr/>
        </p:nvSpPr>
        <p:spPr>
          <a:xfrm>
            <a:off x="5989320" y="4325553"/>
            <a:ext cx="128016" cy="128016"/>
          </a:xfrm>
          <a:prstGeom prst="ellipse">
            <a:avLst/>
          </a:prstGeom>
          <a:solidFill>
            <a:srgbClr val="5B8DEF"/>
          </a:solidFill>
          <a:ln w="12700">
            <a:solidFill>
              <a:srgbClr val="5B8DEF"/>
            </a:solidFill>
            <a:prstDash val="solid"/>
          </a:ln>
        </p:spPr>
      </p:sp>
      <p:sp>
        <p:nvSpPr>
          <p:cNvPr id="46" name="Text 38"/>
          <p:cNvSpPr txBox="1"/>
          <p:nvPr/>
        </p:nvSpPr>
        <p:spPr>
          <a:xfrm>
            <a:off x="6217920" y="4234113"/>
            <a:ext cx="2743200" cy="310896"/>
          </a:xfrm>
          <a:prstGeom prst="rect">
            <a:avLst/>
          </a:prstGeom>
          <a:noFill/>
          <a:ln/>
        </p:spPr>
        <p:txBody>
          <a:bodyPr wrap="square" lIns="0" tIns="0" rIns="0" bIns="0" rtlCol="0" anchor="ctr"/>
          <a:lstStyle/>
          <a:p>
            <a:pPr indent="0" marL="0">
              <a:buNone/>
            </a:pPr>
            <a:r>
              <a:rPr lang="en-US" sz="1200" dirty="0">
                <a:solidFill>
                  <a:srgbClr val="0B2135"/>
                </a:solidFill>
                <a:latin typeface="Calibri" pitchFamily="34" charset="0"/>
                <a:ea typeface="Calibri" pitchFamily="34" charset="-122"/>
                <a:cs typeface="Calibri" pitchFamily="34" charset="-120"/>
              </a:rPr>
              <a:t>Role badge on every user</a:t>
            </a:r>
            <a:endParaRPr lang="en-US" sz="1200" dirty="0"/>
          </a:p>
        </p:txBody>
      </p:sp>
      <p:sp>
        <p:nvSpPr>
          <p:cNvPr id="47" name="dot"/>
          <p:cNvSpPr/>
          <p:nvPr/>
        </p:nvSpPr>
        <p:spPr>
          <a:xfrm>
            <a:off x="5989320" y="4709601"/>
            <a:ext cx="128016" cy="128016"/>
          </a:xfrm>
          <a:prstGeom prst="ellipse">
            <a:avLst/>
          </a:prstGeom>
          <a:solidFill>
            <a:srgbClr val="F4B942"/>
          </a:solidFill>
          <a:ln w="12700">
            <a:solidFill>
              <a:srgbClr val="F4B942"/>
            </a:solidFill>
            <a:prstDash val="solid"/>
          </a:ln>
        </p:spPr>
      </p:sp>
      <p:sp>
        <p:nvSpPr>
          <p:cNvPr id="48" name="Text 40"/>
          <p:cNvSpPr txBox="1"/>
          <p:nvPr/>
        </p:nvSpPr>
        <p:spPr>
          <a:xfrm>
            <a:off x="6217920" y="4618161"/>
            <a:ext cx="2743200" cy="310896"/>
          </a:xfrm>
          <a:prstGeom prst="rect">
            <a:avLst/>
          </a:prstGeom>
          <a:noFill/>
          <a:ln/>
        </p:spPr>
        <p:txBody>
          <a:bodyPr wrap="square" lIns="0" tIns="0" rIns="0" bIns="0" rtlCol="0" anchor="ctr"/>
          <a:lstStyle/>
          <a:p>
            <a:pPr indent="0" marL="0">
              <a:buNone/>
            </a:pPr>
            <a:r>
              <a:rPr lang="en-US" sz="1200" dirty="0">
                <a:solidFill>
                  <a:srgbClr val="0B2135"/>
                </a:solidFill>
                <a:latin typeface="Calibri" pitchFamily="34" charset="0"/>
                <a:ea typeface="Calibri" pitchFamily="34" charset="-122"/>
                <a:cs typeface="Calibri" pitchFamily="34" charset="-120"/>
              </a:rPr>
              <a:t>Shift tag for guards</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t"/>
          <a:lstStyle/>
          <a:p>
            <a:pPr indent="0" marL="0">
              <a:buNone/>
            </a:pPr>
            <a:r>
              <a:rPr lang="en-US" sz="1100" b="1" spc="300" kern="0" dirty="0">
                <a:solidFill>
                  <a:srgbClr val="0E7C76"/>
                </a:solidFill>
                <a:latin typeface="Calibri" pitchFamily="34" charset="0"/>
                <a:ea typeface="Calibri" pitchFamily="34" charset="-122"/>
                <a:cs typeface="Calibri" pitchFamily="34" charset="-120"/>
              </a:rPr>
              <a:t>MODULE 15 · CONTROL  ·  COMMUNITY SETTINGS</a:t>
            </a:r>
            <a:endParaRPr lang="en-US" sz="1100" dirty="0"/>
          </a:p>
        </p:txBody>
      </p:sp>
      <p:sp>
        <p:nvSpPr>
          <p:cNvPr id="3" name="Text 1"/>
          <p:cNvSpPr/>
          <p:nvPr>
            <p:ph idx="101" type="title" hasCustomPrompt="1"/>
          </p:nvPr>
        </p:nvSpPr>
        <p:spPr>
          <a:xfrm>
            <a:off x="548640" y="457200"/>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Settings: community-wide rules, set once</a:t>
            </a:r>
            <a:endParaRPr lang="en-US" sz="3000" dirty="0"/>
          </a:p>
        </p:txBody>
      </p:sp>
      <p:sp>
        <p:nvSpPr>
          <p:cNvPr id="4" name="Text 2"/>
          <p:cNvSpPr txBox="1"/>
          <p:nvPr/>
        </p:nvSpPr>
        <p:spPr>
          <a:xfrm>
            <a:off x="548640" y="1261872"/>
            <a:ext cx="5760720" cy="640080"/>
          </a:xfrm>
          <a:prstGeom prst="rect">
            <a:avLst/>
          </a:prstGeom>
          <a:noFill/>
          <a:ln/>
        </p:spPr>
        <p:txBody>
          <a:bodyPr wrap="square" lIns="0" tIns="0" rIns="0" bIns="0" rtlCol="0" anchor="t"/>
          <a:lstStyle/>
          <a:p>
            <a:pPr indent="0" marL="0">
              <a:buNone/>
            </a:pPr>
            <a:r>
              <a:rPr lang="en-US" sz="1400" dirty="0">
                <a:solidFill>
                  <a:srgbClr val="16384F"/>
                </a:solidFill>
                <a:latin typeface="Calibri" pitchFamily="34" charset="0"/>
                <a:ea typeface="Calibri" pitchFamily="34" charset="-122"/>
                <a:cs typeface="Calibri" pitchFamily="34" charset="-120"/>
              </a:rPr>
              <a:t>Only the Super Admin can open Settings. These choices apply to everyone in the community.</a:t>
            </a:r>
            <a:endParaRPr lang="en-US" sz="1400" dirty="0"/>
          </a:p>
        </p:txBody>
      </p:sp>
      <p:sp>
        <p:nvSpPr>
          <p:cNvPr id="5" name="card"/>
          <p:cNvSpPr/>
          <p:nvPr/>
        </p:nvSpPr>
        <p:spPr>
          <a:xfrm>
            <a:off x="548640" y="2057400"/>
            <a:ext cx="5760720" cy="1188720"/>
          </a:xfrm>
          <a:prstGeom prst="roundRect">
            <a:avLst>
              <a:gd name="adj" fmla="val 9231"/>
            </a:avLst>
          </a:prstGeom>
          <a:solidFill>
            <a:srgbClr val="FFFFFF"/>
          </a:solidFill>
          <a:ln w="9525">
            <a:solidFill>
              <a:srgbClr val="D5E3E3"/>
            </a:solidFill>
            <a:prstDash val="solid"/>
          </a:ln>
          <a:effectLst>
            <a:outerShdw sx="100000" sy="100000" kx="0" ky="0" algn="bl" rotWithShape="0" blurRad="152400" dist="38100" dir="5400000">
              <a:srgbClr val="0B2135">
                <a:alpha val="16000"/>
              </a:srgbClr>
            </a:outerShdw>
          </a:effectLst>
        </p:spPr>
      </p:sp>
      <p:sp>
        <p:nvSpPr>
          <p:cNvPr id="6" name="icon-bg"/>
          <p:cNvSpPr/>
          <p:nvPr/>
        </p:nvSpPr>
        <p:spPr>
          <a:xfrm>
            <a:off x="777240" y="2331720"/>
            <a:ext cx="640080" cy="640080"/>
          </a:xfrm>
          <a:prstGeom prst="ellipse">
            <a:avLst/>
          </a:prstGeom>
          <a:solidFill>
            <a:srgbClr val="0E7C76"/>
          </a:solidFill>
          <a:ln w="12700">
            <a:solidFill>
              <a:srgbClr val="0E7C76"/>
            </a:solidFill>
            <a:prstDash val="solid"/>
          </a:ln>
        </p:spPr>
      </p:sp>
      <p:pic>
        <p:nvPicPr>
          <p:cNvPr id="7" name="icon" descr="preencoded.png">    </p:cNvPr>
          <p:cNvPicPr>
            <a:picLocks noChangeAspect="1"/>
          </p:cNvPicPr>
          <p:nvPr/>
        </p:nvPicPr>
        <p:blipFill>
          <a:blip r:embed="rId1"/>
          <a:stretch>
            <a:fillRect/>
          </a:stretch>
        </p:blipFill>
        <p:spPr>
          <a:xfrm>
            <a:off x="930859" y="2485339"/>
            <a:ext cx="332842" cy="332842"/>
          </a:xfrm>
          <a:prstGeom prst="rect">
            <a:avLst/>
          </a:prstGeom>
        </p:spPr>
      </p:pic>
      <p:sp>
        <p:nvSpPr>
          <p:cNvPr id="8" name="Text 5"/>
          <p:cNvSpPr txBox="1"/>
          <p:nvPr/>
        </p:nvSpPr>
        <p:spPr>
          <a:xfrm>
            <a:off x="1645920" y="2221992"/>
            <a:ext cx="4480560" cy="347472"/>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Basic information</a:t>
            </a:r>
            <a:endParaRPr lang="en-US" sz="1500" dirty="0"/>
          </a:p>
        </p:txBody>
      </p:sp>
      <p:sp>
        <p:nvSpPr>
          <p:cNvPr id="9" name="Text 6"/>
          <p:cNvSpPr txBox="1"/>
          <p:nvPr/>
        </p:nvSpPr>
        <p:spPr>
          <a:xfrm>
            <a:off x="1645920" y="2569464"/>
            <a:ext cx="4480560" cy="594360"/>
          </a:xfrm>
          <a:prstGeom prst="rect">
            <a:avLst/>
          </a:prstGeom>
          <a:noFill/>
          <a:ln/>
        </p:spPr>
        <p:txBody>
          <a:bodyPr wrap="square" lIns="0" tIns="0" rIns="0" bIns="0" rtlCol="0" anchor="t"/>
          <a:lstStyle/>
          <a:p>
            <a:pPr indent="0" marL="0">
              <a:buNone/>
            </a:pPr>
            <a:r>
              <a:rPr lang="en-US" sz="1200" dirty="0">
                <a:solidFill>
                  <a:srgbClr val="5B6B78"/>
                </a:solidFill>
                <a:latin typeface="Calibri" pitchFamily="34" charset="0"/>
                <a:ea typeface="Calibri" pitchFamily="34" charset="-122"/>
                <a:cs typeface="Calibri" pitchFamily="34" charset="-120"/>
              </a:rPr>
              <a:t>Community name (e.g. Sunset Valley Apartments) and the official contact email.</a:t>
            </a:r>
            <a:endParaRPr lang="en-US" sz="1200" dirty="0"/>
          </a:p>
        </p:txBody>
      </p:sp>
      <p:sp>
        <p:nvSpPr>
          <p:cNvPr id="10" name="card"/>
          <p:cNvSpPr/>
          <p:nvPr/>
        </p:nvSpPr>
        <p:spPr>
          <a:xfrm>
            <a:off x="548640" y="3429000"/>
            <a:ext cx="5760720" cy="1188720"/>
          </a:xfrm>
          <a:prstGeom prst="roundRect">
            <a:avLst>
              <a:gd name="adj" fmla="val 9231"/>
            </a:avLst>
          </a:prstGeom>
          <a:solidFill>
            <a:srgbClr val="FFFFFF"/>
          </a:solidFill>
          <a:ln w="9525">
            <a:solidFill>
              <a:srgbClr val="D5E3E3"/>
            </a:solidFill>
            <a:prstDash val="solid"/>
          </a:ln>
          <a:effectLst>
            <a:outerShdw sx="100000" sy="100000" kx="0" ky="0" algn="bl" rotWithShape="0" blurRad="152400" dist="38100" dir="5400000">
              <a:srgbClr val="0B2135">
                <a:alpha val="16000"/>
              </a:srgbClr>
            </a:outerShdw>
          </a:effectLst>
        </p:spPr>
      </p:sp>
      <p:sp>
        <p:nvSpPr>
          <p:cNvPr id="11" name="icon-bg"/>
          <p:cNvSpPr/>
          <p:nvPr/>
        </p:nvSpPr>
        <p:spPr>
          <a:xfrm>
            <a:off x="777240" y="3703320"/>
            <a:ext cx="640080" cy="640080"/>
          </a:xfrm>
          <a:prstGeom prst="ellipse">
            <a:avLst/>
          </a:prstGeom>
          <a:solidFill>
            <a:srgbClr val="F4B942"/>
          </a:solidFill>
          <a:ln w="12700">
            <a:solidFill>
              <a:srgbClr val="F4B942"/>
            </a:solidFill>
            <a:prstDash val="solid"/>
          </a:ln>
        </p:spPr>
      </p:sp>
      <p:pic>
        <p:nvPicPr>
          <p:cNvPr id="12" name="icon" descr="preencoded.png">    </p:cNvPr>
          <p:cNvPicPr>
            <a:picLocks noChangeAspect="1"/>
          </p:cNvPicPr>
          <p:nvPr/>
        </p:nvPicPr>
        <p:blipFill>
          <a:blip r:embed="rId2"/>
          <a:stretch>
            <a:fillRect/>
          </a:stretch>
        </p:blipFill>
        <p:spPr>
          <a:xfrm>
            <a:off x="930859" y="3856939"/>
            <a:ext cx="332842" cy="332842"/>
          </a:xfrm>
          <a:prstGeom prst="rect">
            <a:avLst/>
          </a:prstGeom>
        </p:spPr>
      </p:pic>
      <p:sp>
        <p:nvSpPr>
          <p:cNvPr id="13" name="Text 9"/>
          <p:cNvSpPr txBox="1"/>
          <p:nvPr/>
        </p:nvSpPr>
        <p:spPr>
          <a:xfrm>
            <a:off x="1645920" y="3593592"/>
            <a:ext cx="4480560" cy="347472"/>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Auto-approve frequent visitors</a:t>
            </a:r>
            <a:endParaRPr lang="en-US" sz="1500" dirty="0"/>
          </a:p>
        </p:txBody>
      </p:sp>
      <p:sp>
        <p:nvSpPr>
          <p:cNvPr id="14" name="Text 10"/>
          <p:cNvSpPr txBox="1"/>
          <p:nvPr/>
        </p:nvSpPr>
        <p:spPr>
          <a:xfrm>
            <a:off x="1645920" y="3941064"/>
            <a:ext cx="4480560" cy="594360"/>
          </a:xfrm>
          <a:prstGeom prst="rect">
            <a:avLst/>
          </a:prstGeom>
          <a:noFill/>
          <a:ln/>
        </p:spPr>
        <p:txBody>
          <a:bodyPr wrap="square" lIns="0" tIns="0" rIns="0" bIns="0" rtlCol="0" anchor="t"/>
          <a:lstStyle/>
          <a:p>
            <a:pPr indent="0" marL="0">
              <a:buNone/>
            </a:pPr>
            <a:r>
              <a:rPr lang="en-US" sz="1200" dirty="0">
                <a:solidFill>
                  <a:srgbClr val="5B6B78"/>
                </a:solidFill>
                <a:latin typeface="Calibri" pitchFamily="34" charset="0"/>
                <a:ea typeface="Calibri" pitchFamily="34" charset="-122"/>
                <a:cs typeface="Calibri" pitchFamily="34" charset="-120"/>
              </a:rPr>
              <a:t>Known service providers are let in automatically, so maids and drivers don't wait at the gate every day.</a:t>
            </a:r>
            <a:endParaRPr lang="en-US" sz="1200" dirty="0"/>
          </a:p>
        </p:txBody>
      </p:sp>
      <p:sp>
        <p:nvSpPr>
          <p:cNvPr id="15" name="card"/>
          <p:cNvSpPr/>
          <p:nvPr/>
        </p:nvSpPr>
        <p:spPr>
          <a:xfrm>
            <a:off x="548640" y="4800600"/>
            <a:ext cx="5760720" cy="1188720"/>
          </a:xfrm>
          <a:prstGeom prst="roundRect">
            <a:avLst>
              <a:gd name="adj" fmla="val 9231"/>
            </a:avLst>
          </a:prstGeom>
          <a:solidFill>
            <a:srgbClr val="FFFFFF"/>
          </a:solidFill>
          <a:ln w="9525">
            <a:solidFill>
              <a:srgbClr val="D5E3E3"/>
            </a:solidFill>
            <a:prstDash val="solid"/>
          </a:ln>
          <a:effectLst>
            <a:outerShdw sx="100000" sy="100000" kx="0" ky="0" algn="bl" rotWithShape="0" blurRad="152400" dist="38100" dir="5400000">
              <a:srgbClr val="0B2135">
                <a:alpha val="16000"/>
              </a:srgbClr>
            </a:outerShdw>
          </a:effectLst>
        </p:spPr>
      </p:sp>
      <p:sp>
        <p:nvSpPr>
          <p:cNvPr id="16" name="icon-bg"/>
          <p:cNvSpPr/>
          <p:nvPr/>
        </p:nvSpPr>
        <p:spPr>
          <a:xfrm>
            <a:off x="777240" y="5074920"/>
            <a:ext cx="640080" cy="640080"/>
          </a:xfrm>
          <a:prstGeom prst="ellipse">
            <a:avLst/>
          </a:prstGeom>
          <a:solidFill>
            <a:srgbClr val="F4B942"/>
          </a:solidFill>
          <a:ln w="12700">
            <a:solidFill>
              <a:srgbClr val="F4B942"/>
            </a:solidFill>
            <a:prstDash val="solid"/>
          </a:ln>
        </p:spPr>
      </p:sp>
      <p:pic>
        <p:nvPicPr>
          <p:cNvPr id="17" name="icon" descr="preencoded.png">    </p:cNvPr>
          <p:cNvPicPr>
            <a:picLocks noChangeAspect="1"/>
          </p:cNvPicPr>
          <p:nvPr/>
        </p:nvPicPr>
        <p:blipFill>
          <a:blip r:embed="rId3"/>
          <a:stretch>
            <a:fillRect/>
          </a:stretch>
        </p:blipFill>
        <p:spPr>
          <a:xfrm>
            <a:off x="930859" y="5228539"/>
            <a:ext cx="332842" cy="332842"/>
          </a:xfrm>
          <a:prstGeom prst="rect">
            <a:avLst/>
          </a:prstGeom>
        </p:spPr>
      </p:pic>
      <p:sp>
        <p:nvSpPr>
          <p:cNvPr id="18" name="Text 13"/>
          <p:cNvSpPr txBox="1"/>
          <p:nvPr/>
        </p:nvSpPr>
        <p:spPr>
          <a:xfrm>
            <a:off x="1645920" y="4965192"/>
            <a:ext cx="4480560" cy="347472"/>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Require OTP for exit</a:t>
            </a:r>
            <a:endParaRPr lang="en-US" sz="1500" dirty="0"/>
          </a:p>
        </p:txBody>
      </p:sp>
      <p:sp>
        <p:nvSpPr>
          <p:cNvPr id="19" name="Text 14"/>
          <p:cNvSpPr txBox="1"/>
          <p:nvPr/>
        </p:nvSpPr>
        <p:spPr>
          <a:xfrm>
            <a:off x="1645920" y="5312664"/>
            <a:ext cx="4480560" cy="594360"/>
          </a:xfrm>
          <a:prstGeom prst="rect">
            <a:avLst/>
          </a:prstGeom>
          <a:noFill/>
          <a:ln/>
        </p:spPr>
        <p:txBody>
          <a:bodyPr wrap="square" lIns="0" tIns="0" rIns="0" bIns="0" rtlCol="0" anchor="t"/>
          <a:lstStyle/>
          <a:p>
            <a:pPr indent="0" marL="0">
              <a:buNone/>
            </a:pPr>
            <a:r>
              <a:rPr lang="en-US" sz="1200" dirty="0">
                <a:solidFill>
                  <a:srgbClr val="5B6B78"/>
                </a:solidFill>
                <a:latin typeface="Calibri" pitchFamily="34" charset="0"/>
                <a:ea typeface="Calibri" pitchFamily="34" charset="-122"/>
                <a:cs typeface="Calibri" pitchFamily="34" charset="-120"/>
              </a:rPr>
              <a:t>Guards must verify a one-time code before a visitor leaves — a stronger check for sensitive layouts.</a:t>
            </a:r>
            <a:endParaRPr lang="en-US" sz="1200" dirty="0"/>
          </a:p>
        </p:txBody>
      </p:sp>
      <p:pic>
        <p:nvPicPr>
          <p:cNvPr id="20" name="screenshot" descr="img/p_settings.png">    </p:cNvPr>
          <p:cNvPicPr>
            <a:picLocks noChangeAspect="1"/>
          </p:cNvPicPr>
          <p:nvPr/>
        </p:nvPicPr>
        <p:blipFill>
          <a:blip r:embed="rId4"/>
          <a:stretch>
            <a:fillRect/>
          </a:stretch>
        </p:blipFill>
        <p:spPr>
          <a:xfrm>
            <a:off x="6766560" y="1280160"/>
            <a:ext cx="4892040" cy="4442640"/>
          </a:xfrm>
          <a:prstGeom prst="rect">
            <a:avLst/>
          </a:prstGeom>
          <a:effectLst>
            <a:outerShdw sx="100000" sy="100000" kx="0" ky="0" algn="bl" rotWithShape="0" blurRad="228600" dist="50800" dir="5400000">
              <a:srgbClr val="0B2135">
                <a:alpha val="22000"/>
              </a:srgbClr>
            </a:outerShdw>
          </a:effectLst>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t"/>
          <a:lstStyle/>
          <a:p>
            <a:pPr indent="0" marL="0">
              <a:buNone/>
            </a:pPr>
            <a:r>
              <a:rPr lang="en-US" sz="1100" b="1" spc="300" kern="0" dirty="0">
                <a:solidFill>
                  <a:srgbClr val="0E7C76"/>
                </a:solidFill>
                <a:latin typeface="Calibri" pitchFamily="34" charset="0"/>
                <a:ea typeface="Calibri" pitchFamily="34" charset="-122"/>
                <a:cs typeface="Calibri" pitchFamily="34" charset="-120"/>
              </a:rPr>
              <a:t>PHASES &amp; SECTORS</a:t>
            </a:r>
            <a:endParaRPr lang="en-US" sz="1100" dirty="0"/>
          </a:p>
        </p:txBody>
      </p:sp>
      <p:sp>
        <p:nvSpPr>
          <p:cNvPr id="3" name="Text 1"/>
          <p:cNvSpPr/>
          <p:nvPr>
            <p:ph idx="101" type="title" hasCustomPrompt="1"/>
          </p:nvPr>
        </p:nvSpPr>
        <p:spPr>
          <a:xfrm>
            <a:off x="548640" y="457200"/>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Built for large, multi-phase layouts</a:t>
            </a:r>
            <a:endParaRPr lang="en-US" sz="3000" dirty="0"/>
          </a:p>
        </p:txBody>
      </p:sp>
      <p:graphicFrame>
        <p:nvGraphicFramePr>
          <p:cNvPr id="4" name="phase-chart" descr=""/>
          <p:cNvGraphicFramePr/>
          <p:nvPr/>
        </p:nvGraphicFramePr>
        <p:xfrm>
          <a:off x="548640" y="137160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001000" y="1417320"/>
            <a:ext cx="1737360" cy="822960"/>
          </a:xfrm>
          <a:prstGeom prst="rect">
            <a:avLst/>
          </a:prstGeom>
          <a:noFill/>
          <a:ln/>
        </p:spPr>
        <p:txBody>
          <a:bodyPr wrap="square" lIns="0" tIns="0" rIns="0" bIns="0" rtlCol="0" anchor="ctr"/>
          <a:lstStyle/>
          <a:p>
            <a:pPr indent="0" marL="0">
              <a:buNone/>
            </a:pPr>
            <a:r>
              <a:rPr lang="en-US" sz="3400" b="1" dirty="0">
                <a:solidFill>
                  <a:srgbClr val="0E7C76"/>
                </a:solidFill>
                <a:latin typeface="Arial" pitchFamily="34" charset="0"/>
                <a:ea typeface="Arial" pitchFamily="34" charset="-122"/>
                <a:cs typeface="Arial" pitchFamily="34" charset="-120"/>
              </a:rPr>
              <a:t>6 + 2</a:t>
            </a:r>
            <a:endParaRPr lang="en-US" sz="3400" dirty="0"/>
          </a:p>
        </p:txBody>
      </p:sp>
      <p:sp>
        <p:nvSpPr>
          <p:cNvPr id="6" name="Text 3"/>
          <p:cNvSpPr txBox="1"/>
          <p:nvPr/>
        </p:nvSpPr>
        <p:spPr>
          <a:xfrm>
            <a:off x="9784080" y="1417320"/>
            <a:ext cx="1828800" cy="822960"/>
          </a:xfrm>
          <a:prstGeom prst="rect">
            <a:avLst/>
          </a:prstGeom>
          <a:noFill/>
          <a:ln/>
        </p:spPr>
        <p:txBody>
          <a:bodyPr wrap="square" lIns="0" tIns="0" rIns="0" bIns="0" rtlCol="0" anchor="ctr"/>
          <a:lstStyle/>
          <a:p>
            <a:pPr indent="0" marL="0">
              <a:buNone/>
            </a:pPr>
            <a:r>
              <a:rPr lang="en-US" sz="1400" dirty="0">
                <a:solidFill>
                  <a:srgbClr val="5B6B78"/>
                </a:solidFill>
                <a:latin typeface="Calibri" pitchFamily="34" charset="0"/>
                <a:ea typeface="Calibri" pitchFamily="34" charset="-122"/>
                <a:cs typeface="Calibri" pitchFamily="34" charset="-120"/>
              </a:rPr>
              <a:t>phases and sectors</a:t>
            </a:r>
            <a:endParaRPr lang="en-US" sz="1400" dirty="0"/>
          </a:p>
        </p:txBody>
      </p:sp>
      <p:sp>
        <p:nvSpPr>
          <p:cNvPr id="7" name="Text 4"/>
          <p:cNvSpPr txBox="1"/>
          <p:nvPr/>
        </p:nvSpPr>
        <p:spPr>
          <a:xfrm>
            <a:off x="8001000" y="2514600"/>
            <a:ext cx="1737360" cy="822960"/>
          </a:xfrm>
          <a:prstGeom prst="rect">
            <a:avLst/>
          </a:prstGeom>
          <a:noFill/>
          <a:ln/>
        </p:spPr>
        <p:txBody>
          <a:bodyPr wrap="square" lIns="0" tIns="0" rIns="0" bIns="0" rtlCol="0" anchor="ctr"/>
          <a:lstStyle/>
          <a:p>
            <a:pPr indent="0" marL="0">
              <a:buNone/>
            </a:pPr>
            <a:r>
              <a:rPr lang="en-US" sz="3400" b="1" dirty="0">
                <a:solidFill>
                  <a:srgbClr val="0E7C76"/>
                </a:solidFill>
                <a:latin typeface="Arial" pitchFamily="34" charset="0"/>
                <a:ea typeface="Arial" pitchFamily="34" charset="-122"/>
                <a:cs typeface="Arial" pitchFamily="34" charset="-120"/>
              </a:rPr>
              <a:t>755</a:t>
            </a:r>
            <a:endParaRPr lang="en-US" sz="3400" dirty="0"/>
          </a:p>
        </p:txBody>
      </p:sp>
      <p:sp>
        <p:nvSpPr>
          <p:cNvPr id="8" name="Text 5"/>
          <p:cNvSpPr txBox="1"/>
          <p:nvPr/>
        </p:nvSpPr>
        <p:spPr>
          <a:xfrm>
            <a:off x="9784080" y="2514600"/>
            <a:ext cx="1828800" cy="822960"/>
          </a:xfrm>
          <a:prstGeom prst="rect">
            <a:avLst/>
          </a:prstGeom>
          <a:noFill/>
          <a:ln/>
        </p:spPr>
        <p:txBody>
          <a:bodyPr wrap="square" lIns="0" tIns="0" rIns="0" bIns="0" rtlCol="0" anchor="ctr"/>
          <a:lstStyle/>
          <a:p>
            <a:pPr indent="0" marL="0">
              <a:buNone/>
            </a:pPr>
            <a:r>
              <a:rPr lang="en-US" sz="1400" dirty="0">
                <a:solidFill>
                  <a:srgbClr val="5B6B78"/>
                </a:solidFill>
                <a:latin typeface="Calibri" pitchFamily="34" charset="0"/>
                <a:ea typeface="Calibri" pitchFamily="34" charset="-122"/>
                <a:cs typeface="Calibri" pitchFamily="34" charset="-120"/>
              </a:rPr>
              <a:t>houses</a:t>
            </a:r>
            <a:endParaRPr lang="en-US" sz="1400" dirty="0"/>
          </a:p>
        </p:txBody>
      </p:sp>
      <p:sp>
        <p:nvSpPr>
          <p:cNvPr id="9" name="Text 6"/>
          <p:cNvSpPr txBox="1"/>
          <p:nvPr/>
        </p:nvSpPr>
        <p:spPr>
          <a:xfrm>
            <a:off x="8001000" y="3611880"/>
            <a:ext cx="1737360" cy="822960"/>
          </a:xfrm>
          <a:prstGeom prst="rect">
            <a:avLst/>
          </a:prstGeom>
          <a:noFill/>
          <a:ln/>
        </p:spPr>
        <p:txBody>
          <a:bodyPr wrap="square" lIns="0" tIns="0" rIns="0" bIns="0" rtlCol="0" anchor="ctr"/>
          <a:lstStyle/>
          <a:p>
            <a:pPr indent="0" marL="0">
              <a:buNone/>
            </a:pPr>
            <a:r>
              <a:rPr lang="en-US" sz="3400" b="1" dirty="0">
                <a:solidFill>
                  <a:srgbClr val="0E7C76"/>
                </a:solidFill>
                <a:latin typeface="Arial" pitchFamily="34" charset="0"/>
                <a:ea typeface="Arial" pitchFamily="34" charset="-122"/>
                <a:cs typeface="Arial" pitchFamily="34" charset="-120"/>
              </a:rPr>
              <a:t>2,170</a:t>
            </a:r>
            <a:endParaRPr lang="en-US" sz="3400" dirty="0"/>
          </a:p>
        </p:txBody>
      </p:sp>
      <p:sp>
        <p:nvSpPr>
          <p:cNvPr id="10" name="Text 7"/>
          <p:cNvSpPr txBox="1"/>
          <p:nvPr/>
        </p:nvSpPr>
        <p:spPr>
          <a:xfrm>
            <a:off x="9784080" y="3611880"/>
            <a:ext cx="1828800" cy="822960"/>
          </a:xfrm>
          <a:prstGeom prst="rect">
            <a:avLst/>
          </a:prstGeom>
          <a:noFill/>
          <a:ln/>
        </p:spPr>
        <p:txBody>
          <a:bodyPr wrap="square" lIns="0" tIns="0" rIns="0" bIns="0" rtlCol="0" anchor="ctr"/>
          <a:lstStyle/>
          <a:p>
            <a:pPr indent="0" marL="0">
              <a:buNone/>
            </a:pPr>
            <a:r>
              <a:rPr lang="en-US" sz="1400" dirty="0">
                <a:solidFill>
                  <a:srgbClr val="5B6B78"/>
                </a:solidFill>
                <a:latin typeface="Calibri" pitchFamily="34" charset="0"/>
                <a:ea typeface="Calibri" pitchFamily="34" charset="-122"/>
                <a:cs typeface="Calibri" pitchFamily="34" charset="-120"/>
              </a:rPr>
              <a:t>residents</a:t>
            </a:r>
            <a:endParaRPr lang="en-US" sz="1400" dirty="0"/>
          </a:p>
        </p:txBody>
      </p:sp>
      <p:sp>
        <p:nvSpPr>
          <p:cNvPr id="11" name="note"/>
          <p:cNvSpPr/>
          <p:nvPr/>
        </p:nvSpPr>
        <p:spPr>
          <a:xfrm>
            <a:off x="8001000" y="4800600"/>
            <a:ext cx="3639312" cy="1325880"/>
          </a:xfrm>
          <a:prstGeom prst="roundRect">
            <a:avLst>
              <a:gd name="adj" fmla="val 8276"/>
            </a:avLst>
          </a:prstGeom>
          <a:solidFill>
            <a:srgbClr val="E6F4F2"/>
          </a:solidFill>
          <a:ln w="9525">
            <a:solidFill>
              <a:srgbClr val="E6F4F2"/>
            </a:solidFill>
            <a:prstDash val="solid"/>
          </a:ln>
        </p:spPr>
      </p:sp>
      <p:sp>
        <p:nvSpPr>
          <p:cNvPr id="12" name="Text 9"/>
          <p:cNvSpPr txBox="1"/>
          <p:nvPr/>
        </p:nvSpPr>
        <p:spPr>
          <a:xfrm>
            <a:off x="8183880" y="4919472"/>
            <a:ext cx="3291840" cy="1097280"/>
          </a:xfrm>
          <a:prstGeom prst="rect">
            <a:avLst/>
          </a:prstGeom>
          <a:noFill/>
          <a:ln/>
        </p:spPr>
        <p:txBody>
          <a:bodyPr wrap="square" lIns="0" tIns="0" rIns="0" bIns="0" rtlCol="0" anchor="t"/>
          <a:lstStyle/>
          <a:p>
            <a:pPr indent="0" marL="0">
              <a:buNone/>
            </a:pPr>
            <a:r>
              <a:rPr lang="en-US" sz="1250" dirty="0">
                <a:solidFill>
                  <a:srgbClr val="0B2135"/>
                </a:solidFill>
                <a:latin typeface="Calibri" pitchFamily="34" charset="0"/>
                <a:ea typeface="Calibri" pitchFamily="34" charset="-122"/>
                <a:cs typeface="Calibri" pitchFamily="34" charset="-120"/>
              </a:rPr>
              <a:t>Every record carries a phase and an optional sector. Admins and volunteers use the phase switcher in the header to filter every module to one phase.</a:t>
            </a:r>
            <a:endParaRPr lang="en-US" sz="12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t"/>
          <a:lstStyle/>
          <a:p>
            <a:pPr indent="0" marL="0">
              <a:buNone/>
            </a:pPr>
            <a:r>
              <a:rPr lang="en-US" sz="1100" b="1" spc="300" kern="0" dirty="0">
                <a:solidFill>
                  <a:srgbClr val="F4B942"/>
                </a:solidFill>
                <a:latin typeface="Calibri" pitchFamily="34" charset="0"/>
                <a:ea typeface="Calibri" pitchFamily="34" charset="-122"/>
                <a:cs typeface="Calibri" pitchFamily="34" charset="-120"/>
              </a:rPr>
              <a:t>PERSONAL ACCOUNTABILITY</a:t>
            </a:r>
            <a:endParaRPr lang="en-US" sz="1100" dirty="0"/>
          </a:p>
        </p:txBody>
      </p:sp>
      <p:sp>
        <p:nvSpPr>
          <p:cNvPr id="3" name="Text 1"/>
          <p:cNvSpPr/>
          <p:nvPr>
            <p:ph idx="101" type="title" hasCustomPrompt="1"/>
          </p:nvPr>
        </p:nvSpPr>
        <p:spPr>
          <a:xfrm>
            <a:off x="548640" y="457200"/>
            <a:ext cx="1106424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Arial" pitchFamily="34" charset="0"/>
                <a:ea typeface="Arial" pitchFamily="34" charset="-122"/>
                <a:cs typeface="Arial" pitchFamily="34" charset="-120"/>
              </a:rPr>
              <a:t>Your profile shows your own footprint</a:t>
            </a:r>
            <a:endParaRPr lang="en-US" sz="3000" dirty="0"/>
          </a:p>
        </p:txBody>
      </p:sp>
      <p:sp>
        <p:nvSpPr>
          <p:cNvPr id="4" name="Text 2"/>
          <p:cNvSpPr txBox="1"/>
          <p:nvPr/>
        </p:nvSpPr>
        <p:spPr>
          <a:xfrm>
            <a:off x="548640" y="1325880"/>
            <a:ext cx="5669280" cy="822960"/>
          </a:xfrm>
          <a:prstGeom prst="rect">
            <a:avLst/>
          </a:prstGeom>
          <a:noFill/>
          <a:ln/>
        </p:spPr>
        <p:txBody>
          <a:bodyPr wrap="square" lIns="0" tIns="0" rIns="0" bIns="0" rtlCol="0" anchor="t"/>
          <a:lstStyle/>
          <a:p>
            <a:pPr indent="0" marL="0">
              <a:buNone/>
            </a:pPr>
            <a:r>
              <a:rPr lang="en-US" sz="1500" dirty="0">
                <a:solidFill>
                  <a:srgbClr val="C5D6DF"/>
                </a:solidFill>
                <a:latin typeface="Calibri" pitchFamily="34" charset="0"/>
                <a:ea typeface="Calibri" pitchFamily="34" charset="-122"/>
                <a:cs typeface="Calibri" pitchFamily="34" charset="-120"/>
              </a:rPr>
              <a:t>Click your name in the top-right corner to open User Profile &amp; Activity. It summarises what you have done on the platform.</a:t>
            </a:r>
            <a:endParaRPr lang="en-US" sz="1500" dirty="0"/>
          </a:p>
        </p:txBody>
      </p:sp>
      <p:sp>
        <p:nvSpPr>
          <p:cNvPr id="5" name="activity-card"/>
          <p:cNvSpPr/>
          <p:nvPr/>
        </p:nvSpPr>
        <p:spPr>
          <a:xfrm>
            <a:off x="548640" y="2377440"/>
            <a:ext cx="5669280" cy="1051560"/>
          </a:xfrm>
          <a:prstGeom prst="roundRect">
            <a:avLst>
              <a:gd name="adj" fmla="val 10435"/>
            </a:avLst>
          </a:prstGeom>
          <a:solidFill>
            <a:srgbClr val="16384F"/>
          </a:solidFill>
          <a:ln w="9525">
            <a:solidFill>
              <a:srgbClr val="24506B"/>
            </a:solidFill>
            <a:prstDash val="solid"/>
          </a:ln>
        </p:spPr>
      </p:sp>
      <p:sp>
        <p:nvSpPr>
          <p:cNvPr id="6" name="icon-bg"/>
          <p:cNvSpPr/>
          <p:nvPr/>
        </p:nvSpPr>
        <p:spPr>
          <a:xfrm>
            <a:off x="777240" y="2606040"/>
            <a:ext cx="594360" cy="594360"/>
          </a:xfrm>
          <a:prstGeom prst="ellipse">
            <a:avLst/>
          </a:prstGeom>
          <a:solidFill>
            <a:srgbClr val="F0605D"/>
          </a:solidFill>
          <a:ln w="12700">
            <a:solidFill>
              <a:srgbClr val="F0605D"/>
            </a:solidFill>
            <a:prstDash val="solid"/>
          </a:ln>
        </p:spPr>
      </p:sp>
      <p:pic>
        <p:nvPicPr>
          <p:cNvPr id="7" name="icon" descr="preencoded.png">    </p:cNvPr>
          <p:cNvPicPr>
            <a:picLocks noChangeAspect="1"/>
          </p:cNvPicPr>
          <p:nvPr/>
        </p:nvPicPr>
        <p:blipFill>
          <a:blip r:embed="rId1"/>
          <a:stretch>
            <a:fillRect/>
          </a:stretch>
        </p:blipFill>
        <p:spPr>
          <a:xfrm>
            <a:off x="919886" y="2748686"/>
            <a:ext cx="309067" cy="309067"/>
          </a:xfrm>
          <a:prstGeom prst="rect">
            <a:avLst/>
          </a:prstGeom>
        </p:spPr>
      </p:pic>
      <p:sp>
        <p:nvSpPr>
          <p:cNvPr id="8" name="Text 5"/>
          <p:cNvSpPr txBox="1"/>
          <p:nvPr/>
        </p:nvSpPr>
        <p:spPr>
          <a:xfrm>
            <a:off x="1600200" y="2532888"/>
            <a:ext cx="448056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Issues reported</a:t>
            </a:r>
            <a:endParaRPr lang="en-US" sz="1600" dirty="0"/>
          </a:p>
        </p:txBody>
      </p:sp>
      <p:sp>
        <p:nvSpPr>
          <p:cNvPr id="9" name="Text 6"/>
          <p:cNvSpPr txBox="1"/>
          <p:nvPr/>
        </p:nvSpPr>
        <p:spPr>
          <a:xfrm>
            <a:off x="1600200" y="2898648"/>
            <a:ext cx="4480560" cy="411480"/>
          </a:xfrm>
          <a:prstGeom prst="rect">
            <a:avLst/>
          </a:prstGeom>
          <a:noFill/>
          <a:ln/>
        </p:spPr>
        <p:txBody>
          <a:bodyPr wrap="square" lIns="0" tIns="0" rIns="0" bIns="0" rtlCol="0" anchor="t"/>
          <a:lstStyle/>
          <a:p>
            <a:pPr indent="0" marL="0">
              <a:buNone/>
            </a:pPr>
            <a:r>
              <a:rPr lang="en-US" sz="1250" dirty="0">
                <a:solidFill>
                  <a:srgbClr val="C5D6DF"/>
                </a:solidFill>
                <a:latin typeface="Calibri" pitchFamily="34" charset="0"/>
                <a:ea typeface="Calibri" pitchFamily="34" charset="-122"/>
                <a:cs typeface="Calibri" pitchFamily="34" charset="-120"/>
              </a:rPr>
              <a:t>Every incident you raised and its current status</a:t>
            </a:r>
            <a:endParaRPr lang="en-US" sz="1250" dirty="0"/>
          </a:p>
        </p:txBody>
      </p:sp>
      <p:sp>
        <p:nvSpPr>
          <p:cNvPr id="10" name="activity-card"/>
          <p:cNvSpPr/>
          <p:nvPr/>
        </p:nvSpPr>
        <p:spPr>
          <a:xfrm>
            <a:off x="548640" y="3611880"/>
            <a:ext cx="5669280" cy="1051560"/>
          </a:xfrm>
          <a:prstGeom prst="roundRect">
            <a:avLst>
              <a:gd name="adj" fmla="val 10435"/>
            </a:avLst>
          </a:prstGeom>
          <a:solidFill>
            <a:srgbClr val="16384F"/>
          </a:solidFill>
          <a:ln w="9525">
            <a:solidFill>
              <a:srgbClr val="24506B"/>
            </a:solidFill>
            <a:prstDash val="solid"/>
          </a:ln>
        </p:spPr>
      </p:sp>
      <p:sp>
        <p:nvSpPr>
          <p:cNvPr id="11" name="icon-bg"/>
          <p:cNvSpPr/>
          <p:nvPr/>
        </p:nvSpPr>
        <p:spPr>
          <a:xfrm>
            <a:off x="777240" y="3840480"/>
            <a:ext cx="594360" cy="594360"/>
          </a:xfrm>
          <a:prstGeom prst="ellipse">
            <a:avLst/>
          </a:prstGeom>
          <a:solidFill>
            <a:srgbClr val="5B8DEF"/>
          </a:solidFill>
          <a:ln w="12700">
            <a:solidFill>
              <a:srgbClr val="5B8DEF"/>
            </a:solidFill>
            <a:prstDash val="solid"/>
          </a:ln>
        </p:spPr>
      </p:sp>
      <p:pic>
        <p:nvPicPr>
          <p:cNvPr id="12" name="icon" descr="preencoded.png">    </p:cNvPr>
          <p:cNvPicPr>
            <a:picLocks noChangeAspect="1"/>
          </p:cNvPicPr>
          <p:nvPr/>
        </p:nvPicPr>
        <p:blipFill>
          <a:blip r:embed="rId2"/>
          <a:stretch>
            <a:fillRect/>
          </a:stretch>
        </p:blipFill>
        <p:spPr>
          <a:xfrm>
            <a:off x="919886" y="3983126"/>
            <a:ext cx="309067" cy="309067"/>
          </a:xfrm>
          <a:prstGeom prst="rect">
            <a:avLst/>
          </a:prstGeom>
        </p:spPr>
      </p:pic>
      <p:sp>
        <p:nvSpPr>
          <p:cNvPr id="13" name="Text 9"/>
          <p:cNvSpPr txBox="1"/>
          <p:nvPr/>
        </p:nvSpPr>
        <p:spPr>
          <a:xfrm>
            <a:off x="1600200" y="3767328"/>
            <a:ext cx="448056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Visitors hosted</a:t>
            </a:r>
            <a:endParaRPr lang="en-US" sz="1600" dirty="0"/>
          </a:p>
        </p:txBody>
      </p:sp>
      <p:sp>
        <p:nvSpPr>
          <p:cNvPr id="14" name="Text 10"/>
          <p:cNvSpPr txBox="1"/>
          <p:nvPr/>
        </p:nvSpPr>
        <p:spPr>
          <a:xfrm>
            <a:off x="1600200" y="4133088"/>
            <a:ext cx="4480560" cy="411480"/>
          </a:xfrm>
          <a:prstGeom prst="rect">
            <a:avLst/>
          </a:prstGeom>
          <a:noFill/>
          <a:ln/>
        </p:spPr>
        <p:txBody>
          <a:bodyPr wrap="square" lIns="0" tIns="0" rIns="0" bIns="0" rtlCol="0" anchor="t"/>
          <a:lstStyle/>
          <a:p>
            <a:pPr indent="0" marL="0">
              <a:buNone/>
            </a:pPr>
            <a:r>
              <a:rPr lang="en-US" sz="1250" dirty="0">
                <a:solidFill>
                  <a:srgbClr val="C5D6DF"/>
                </a:solidFill>
                <a:latin typeface="Calibri" pitchFamily="34" charset="0"/>
                <a:ea typeface="Calibri" pitchFamily="34" charset="-122"/>
                <a:cs typeface="Calibri" pitchFamily="34" charset="-120"/>
              </a:rPr>
              <a:t>Guests, deliveries and services that came to your house</a:t>
            </a:r>
            <a:endParaRPr lang="en-US" sz="1250" dirty="0"/>
          </a:p>
        </p:txBody>
      </p:sp>
      <p:sp>
        <p:nvSpPr>
          <p:cNvPr id="15" name="activity-card"/>
          <p:cNvSpPr/>
          <p:nvPr/>
        </p:nvSpPr>
        <p:spPr>
          <a:xfrm>
            <a:off x="548640" y="4846320"/>
            <a:ext cx="5669280" cy="1051560"/>
          </a:xfrm>
          <a:prstGeom prst="roundRect">
            <a:avLst>
              <a:gd name="adj" fmla="val 10435"/>
            </a:avLst>
          </a:prstGeom>
          <a:solidFill>
            <a:srgbClr val="16384F"/>
          </a:solidFill>
          <a:ln w="9525">
            <a:solidFill>
              <a:srgbClr val="24506B"/>
            </a:solidFill>
            <a:prstDash val="solid"/>
          </a:ln>
        </p:spPr>
      </p:sp>
      <p:sp>
        <p:nvSpPr>
          <p:cNvPr id="16" name="icon-bg"/>
          <p:cNvSpPr/>
          <p:nvPr/>
        </p:nvSpPr>
        <p:spPr>
          <a:xfrm>
            <a:off x="777240" y="5074920"/>
            <a:ext cx="594360" cy="594360"/>
          </a:xfrm>
          <a:prstGeom prst="ellipse">
            <a:avLst/>
          </a:prstGeom>
          <a:solidFill>
            <a:srgbClr val="13A89E"/>
          </a:solidFill>
          <a:ln w="12700">
            <a:solidFill>
              <a:srgbClr val="13A89E"/>
            </a:solidFill>
            <a:prstDash val="solid"/>
          </a:ln>
        </p:spPr>
      </p:sp>
      <p:pic>
        <p:nvPicPr>
          <p:cNvPr id="17" name="icon" descr="preencoded.png">    </p:cNvPr>
          <p:cNvPicPr>
            <a:picLocks noChangeAspect="1"/>
          </p:cNvPicPr>
          <p:nvPr/>
        </p:nvPicPr>
        <p:blipFill>
          <a:blip r:embed="rId3"/>
          <a:stretch>
            <a:fillRect/>
          </a:stretch>
        </p:blipFill>
        <p:spPr>
          <a:xfrm>
            <a:off x="919886" y="5217566"/>
            <a:ext cx="309067" cy="309067"/>
          </a:xfrm>
          <a:prstGeom prst="rect">
            <a:avLst/>
          </a:prstGeom>
        </p:spPr>
      </p:pic>
      <p:sp>
        <p:nvSpPr>
          <p:cNvPr id="18" name="Text 13"/>
          <p:cNvSpPr txBox="1"/>
          <p:nvPr/>
        </p:nvSpPr>
        <p:spPr>
          <a:xfrm>
            <a:off x="1600200" y="5001768"/>
            <a:ext cx="448056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Payments made</a:t>
            </a:r>
            <a:endParaRPr lang="en-US" sz="1600" dirty="0"/>
          </a:p>
        </p:txBody>
      </p:sp>
      <p:sp>
        <p:nvSpPr>
          <p:cNvPr id="19" name="Text 14"/>
          <p:cNvSpPr txBox="1"/>
          <p:nvPr/>
        </p:nvSpPr>
        <p:spPr>
          <a:xfrm>
            <a:off x="1600200" y="5367528"/>
            <a:ext cx="4480560" cy="411480"/>
          </a:xfrm>
          <a:prstGeom prst="rect">
            <a:avLst/>
          </a:prstGeom>
          <a:noFill/>
          <a:ln/>
        </p:spPr>
        <p:txBody>
          <a:bodyPr wrap="square" lIns="0" tIns="0" rIns="0" bIns="0" rtlCol="0" anchor="t"/>
          <a:lstStyle/>
          <a:p>
            <a:pPr indent="0" marL="0">
              <a:buNone/>
            </a:pPr>
            <a:r>
              <a:rPr lang="en-US" sz="1250" dirty="0">
                <a:solidFill>
                  <a:srgbClr val="C5D6DF"/>
                </a:solidFill>
                <a:latin typeface="Calibri" pitchFamily="34" charset="0"/>
                <a:ea typeface="Calibri" pitchFamily="34" charset="-122"/>
                <a:cs typeface="Calibri" pitchFamily="34" charset="-120"/>
              </a:rPr>
              <a:t>Your dues, contributions and fines, with dates</a:t>
            </a:r>
            <a:endParaRPr lang="en-US" sz="1250" dirty="0"/>
          </a:p>
        </p:txBody>
      </p:sp>
      <p:sp>
        <p:nvSpPr>
          <p:cNvPr id="20" name="why-panel"/>
          <p:cNvSpPr/>
          <p:nvPr/>
        </p:nvSpPr>
        <p:spPr>
          <a:xfrm>
            <a:off x="6766560" y="1325880"/>
            <a:ext cx="4873752" cy="4800600"/>
          </a:xfrm>
          <a:prstGeom prst="roundRect">
            <a:avLst>
              <a:gd name="adj" fmla="val 2857"/>
            </a:avLst>
          </a:prstGeom>
          <a:solidFill>
            <a:srgbClr val="E6F4F2"/>
          </a:solidFill>
          <a:ln w="12700">
            <a:solidFill>
              <a:srgbClr val="E6F4F2"/>
            </a:solidFill>
            <a:prstDash val="solid"/>
          </a:ln>
        </p:spPr>
      </p:sp>
      <p:sp>
        <p:nvSpPr>
          <p:cNvPr id="21" name="icon-bg"/>
          <p:cNvSpPr/>
          <p:nvPr/>
        </p:nvSpPr>
        <p:spPr>
          <a:xfrm>
            <a:off x="7086600" y="1645920"/>
            <a:ext cx="731520" cy="731520"/>
          </a:xfrm>
          <a:prstGeom prst="ellipse">
            <a:avLst/>
          </a:prstGeom>
          <a:solidFill>
            <a:srgbClr val="0E7C76"/>
          </a:solidFill>
          <a:ln w="12700">
            <a:solidFill>
              <a:srgbClr val="0E7C76"/>
            </a:solidFill>
            <a:prstDash val="solid"/>
          </a:ln>
        </p:spPr>
      </p:sp>
      <p:pic>
        <p:nvPicPr>
          <p:cNvPr id="22" name="icon" descr="preencoded.png">    </p:cNvPr>
          <p:cNvPicPr>
            <a:picLocks noChangeAspect="1"/>
          </p:cNvPicPr>
          <p:nvPr/>
        </p:nvPicPr>
        <p:blipFill>
          <a:blip r:embed="rId4"/>
          <a:stretch>
            <a:fillRect/>
          </a:stretch>
        </p:blipFill>
        <p:spPr>
          <a:xfrm>
            <a:off x="7262165" y="1821485"/>
            <a:ext cx="380390" cy="380390"/>
          </a:xfrm>
          <a:prstGeom prst="rect">
            <a:avLst/>
          </a:prstGeom>
        </p:spPr>
      </p:pic>
      <p:sp>
        <p:nvSpPr>
          <p:cNvPr id="23" name="Text 17"/>
          <p:cNvSpPr txBox="1"/>
          <p:nvPr/>
        </p:nvSpPr>
        <p:spPr>
          <a:xfrm>
            <a:off x="7086600" y="2560320"/>
            <a:ext cx="4297680" cy="4572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Why it builds trust</a:t>
            </a:r>
            <a:endParaRPr lang="en-US" sz="2000" dirty="0"/>
          </a:p>
        </p:txBody>
      </p:sp>
      <p:sp>
        <p:nvSpPr>
          <p:cNvPr id="24" name="Text 18"/>
          <p:cNvSpPr txBox="1"/>
          <p:nvPr/>
        </p:nvSpPr>
        <p:spPr>
          <a:xfrm>
            <a:off x="7086600" y="3154680"/>
            <a:ext cx="4297680" cy="237744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0B2135"/>
                </a:solidFill>
                <a:latin typeface="Calibri" pitchFamily="34" charset="0"/>
                <a:ea typeface="Calibri" pitchFamily="34" charset="-122"/>
                <a:cs typeface="Calibri" pitchFamily="34" charset="-120"/>
              </a:rPr>
              <a:t>Residents can prove what they paid and when.</a:t>
            </a:r>
            <a:endParaRPr lang="en-US" sz="1400" dirty="0"/>
          </a:p>
          <a:p>
            <a:pPr marL="177800" indent="-177800">
              <a:spcAft>
                <a:spcPts val="1000"/>
              </a:spcAft>
              <a:buSzPct val="100000"/>
              <a:buChar char="•"/>
            </a:pPr>
            <a:r>
              <a:rPr lang="en-US" sz="1400" dirty="0">
                <a:solidFill>
                  <a:srgbClr val="0B2135"/>
                </a:solidFill>
                <a:latin typeface="Calibri" pitchFamily="34" charset="0"/>
                <a:ea typeface="Calibri" pitchFamily="34" charset="-122"/>
                <a:cs typeface="Calibri" pitchFamily="34" charset="-120"/>
              </a:rPr>
              <a:t>Volunteers' and guards' work is visible, not invisible.</a:t>
            </a:r>
            <a:endParaRPr lang="en-US" sz="1400" dirty="0"/>
          </a:p>
          <a:p>
            <a:pPr marL="177800" indent="-177800">
              <a:spcAft>
                <a:spcPts val="1000"/>
              </a:spcAft>
              <a:buSzPct val="100000"/>
              <a:buChar char="•"/>
            </a:pPr>
            <a:r>
              <a:rPr lang="en-US" sz="1400" dirty="0">
                <a:solidFill>
                  <a:srgbClr val="0B2135"/>
                </a:solidFill>
                <a:latin typeface="Calibri" pitchFamily="34" charset="0"/>
                <a:ea typeface="Calibri" pitchFamily="34" charset="-122"/>
                <a:cs typeface="Calibri" pitchFamily="34" charset="-120"/>
              </a:rPr>
              <a:t>Disagreements are settled by records, not by memory.</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8B8"/>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t"/>
          <a:lstStyle/>
          <a:p>
            <a:pPr indent="0" marL="0">
              <a:buNone/>
            </a:pPr>
            <a:r>
              <a:rPr lang="en-US" sz="1100" b="1" spc="300" kern="0" dirty="0">
                <a:solidFill>
                  <a:srgbClr val="0E7C76"/>
                </a:solidFill>
                <a:latin typeface="Calibri" pitchFamily="34" charset="0"/>
                <a:ea typeface="Calibri" pitchFamily="34" charset="-122"/>
                <a:cs typeface="Calibri" pitchFamily="34" charset="-120"/>
              </a:rPr>
              <a:t>PUTTING IT TOGETHER</a:t>
            </a:r>
            <a:endParaRPr lang="en-US" sz="1100" dirty="0"/>
          </a:p>
        </p:txBody>
      </p:sp>
      <p:sp>
        <p:nvSpPr>
          <p:cNvPr id="3" name="Text 1"/>
          <p:cNvSpPr/>
          <p:nvPr>
            <p:ph idx="101" type="title" hasCustomPrompt="1"/>
          </p:nvPr>
        </p:nvSpPr>
        <p:spPr>
          <a:xfrm>
            <a:off x="548640" y="457200"/>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A day in the community, through SecureComm</a:t>
            </a:r>
            <a:endParaRPr lang="en-US" sz="3000" dirty="0"/>
          </a:p>
        </p:txBody>
      </p:sp>
      <p:sp>
        <p:nvSpPr>
          <p:cNvPr id="4" name="timeline"/>
          <p:cNvSpPr/>
          <p:nvPr/>
        </p:nvSpPr>
        <p:spPr>
          <a:xfrm>
            <a:off x="1481328" y="1463040"/>
            <a:ext cx="0" cy="4709160"/>
          </a:xfrm>
          <a:prstGeom prst="line">
            <a:avLst/>
          </a:prstGeom>
          <a:noFill/>
          <a:ln w="31750">
            <a:solidFill>
              <a:srgbClr val="D5E3E3"/>
            </a:solidFill>
            <a:prstDash val="solid"/>
          </a:ln>
        </p:spPr>
      </p:sp>
      <p:sp>
        <p:nvSpPr>
          <p:cNvPr id="5" name="Text 3"/>
          <p:cNvSpPr txBox="1"/>
          <p:nvPr/>
        </p:nvSpPr>
        <p:spPr>
          <a:xfrm>
            <a:off x="548640" y="1325880"/>
            <a:ext cx="731520" cy="502920"/>
          </a:xfrm>
          <a:prstGeom prst="rect">
            <a:avLst/>
          </a:prstGeom>
          <a:noFill/>
          <a:ln/>
        </p:spPr>
        <p:txBody>
          <a:bodyPr wrap="square" lIns="0" tIns="0" rIns="0" bIns="0" rtlCol="0" anchor="ctr"/>
          <a:lstStyle/>
          <a:p>
            <a:pPr indent="0" marL="0">
              <a:buNone/>
            </a:pPr>
            <a:r>
              <a:rPr lang="en-US" sz="1300" b="1" dirty="0">
                <a:solidFill>
                  <a:srgbClr val="5B6B78"/>
                </a:solidFill>
                <a:latin typeface="Calibri" pitchFamily="34" charset="0"/>
                <a:ea typeface="Calibri" pitchFamily="34" charset="-122"/>
                <a:cs typeface="Calibri" pitchFamily="34" charset="-120"/>
              </a:rPr>
              <a:t>06:00</a:t>
            </a:r>
            <a:endParaRPr lang="en-US" sz="1300" dirty="0"/>
          </a:p>
        </p:txBody>
      </p:sp>
      <p:sp>
        <p:nvSpPr>
          <p:cNvPr id="6" name="timeline-dot"/>
          <p:cNvSpPr/>
          <p:nvPr/>
        </p:nvSpPr>
        <p:spPr>
          <a:xfrm>
            <a:off x="1371600" y="1467612"/>
            <a:ext cx="219456" cy="219456"/>
          </a:xfrm>
          <a:prstGeom prst="ellipse">
            <a:avLst/>
          </a:prstGeom>
          <a:solidFill>
            <a:srgbClr val="B57A0C"/>
          </a:solidFill>
          <a:ln w="25400">
            <a:solidFill>
              <a:srgbClr val="FFFFFF"/>
            </a:solidFill>
            <a:prstDash val="solid"/>
          </a:ln>
        </p:spPr>
      </p:sp>
      <p:sp>
        <p:nvSpPr>
          <p:cNvPr id="7" name="role-chip"/>
          <p:cNvSpPr/>
          <p:nvPr/>
        </p:nvSpPr>
        <p:spPr>
          <a:xfrm>
            <a:off x="1828800" y="1417320"/>
            <a:ext cx="671170" cy="329184"/>
          </a:xfrm>
          <a:prstGeom prst="roundRect">
            <a:avLst>
              <a:gd name="adj" fmla="val 50000"/>
            </a:avLst>
          </a:prstGeom>
          <a:solidFill>
            <a:srgbClr val="B57A0C"/>
          </a:solidFill>
          <a:ln w="12700">
            <a:solidFill>
              <a:srgbClr val="B57A0C"/>
            </a:solidFill>
            <a:prstDash val="solid"/>
          </a:ln>
        </p:spPr>
      </p:sp>
      <p:sp>
        <p:nvSpPr>
          <p:cNvPr id="8" name="Text 6"/>
          <p:cNvSpPr txBox="1"/>
          <p:nvPr/>
        </p:nvSpPr>
        <p:spPr>
          <a:xfrm>
            <a:off x="1828800" y="1417320"/>
            <a:ext cx="67117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Guard</a:t>
            </a:r>
            <a:endParaRPr lang="en-US" sz="1100" dirty="0"/>
          </a:p>
        </p:txBody>
      </p:sp>
      <p:sp>
        <p:nvSpPr>
          <p:cNvPr id="9" name="Text 7"/>
          <p:cNvSpPr txBox="1"/>
          <p:nvPr/>
        </p:nvSpPr>
        <p:spPr>
          <a:xfrm>
            <a:off x="3063240" y="1325880"/>
            <a:ext cx="6675120" cy="502920"/>
          </a:xfrm>
          <a:prstGeom prst="rect">
            <a:avLst/>
          </a:prstGeom>
          <a:noFill/>
          <a:ln/>
        </p:spPr>
        <p:txBody>
          <a:bodyPr wrap="square" lIns="0" tIns="0" rIns="0" bIns="0" rtlCol="0" anchor="ctr"/>
          <a:lstStyle/>
          <a:p>
            <a:pPr indent="0" marL="0">
              <a:buNone/>
            </a:pPr>
            <a:r>
              <a:rPr lang="en-US" sz="1300" dirty="0">
                <a:solidFill>
                  <a:srgbClr val="0B2135"/>
                </a:solidFill>
                <a:latin typeface="Calibri" pitchFamily="34" charset="0"/>
                <a:ea typeface="Calibri" pitchFamily="34" charset="-122"/>
                <a:cs typeface="Calibri" pitchFamily="34" charset="-120"/>
              </a:rPr>
              <a:t>Guard Ramu logs the Phase 1 perimeter round as Completed.</a:t>
            </a:r>
            <a:endParaRPr lang="en-US" sz="1300" dirty="0"/>
          </a:p>
        </p:txBody>
      </p:sp>
      <p:sp>
        <p:nvSpPr>
          <p:cNvPr id="10" name="module-chip"/>
          <p:cNvSpPr/>
          <p:nvPr/>
        </p:nvSpPr>
        <p:spPr>
          <a:xfrm>
            <a:off x="9921240" y="1417320"/>
            <a:ext cx="1737360" cy="329184"/>
          </a:xfrm>
          <a:prstGeom prst="roundRect">
            <a:avLst>
              <a:gd name="adj" fmla="val 50000"/>
            </a:avLst>
          </a:prstGeom>
          <a:solidFill>
            <a:srgbClr val="F1F7F7"/>
          </a:solidFill>
          <a:ln w="12700">
            <a:solidFill>
              <a:srgbClr val="13A89E"/>
            </a:solidFill>
            <a:prstDash val="solid"/>
          </a:ln>
        </p:spPr>
      </p:sp>
      <p:sp>
        <p:nvSpPr>
          <p:cNvPr id="11" name="Text 9"/>
          <p:cNvSpPr txBox="1"/>
          <p:nvPr/>
        </p:nvSpPr>
        <p:spPr>
          <a:xfrm>
            <a:off x="9921240" y="1417320"/>
            <a:ext cx="1737360" cy="329184"/>
          </a:xfrm>
          <a:prstGeom prst="rect">
            <a:avLst/>
          </a:prstGeom>
          <a:noFill/>
          <a:ln/>
        </p:spPr>
        <p:txBody>
          <a:bodyPr wrap="square" lIns="0" tIns="0" rIns="0" bIns="0" rtlCol="0" anchor="ctr"/>
          <a:lstStyle/>
          <a:p>
            <a:pPr algn="ctr" indent="0" marL="0">
              <a:buNone/>
            </a:pPr>
            <a:r>
              <a:rPr lang="en-US" sz="1100" b="1" dirty="0">
                <a:solidFill>
                  <a:srgbClr val="0E7C76"/>
                </a:solidFill>
                <a:latin typeface="Calibri" pitchFamily="34" charset="0"/>
                <a:ea typeface="Calibri" pitchFamily="34" charset="-122"/>
                <a:cs typeface="Calibri" pitchFamily="34" charset="-120"/>
              </a:rPr>
              <a:t>Guard Rounds</a:t>
            </a:r>
            <a:endParaRPr lang="en-US" sz="1100" dirty="0"/>
          </a:p>
        </p:txBody>
      </p:sp>
      <p:sp>
        <p:nvSpPr>
          <p:cNvPr id="12" name="Text 10"/>
          <p:cNvSpPr txBox="1"/>
          <p:nvPr/>
        </p:nvSpPr>
        <p:spPr>
          <a:xfrm>
            <a:off x="548640" y="2011680"/>
            <a:ext cx="731520" cy="502920"/>
          </a:xfrm>
          <a:prstGeom prst="rect">
            <a:avLst/>
          </a:prstGeom>
          <a:noFill/>
          <a:ln/>
        </p:spPr>
        <p:txBody>
          <a:bodyPr wrap="square" lIns="0" tIns="0" rIns="0" bIns="0" rtlCol="0" anchor="ctr"/>
          <a:lstStyle/>
          <a:p>
            <a:pPr indent="0" marL="0">
              <a:buNone/>
            </a:pPr>
            <a:r>
              <a:rPr lang="en-US" sz="1300" b="1" dirty="0">
                <a:solidFill>
                  <a:srgbClr val="5B6B78"/>
                </a:solidFill>
                <a:latin typeface="Calibri" pitchFamily="34" charset="0"/>
                <a:ea typeface="Calibri" pitchFamily="34" charset="-122"/>
                <a:cs typeface="Calibri" pitchFamily="34" charset="-120"/>
              </a:rPr>
              <a:t>10:15</a:t>
            </a:r>
            <a:endParaRPr lang="en-US" sz="1300" dirty="0"/>
          </a:p>
        </p:txBody>
      </p:sp>
      <p:sp>
        <p:nvSpPr>
          <p:cNvPr id="13" name="timeline-dot"/>
          <p:cNvSpPr/>
          <p:nvPr/>
        </p:nvSpPr>
        <p:spPr>
          <a:xfrm>
            <a:off x="1371600" y="2153412"/>
            <a:ext cx="219456" cy="219456"/>
          </a:xfrm>
          <a:prstGeom prst="ellipse">
            <a:avLst/>
          </a:prstGeom>
          <a:solidFill>
            <a:srgbClr val="B57A0C"/>
          </a:solidFill>
          <a:ln w="25400">
            <a:solidFill>
              <a:srgbClr val="FFFFFF"/>
            </a:solidFill>
            <a:prstDash val="solid"/>
          </a:ln>
        </p:spPr>
      </p:sp>
      <p:sp>
        <p:nvSpPr>
          <p:cNvPr id="14" name="role-chip"/>
          <p:cNvSpPr/>
          <p:nvPr/>
        </p:nvSpPr>
        <p:spPr>
          <a:xfrm>
            <a:off x="1828800" y="2103120"/>
            <a:ext cx="671170" cy="329184"/>
          </a:xfrm>
          <a:prstGeom prst="roundRect">
            <a:avLst>
              <a:gd name="adj" fmla="val 50000"/>
            </a:avLst>
          </a:prstGeom>
          <a:solidFill>
            <a:srgbClr val="B57A0C"/>
          </a:solidFill>
          <a:ln w="12700">
            <a:solidFill>
              <a:srgbClr val="B57A0C"/>
            </a:solidFill>
            <a:prstDash val="solid"/>
          </a:ln>
        </p:spPr>
      </p:sp>
      <p:sp>
        <p:nvSpPr>
          <p:cNvPr id="15" name="Text 13"/>
          <p:cNvSpPr txBox="1"/>
          <p:nvPr/>
        </p:nvSpPr>
        <p:spPr>
          <a:xfrm>
            <a:off x="1828800" y="2103120"/>
            <a:ext cx="67117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Guard</a:t>
            </a:r>
            <a:endParaRPr lang="en-US" sz="1100" dirty="0"/>
          </a:p>
        </p:txBody>
      </p:sp>
      <p:sp>
        <p:nvSpPr>
          <p:cNvPr id="16" name="Text 14"/>
          <p:cNvSpPr txBox="1"/>
          <p:nvPr/>
        </p:nvSpPr>
        <p:spPr>
          <a:xfrm>
            <a:off x="3063240" y="2011680"/>
            <a:ext cx="6675120" cy="502920"/>
          </a:xfrm>
          <a:prstGeom prst="rect">
            <a:avLst/>
          </a:prstGeom>
          <a:noFill/>
          <a:ln/>
        </p:spPr>
        <p:txBody>
          <a:bodyPr wrap="square" lIns="0" tIns="0" rIns="0" bIns="0" rtlCol="0" anchor="ctr"/>
          <a:lstStyle/>
          <a:p>
            <a:pPr indent="0" marL="0">
              <a:buNone/>
            </a:pPr>
            <a:r>
              <a:rPr lang="en-US" sz="1300" dirty="0">
                <a:solidFill>
                  <a:srgbClr val="0B2135"/>
                </a:solidFill>
                <a:latin typeface="Calibri" pitchFamily="34" charset="0"/>
                <a:ea typeface="Calibri" pitchFamily="34" charset="-122"/>
                <a:cs typeface="Calibri" pitchFamily="34" charset="-120"/>
              </a:rPr>
              <a:t>A delivery arrives at the Main gate. Entry is logged; the host gets a WhatsApp alert.</a:t>
            </a:r>
            <a:endParaRPr lang="en-US" sz="1300" dirty="0"/>
          </a:p>
        </p:txBody>
      </p:sp>
      <p:sp>
        <p:nvSpPr>
          <p:cNvPr id="17" name="module-chip"/>
          <p:cNvSpPr/>
          <p:nvPr/>
        </p:nvSpPr>
        <p:spPr>
          <a:xfrm>
            <a:off x="9921240" y="2103120"/>
            <a:ext cx="1737360" cy="329184"/>
          </a:xfrm>
          <a:prstGeom prst="roundRect">
            <a:avLst>
              <a:gd name="adj" fmla="val 50000"/>
            </a:avLst>
          </a:prstGeom>
          <a:solidFill>
            <a:srgbClr val="F1F7F7"/>
          </a:solidFill>
          <a:ln w="12700">
            <a:solidFill>
              <a:srgbClr val="13A89E"/>
            </a:solidFill>
            <a:prstDash val="solid"/>
          </a:ln>
        </p:spPr>
      </p:sp>
      <p:sp>
        <p:nvSpPr>
          <p:cNvPr id="18" name="Text 16"/>
          <p:cNvSpPr txBox="1"/>
          <p:nvPr/>
        </p:nvSpPr>
        <p:spPr>
          <a:xfrm>
            <a:off x="9921240" y="2103120"/>
            <a:ext cx="1737360" cy="329184"/>
          </a:xfrm>
          <a:prstGeom prst="rect">
            <a:avLst/>
          </a:prstGeom>
          <a:noFill/>
          <a:ln/>
        </p:spPr>
        <p:txBody>
          <a:bodyPr wrap="square" lIns="0" tIns="0" rIns="0" bIns="0" rtlCol="0" anchor="ctr"/>
          <a:lstStyle/>
          <a:p>
            <a:pPr algn="ctr" indent="0" marL="0">
              <a:buNone/>
            </a:pPr>
            <a:r>
              <a:rPr lang="en-US" sz="1100" b="1" dirty="0">
                <a:solidFill>
                  <a:srgbClr val="0E7C76"/>
                </a:solidFill>
                <a:latin typeface="Calibri" pitchFamily="34" charset="0"/>
                <a:ea typeface="Calibri" pitchFamily="34" charset="-122"/>
                <a:cs typeface="Calibri" pitchFamily="34" charset="-120"/>
              </a:rPr>
              <a:t>Visitors</a:t>
            </a:r>
            <a:endParaRPr lang="en-US" sz="1100" dirty="0"/>
          </a:p>
        </p:txBody>
      </p:sp>
      <p:sp>
        <p:nvSpPr>
          <p:cNvPr id="19" name="Text 17"/>
          <p:cNvSpPr txBox="1"/>
          <p:nvPr/>
        </p:nvSpPr>
        <p:spPr>
          <a:xfrm>
            <a:off x="548640" y="2697480"/>
            <a:ext cx="731520" cy="502920"/>
          </a:xfrm>
          <a:prstGeom prst="rect">
            <a:avLst/>
          </a:prstGeom>
          <a:noFill/>
          <a:ln/>
        </p:spPr>
        <p:txBody>
          <a:bodyPr wrap="square" lIns="0" tIns="0" rIns="0" bIns="0" rtlCol="0" anchor="ctr"/>
          <a:lstStyle/>
          <a:p>
            <a:pPr indent="0" marL="0">
              <a:buNone/>
            </a:pPr>
            <a:r>
              <a:rPr lang="en-US" sz="1300" b="1" dirty="0">
                <a:solidFill>
                  <a:srgbClr val="5B6B78"/>
                </a:solidFill>
                <a:latin typeface="Calibri" pitchFamily="34" charset="0"/>
                <a:ea typeface="Calibri" pitchFamily="34" charset="-122"/>
                <a:cs typeface="Calibri" pitchFamily="34" charset="-120"/>
              </a:rPr>
              <a:t>11:30</a:t>
            </a:r>
            <a:endParaRPr lang="en-US" sz="1300" dirty="0"/>
          </a:p>
        </p:txBody>
      </p:sp>
      <p:sp>
        <p:nvSpPr>
          <p:cNvPr id="20" name="timeline-dot"/>
          <p:cNvSpPr/>
          <p:nvPr/>
        </p:nvSpPr>
        <p:spPr>
          <a:xfrm>
            <a:off x="1371600" y="2839212"/>
            <a:ext cx="219456" cy="219456"/>
          </a:xfrm>
          <a:prstGeom prst="ellipse">
            <a:avLst/>
          </a:prstGeom>
          <a:solidFill>
            <a:srgbClr val="13A89E"/>
          </a:solidFill>
          <a:ln w="25400">
            <a:solidFill>
              <a:srgbClr val="FFFFFF"/>
            </a:solidFill>
            <a:prstDash val="solid"/>
          </a:ln>
        </p:spPr>
      </p:sp>
      <p:sp>
        <p:nvSpPr>
          <p:cNvPr id="21" name="role-chip"/>
          <p:cNvSpPr/>
          <p:nvPr/>
        </p:nvSpPr>
        <p:spPr>
          <a:xfrm>
            <a:off x="1828800" y="2788920"/>
            <a:ext cx="876361" cy="329184"/>
          </a:xfrm>
          <a:prstGeom prst="roundRect">
            <a:avLst>
              <a:gd name="adj" fmla="val 50000"/>
            </a:avLst>
          </a:prstGeom>
          <a:solidFill>
            <a:srgbClr val="13A89E"/>
          </a:solidFill>
          <a:ln w="12700">
            <a:solidFill>
              <a:srgbClr val="13A89E"/>
            </a:solidFill>
            <a:prstDash val="solid"/>
          </a:ln>
        </p:spPr>
      </p:sp>
      <p:sp>
        <p:nvSpPr>
          <p:cNvPr id="22" name="Text 20"/>
          <p:cNvSpPr txBox="1"/>
          <p:nvPr/>
        </p:nvSpPr>
        <p:spPr>
          <a:xfrm>
            <a:off x="1828800" y="2788920"/>
            <a:ext cx="876361"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Resident</a:t>
            </a:r>
            <a:endParaRPr lang="en-US" sz="1100" dirty="0"/>
          </a:p>
        </p:txBody>
      </p:sp>
      <p:sp>
        <p:nvSpPr>
          <p:cNvPr id="23" name="Text 21"/>
          <p:cNvSpPr txBox="1"/>
          <p:nvPr/>
        </p:nvSpPr>
        <p:spPr>
          <a:xfrm>
            <a:off x="3063240" y="2697480"/>
            <a:ext cx="6675120" cy="502920"/>
          </a:xfrm>
          <a:prstGeom prst="rect">
            <a:avLst/>
          </a:prstGeom>
          <a:noFill/>
          <a:ln/>
        </p:spPr>
        <p:txBody>
          <a:bodyPr wrap="square" lIns="0" tIns="0" rIns="0" bIns="0" rtlCol="0" anchor="ctr"/>
          <a:lstStyle/>
          <a:p>
            <a:pPr indent="0" marL="0">
              <a:buNone/>
            </a:pPr>
            <a:r>
              <a:rPr lang="en-US" sz="1300" dirty="0">
                <a:solidFill>
                  <a:srgbClr val="0B2135"/>
                </a:solidFill>
                <a:latin typeface="Calibri" pitchFamily="34" charset="0"/>
                <a:ea typeface="Calibri" pitchFamily="34" charset="-122"/>
                <a:cs typeface="Calibri" pitchFamily="34" charset="-120"/>
              </a:rPr>
              <a:t>A resident reports a broken street light near Block B as Medium priority.</a:t>
            </a:r>
            <a:endParaRPr lang="en-US" sz="1300" dirty="0"/>
          </a:p>
        </p:txBody>
      </p:sp>
      <p:sp>
        <p:nvSpPr>
          <p:cNvPr id="24" name="module-chip"/>
          <p:cNvSpPr/>
          <p:nvPr/>
        </p:nvSpPr>
        <p:spPr>
          <a:xfrm>
            <a:off x="9921240" y="2788920"/>
            <a:ext cx="1737360" cy="329184"/>
          </a:xfrm>
          <a:prstGeom prst="roundRect">
            <a:avLst>
              <a:gd name="adj" fmla="val 50000"/>
            </a:avLst>
          </a:prstGeom>
          <a:solidFill>
            <a:srgbClr val="F1F7F7"/>
          </a:solidFill>
          <a:ln w="12700">
            <a:solidFill>
              <a:srgbClr val="13A89E"/>
            </a:solidFill>
            <a:prstDash val="solid"/>
          </a:ln>
        </p:spPr>
      </p:sp>
      <p:sp>
        <p:nvSpPr>
          <p:cNvPr id="25" name="Text 23"/>
          <p:cNvSpPr txBox="1"/>
          <p:nvPr/>
        </p:nvSpPr>
        <p:spPr>
          <a:xfrm>
            <a:off x="9921240" y="2788920"/>
            <a:ext cx="1737360" cy="329184"/>
          </a:xfrm>
          <a:prstGeom prst="rect">
            <a:avLst/>
          </a:prstGeom>
          <a:noFill/>
          <a:ln/>
        </p:spPr>
        <p:txBody>
          <a:bodyPr wrap="square" lIns="0" tIns="0" rIns="0" bIns="0" rtlCol="0" anchor="ctr"/>
          <a:lstStyle/>
          <a:p>
            <a:pPr algn="ctr" indent="0" marL="0">
              <a:buNone/>
            </a:pPr>
            <a:r>
              <a:rPr lang="en-US" sz="1100" b="1" dirty="0">
                <a:solidFill>
                  <a:srgbClr val="0E7C76"/>
                </a:solidFill>
                <a:latin typeface="Calibri" pitchFamily="34" charset="0"/>
                <a:ea typeface="Calibri" pitchFamily="34" charset="-122"/>
                <a:cs typeface="Calibri" pitchFamily="34" charset="-120"/>
              </a:rPr>
              <a:t>Security Issues</a:t>
            </a:r>
            <a:endParaRPr lang="en-US" sz="1100" dirty="0"/>
          </a:p>
        </p:txBody>
      </p:sp>
      <p:sp>
        <p:nvSpPr>
          <p:cNvPr id="26" name="Text 24"/>
          <p:cNvSpPr txBox="1"/>
          <p:nvPr/>
        </p:nvSpPr>
        <p:spPr>
          <a:xfrm>
            <a:off x="548640" y="3383280"/>
            <a:ext cx="731520" cy="502920"/>
          </a:xfrm>
          <a:prstGeom prst="rect">
            <a:avLst/>
          </a:prstGeom>
          <a:noFill/>
          <a:ln/>
        </p:spPr>
        <p:txBody>
          <a:bodyPr wrap="square" lIns="0" tIns="0" rIns="0" bIns="0" rtlCol="0" anchor="ctr"/>
          <a:lstStyle/>
          <a:p>
            <a:pPr indent="0" marL="0">
              <a:buNone/>
            </a:pPr>
            <a:r>
              <a:rPr lang="en-US" sz="1300" b="1" dirty="0">
                <a:solidFill>
                  <a:srgbClr val="5B6B78"/>
                </a:solidFill>
                <a:latin typeface="Calibri" pitchFamily="34" charset="0"/>
                <a:ea typeface="Calibri" pitchFamily="34" charset="-122"/>
                <a:cs typeface="Calibri" pitchFamily="34" charset="-120"/>
              </a:rPr>
              <a:t>12:00</a:t>
            </a:r>
            <a:endParaRPr lang="en-US" sz="1300" dirty="0"/>
          </a:p>
        </p:txBody>
      </p:sp>
      <p:sp>
        <p:nvSpPr>
          <p:cNvPr id="27" name="timeline-dot"/>
          <p:cNvSpPr/>
          <p:nvPr/>
        </p:nvSpPr>
        <p:spPr>
          <a:xfrm>
            <a:off x="1371600" y="3525012"/>
            <a:ext cx="219456" cy="219456"/>
          </a:xfrm>
          <a:prstGeom prst="ellipse">
            <a:avLst/>
          </a:prstGeom>
          <a:solidFill>
            <a:srgbClr val="0E7C76"/>
          </a:solidFill>
          <a:ln w="25400">
            <a:solidFill>
              <a:srgbClr val="FFFFFF"/>
            </a:solidFill>
            <a:prstDash val="solid"/>
          </a:ln>
        </p:spPr>
      </p:sp>
      <p:sp>
        <p:nvSpPr>
          <p:cNvPr id="28" name="role-chip"/>
          <p:cNvSpPr/>
          <p:nvPr/>
        </p:nvSpPr>
        <p:spPr>
          <a:xfrm>
            <a:off x="1828800" y="3474720"/>
            <a:ext cx="944758" cy="329184"/>
          </a:xfrm>
          <a:prstGeom prst="roundRect">
            <a:avLst>
              <a:gd name="adj" fmla="val 50000"/>
            </a:avLst>
          </a:prstGeom>
          <a:solidFill>
            <a:srgbClr val="0E7C76"/>
          </a:solidFill>
          <a:ln w="12700">
            <a:solidFill>
              <a:srgbClr val="0E7C76"/>
            </a:solidFill>
            <a:prstDash val="solid"/>
          </a:ln>
        </p:spPr>
      </p:sp>
      <p:sp>
        <p:nvSpPr>
          <p:cNvPr id="29" name="Text 27"/>
          <p:cNvSpPr txBox="1"/>
          <p:nvPr/>
        </p:nvSpPr>
        <p:spPr>
          <a:xfrm>
            <a:off x="1828800" y="3474720"/>
            <a:ext cx="94475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Volunteer</a:t>
            </a:r>
            <a:endParaRPr lang="en-US" sz="1100" dirty="0"/>
          </a:p>
        </p:txBody>
      </p:sp>
      <p:sp>
        <p:nvSpPr>
          <p:cNvPr id="30" name="Text 28"/>
          <p:cNvSpPr txBox="1"/>
          <p:nvPr/>
        </p:nvSpPr>
        <p:spPr>
          <a:xfrm>
            <a:off x="3063240" y="3383280"/>
            <a:ext cx="6675120" cy="502920"/>
          </a:xfrm>
          <a:prstGeom prst="rect">
            <a:avLst/>
          </a:prstGeom>
          <a:noFill/>
          <a:ln/>
        </p:spPr>
        <p:txBody>
          <a:bodyPr wrap="square" lIns="0" tIns="0" rIns="0" bIns="0" rtlCol="0" anchor="ctr"/>
          <a:lstStyle/>
          <a:p>
            <a:pPr indent="0" marL="0">
              <a:buNone/>
            </a:pPr>
            <a:r>
              <a:rPr lang="en-US" sz="1300" dirty="0">
                <a:solidFill>
                  <a:srgbClr val="0B2135"/>
                </a:solidFill>
                <a:latin typeface="Calibri" pitchFamily="34" charset="0"/>
                <a:ea typeface="Calibri" pitchFamily="34" charset="-122"/>
                <a:cs typeface="Calibri" pitchFamily="34" charset="-120"/>
              </a:rPr>
              <a:t>A volunteer marks the issue In Progress and the light as Faulty.</a:t>
            </a:r>
            <a:endParaRPr lang="en-US" sz="1300" dirty="0"/>
          </a:p>
        </p:txBody>
      </p:sp>
      <p:sp>
        <p:nvSpPr>
          <p:cNvPr id="31" name="module-chip"/>
          <p:cNvSpPr/>
          <p:nvPr/>
        </p:nvSpPr>
        <p:spPr>
          <a:xfrm>
            <a:off x="9921240" y="3474720"/>
            <a:ext cx="1737360" cy="329184"/>
          </a:xfrm>
          <a:prstGeom prst="roundRect">
            <a:avLst>
              <a:gd name="adj" fmla="val 50000"/>
            </a:avLst>
          </a:prstGeom>
          <a:solidFill>
            <a:srgbClr val="F1F7F7"/>
          </a:solidFill>
          <a:ln w="12700">
            <a:solidFill>
              <a:srgbClr val="13A89E"/>
            </a:solidFill>
            <a:prstDash val="solid"/>
          </a:ln>
        </p:spPr>
      </p:sp>
      <p:sp>
        <p:nvSpPr>
          <p:cNvPr id="32" name="Text 30"/>
          <p:cNvSpPr txBox="1"/>
          <p:nvPr/>
        </p:nvSpPr>
        <p:spPr>
          <a:xfrm>
            <a:off x="9921240" y="3474720"/>
            <a:ext cx="1737360" cy="329184"/>
          </a:xfrm>
          <a:prstGeom prst="rect">
            <a:avLst/>
          </a:prstGeom>
          <a:noFill/>
          <a:ln/>
        </p:spPr>
        <p:txBody>
          <a:bodyPr wrap="square" lIns="0" tIns="0" rIns="0" bIns="0" rtlCol="0" anchor="ctr"/>
          <a:lstStyle/>
          <a:p>
            <a:pPr algn="ctr" indent="0" marL="0">
              <a:buNone/>
            </a:pPr>
            <a:r>
              <a:rPr lang="en-US" sz="1100" b="1" dirty="0">
                <a:solidFill>
                  <a:srgbClr val="0E7C76"/>
                </a:solidFill>
                <a:latin typeface="Calibri" pitchFamily="34" charset="0"/>
                <a:ea typeface="Calibri" pitchFamily="34" charset="-122"/>
                <a:cs typeface="Calibri" pitchFamily="34" charset="-120"/>
              </a:rPr>
              <a:t>Street Lights</a:t>
            </a:r>
            <a:endParaRPr lang="en-US" sz="1100" dirty="0"/>
          </a:p>
        </p:txBody>
      </p:sp>
      <p:sp>
        <p:nvSpPr>
          <p:cNvPr id="33" name="Text 31"/>
          <p:cNvSpPr txBox="1"/>
          <p:nvPr/>
        </p:nvSpPr>
        <p:spPr>
          <a:xfrm>
            <a:off x="548640" y="4069080"/>
            <a:ext cx="731520" cy="502920"/>
          </a:xfrm>
          <a:prstGeom prst="rect">
            <a:avLst/>
          </a:prstGeom>
          <a:noFill/>
          <a:ln/>
        </p:spPr>
        <p:txBody>
          <a:bodyPr wrap="square" lIns="0" tIns="0" rIns="0" bIns="0" rtlCol="0" anchor="ctr"/>
          <a:lstStyle/>
          <a:p>
            <a:pPr indent="0" marL="0">
              <a:buNone/>
            </a:pPr>
            <a:r>
              <a:rPr lang="en-US" sz="1300" b="1" dirty="0">
                <a:solidFill>
                  <a:srgbClr val="5B6B78"/>
                </a:solidFill>
                <a:latin typeface="Calibri" pitchFamily="34" charset="0"/>
                <a:ea typeface="Calibri" pitchFamily="34" charset="-122"/>
                <a:cs typeface="Calibri" pitchFamily="34" charset="-120"/>
              </a:rPr>
              <a:t>15:00</a:t>
            </a:r>
            <a:endParaRPr lang="en-US" sz="1300" dirty="0"/>
          </a:p>
        </p:txBody>
      </p:sp>
      <p:sp>
        <p:nvSpPr>
          <p:cNvPr id="34" name="timeline-dot"/>
          <p:cNvSpPr/>
          <p:nvPr/>
        </p:nvSpPr>
        <p:spPr>
          <a:xfrm>
            <a:off x="1371600" y="4210812"/>
            <a:ext cx="219456" cy="219456"/>
          </a:xfrm>
          <a:prstGeom prst="ellipse">
            <a:avLst/>
          </a:prstGeom>
          <a:solidFill>
            <a:srgbClr val="0E7C76"/>
          </a:solidFill>
          <a:ln w="25400">
            <a:solidFill>
              <a:srgbClr val="FFFFFF"/>
            </a:solidFill>
            <a:prstDash val="solid"/>
          </a:ln>
        </p:spPr>
      </p:sp>
      <p:sp>
        <p:nvSpPr>
          <p:cNvPr id="35" name="role-chip"/>
          <p:cNvSpPr/>
          <p:nvPr/>
        </p:nvSpPr>
        <p:spPr>
          <a:xfrm>
            <a:off x="1828800" y="4160520"/>
            <a:ext cx="944758" cy="329184"/>
          </a:xfrm>
          <a:prstGeom prst="roundRect">
            <a:avLst>
              <a:gd name="adj" fmla="val 50000"/>
            </a:avLst>
          </a:prstGeom>
          <a:solidFill>
            <a:srgbClr val="0E7C76"/>
          </a:solidFill>
          <a:ln w="12700">
            <a:solidFill>
              <a:srgbClr val="0E7C76"/>
            </a:solidFill>
            <a:prstDash val="solid"/>
          </a:ln>
        </p:spPr>
      </p:sp>
      <p:sp>
        <p:nvSpPr>
          <p:cNvPr id="36" name="Text 34"/>
          <p:cNvSpPr txBox="1"/>
          <p:nvPr/>
        </p:nvSpPr>
        <p:spPr>
          <a:xfrm>
            <a:off x="1828800" y="4160520"/>
            <a:ext cx="94475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Volunteer</a:t>
            </a:r>
            <a:endParaRPr lang="en-US" sz="1100" dirty="0"/>
          </a:p>
        </p:txBody>
      </p:sp>
      <p:sp>
        <p:nvSpPr>
          <p:cNvPr id="37" name="Text 35"/>
          <p:cNvSpPr txBox="1"/>
          <p:nvPr/>
        </p:nvSpPr>
        <p:spPr>
          <a:xfrm>
            <a:off x="3063240" y="4069080"/>
            <a:ext cx="6675120" cy="502920"/>
          </a:xfrm>
          <a:prstGeom prst="rect">
            <a:avLst/>
          </a:prstGeom>
          <a:noFill/>
          <a:ln/>
        </p:spPr>
        <p:txBody>
          <a:bodyPr wrap="square" lIns="0" tIns="0" rIns="0" bIns="0" rtlCol="0" anchor="ctr"/>
          <a:lstStyle/>
          <a:p>
            <a:pPr indent="0" marL="0">
              <a:buNone/>
            </a:pPr>
            <a:r>
              <a:rPr lang="en-US" sz="1300" dirty="0">
                <a:solidFill>
                  <a:srgbClr val="0B2135"/>
                </a:solidFill>
                <a:latin typeface="Calibri" pitchFamily="34" charset="0"/>
                <a:ea typeface="Calibri" pitchFamily="34" charset="-122"/>
                <a:cs typeface="Calibri" pitchFamily="34" charset="-120"/>
              </a:rPr>
              <a:t>Repair is paid; the volunteer logs a ₹4,500 expense and marks the issue Resolved.</a:t>
            </a:r>
            <a:endParaRPr lang="en-US" sz="1300" dirty="0"/>
          </a:p>
        </p:txBody>
      </p:sp>
      <p:sp>
        <p:nvSpPr>
          <p:cNvPr id="38" name="module-chip"/>
          <p:cNvSpPr/>
          <p:nvPr/>
        </p:nvSpPr>
        <p:spPr>
          <a:xfrm>
            <a:off x="9921240" y="4160520"/>
            <a:ext cx="1737360" cy="329184"/>
          </a:xfrm>
          <a:prstGeom prst="roundRect">
            <a:avLst>
              <a:gd name="adj" fmla="val 50000"/>
            </a:avLst>
          </a:prstGeom>
          <a:solidFill>
            <a:srgbClr val="F1F7F7"/>
          </a:solidFill>
          <a:ln w="12700">
            <a:solidFill>
              <a:srgbClr val="13A89E"/>
            </a:solidFill>
            <a:prstDash val="solid"/>
          </a:ln>
        </p:spPr>
      </p:sp>
      <p:sp>
        <p:nvSpPr>
          <p:cNvPr id="39" name="Text 37"/>
          <p:cNvSpPr txBox="1"/>
          <p:nvPr/>
        </p:nvSpPr>
        <p:spPr>
          <a:xfrm>
            <a:off x="9921240" y="4160520"/>
            <a:ext cx="1737360" cy="329184"/>
          </a:xfrm>
          <a:prstGeom prst="rect">
            <a:avLst/>
          </a:prstGeom>
          <a:noFill/>
          <a:ln/>
        </p:spPr>
        <p:txBody>
          <a:bodyPr wrap="square" lIns="0" tIns="0" rIns="0" bIns="0" rtlCol="0" anchor="ctr"/>
          <a:lstStyle/>
          <a:p>
            <a:pPr algn="ctr" indent="0" marL="0">
              <a:buNone/>
            </a:pPr>
            <a:r>
              <a:rPr lang="en-US" sz="1100" b="1" dirty="0">
                <a:solidFill>
                  <a:srgbClr val="0E7C76"/>
                </a:solidFill>
                <a:latin typeface="Calibri" pitchFamily="34" charset="0"/>
                <a:ea typeface="Calibri" pitchFamily="34" charset="-122"/>
                <a:cs typeface="Calibri" pitchFamily="34" charset="-120"/>
              </a:rPr>
              <a:t>Expenses</a:t>
            </a:r>
            <a:endParaRPr lang="en-US" sz="1100" dirty="0"/>
          </a:p>
        </p:txBody>
      </p:sp>
      <p:sp>
        <p:nvSpPr>
          <p:cNvPr id="40" name="Text 38"/>
          <p:cNvSpPr txBox="1"/>
          <p:nvPr/>
        </p:nvSpPr>
        <p:spPr>
          <a:xfrm>
            <a:off x="548640" y="4754880"/>
            <a:ext cx="731520" cy="502920"/>
          </a:xfrm>
          <a:prstGeom prst="rect">
            <a:avLst/>
          </a:prstGeom>
          <a:noFill/>
          <a:ln/>
        </p:spPr>
        <p:txBody>
          <a:bodyPr wrap="square" lIns="0" tIns="0" rIns="0" bIns="0" rtlCol="0" anchor="ctr"/>
          <a:lstStyle/>
          <a:p>
            <a:pPr indent="0" marL="0">
              <a:buNone/>
            </a:pPr>
            <a:r>
              <a:rPr lang="en-US" sz="1300" b="1" dirty="0">
                <a:solidFill>
                  <a:srgbClr val="5B6B78"/>
                </a:solidFill>
                <a:latin typeface="Calibri" pitchFamily="34" charset="0"/>
                <a:ea typeface="Calibri" pitchFamily="34" charset="-122"/>
                <a:cs typeface="Calibri" pitchFamily="34" charset="-120"/>
              </a:rPr>
              <a:t>18:00</a:t>
            </a:r>
            <a:endParaRPr lang="en-US" sz="1300" dirty="0"/>
          </a:p>
        </p:txBody>
      </p:sp>
      <p:sp>
        <p:nvSpPr>
          <p:cNvPr id="41" name="timeline-dot"/>
          <p:cNvSpPr/>
          <p:nvPr/>
        </p:nvSpPr>
        <p:spPr>
          <a:xfrm>
            <a:off x="1371600" y="4896612"/>
            <a:ext cx="219456" cy="219456"/>
          </a:xfrm>
          <a:prstGeom prst="ellipse">
            <a:avLst/>
          </a:prstGeom>
          <a:solidFill>
            <a:srgbClr val="0B2135"/>
          </a:solidFill>
          <a:ln w="25400">
            <a:solidFill>
              <a:srgbClr val="FFFFFF"/>
            </a:solidFill>
            <a:prstDash val="solid"/>
          </a:ln>
        </p:spPr>
      </p:sp>
      <p:sp>
        <p:nvSpPr>
          <p:cNvPr id="42" name="role-chip"/>
          <p:cNvSpPr/>
          <p:nvPr/>
        </p:nvSpPr>
        <p:spPr>
          <a:xfrm>
            <a:off x="1828800" y="4846320"/>
            <a:ext cx="1081552" cy="329184"/>
          </a:xfrm>
          <a:prstGeom prst="roundRect">
            <a:avLst>
              <a:gd name="adj" fmla="val 50000"/>
            </a:avLst>
          </a:prstGeom>
          <a:solidFill>
            <a:srgbClr val="0B2135"/>
          </a:solidFill>
          <a:ln w="12700">
            <a:solidFill>
              <a:srgbClr val="0B2135"/>
            </a:solidFill>
            <a:prstDash val="solid"/>
          </a:ln>
        </p:spPr>
      </p:sp>
      <p:sp>
        <p:nvSpPr>
          <p:cNvPr id="43" name="Text 41"/>
          <p:cNvSpPr txBox="1"/>
          <p:nvPr/>
        </p:nvSpPr>
        <p:spPr>
          <a:xfrm>
            <a:off x="1828800" y="4846320"/>
            <a:ext cx="108155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Super Admin</a:t>
            </a:r>
            <a:endParaRPr lang="en-US" sz="1100" dirty="0"/>
          </a:p>
        </p:txBody>
      </p:sp>
      <p:sp>
        <p:nvSpPr>
          <p:cNvPr id="44" name="Text 42"/>
          <p:cNvSpPr txBox="1"/>
          <p:nvPr/>
        </p:nvSpPr>
        <p:spPr>
          <a:xfrm>
            <a:off x="3063240" y="4754880"/>
            <a:ext cx="6675120" cy="502920"/>
          </a:xfrm>
          <a:prstGeom prst="rect">
            <a:avLst/>
          </a:prstGeom>
          <a:noFill/>
          <a:ln/>
        </p:spPr>
        <p:txBody>
          <a:bodyPr wrap="square" lIns="0" tIns="0" rIns="0" bIns="0" rtlCol="0" anchor="ctr"/>
          <a:lstStyle/>
          <a:p>
            <a:pPr indent="0" marL="0">
              <a:buNone/>
            </a:pPr>
            <a:r>
              <a:rPr lang="en-US" sz="1300" dirty="0">
                <a:solidFill>
                  <a:srgbClr val="0B2135"/>
                </a:solidFill>
                <a:latin typeface="Calibri" pitchFamily="34" charset="0"/>
                <a:ea typeface="Calibri" pitchFamily="34" charset="-122"/>
                <a:cs typeface="Calibri" pitchFamily="34" charset="-120"/>
              </a:rPr>
              <a:t>The admin broadcasts a water-cut notice to Phase 1 only.</a:t>
            </a:r>
            <a:endParaRPr lang="en-US" sz="1300" dirty="0"/>
          </a:p>
        </p:txBody>
      </p:sp>
      <p:sp>
        <p:nvSpPr>
          <p:cNvPr id="45" name="module-chip"/>
          <p:cNvSpPr/>
          <p:nvPr/>
        </p:nvSpPr>
        <p:spPr>
          <a:xfrm>
            <a:off x="9921240" y="4846320"/>
            <a:ext cx="1737360" cy="329184"/>
          </a:xfrm>
          <a:prstGeom prst="roundRect">
            <a:avLst>
              <a:gd name="adj" fmla="val 50000"/>
            </a:avLst>
          </a:prstGeom>
          <a:solidFill>
            <a:srgbClr val="F1F7F7"/>
          </a:solidFill>
          <a:ln w="12700">
            <a:solidFill>
              <a:srgbClr val="13A89E"/>
            </a:solidFill>
            <a:prstDash val="solid"/>
          </a:ln>
        </p:spPr>
      </p:sp>
      <p:sp>
        <p:nvSpPr>
          <p:cNvPr id="46" name="Text 44"/>
          <p:cNvSpPr txBox="1"/>
          <p:nvPr/>
        </p:nvSpPr>
        <p:spPr>
          <a:xfrm>
            <a:off x="9921240" y="4846320"/>
            <a:ext cx="1737360" cy="329184"/>
          </a:xfrm>
          <a:prstGeom prst="rect">
            <a:avLst/>
          </a:prstGeom>
          <a:noFill/>
          <a:ln/>
        </p:spPr>
        <p:txBody>
          <a:bodyPr wrap="square" lIns="0" tIns="0" rIns="0" bIns="0" rtlCol="0" anchor="ctr"/>
          <a:lstStyle/>
          <a:p>
            <a:pPr algn="ctr" indent="0" marL="0">
              <a:buNone/>
            </a:pPr>
            <a:r>
              <a:rPr lang="en-US" sz="1100" b="1" dirty="0">
                <a:solidFill>
                  <a:srgbClr val="0E7C76"/>
                </a:solidFill>
                <a:latin typeface="Calibri" pitchFamily="34" charset="0"/>
                <a:ea typeface="Calibri" pitchFamily="34" charset="-122"/>
                <a:cs typeface="Calibri" pitchFamily="34" charset="-120"/>
              </a:rPr>
              <a:t>Announcements</a:t>
            </a:r>
            <a:endParaRPr lang="en-US" sz="1100" dirty="0"/>
          </a:p>
        </p:txBody>
      </p:sp>
      <p:sp>
        <p:nvSpPr>
          <p:cNvPr id="47" name="Text 45"/>
          <p:cNvSpPr txBox="1"/>
          <p:nvPr/>
        </p:nvSpPr>
        <p:spPr>
          <a:xfrm>
            <a:off x="548640" y="5440680"/>
            <a:ext cx="731520" cy="502920"/>
          </a:xfrm>
          <a:prstGeom prst="rect">
            <a:avLst/>
          </a:prstGeom>
          <a:noFill/>
          <a:ln/>
        </p:spPr>
        <p:txBody>
          <a:bodyPr wrap="square" lIns="0" tIns="0" rIns="0" bIns="0" rtlCol="0" anchor="ctr"/>
          <a:lstStyle/>
          <a:p>
            <a:pPr indent="0" marL="0">
              <a:buNone/>
            </a:pPr>
            <a:r>
              <a:rPr lang="en-US" sz="1300" b="1" dirty="0">
                <a:solidFill>
                  <a:srgbClr val="5B6B78"/>
                </a:solidFill>
                <a:latin typeface="Calibri" pitchFamily="34" charset="0"/>
                <a:ea typeface="Calibri" pitchFamily="34" charset="-122"/>
                <a:cs typeface="Calibri" pitchFamily="34" charset="-120"/>
              </a:rPr>
              <a:t>21:00</a:t>
            </a:r>
            <a:endParaRPr lang="en-US" sz="1300" dirty="0"/>
          </a:p>
        </p:txBody>
      </p:sp>
      <p:sp>
        <p:nvSpPr>
          <p:cNvPr id="48" name="timeline-dot"/>
          <p:cNvSpPr/>
          <p:nvPr/>
        </p:nvSpPr>
        <p:spPr>
          <a:xfrm>
            <a:off x="1371600" y="5582412"/>
            <a:ext cx="219456" cy="219456"/>
          </a:xfrm>
          <a:prstGeom prst="ellipse">
            <a:avLst/>
          </a:prstGeom>
          <a:solidFill>
            <a:srgbClr val="13A89E"/>
          </a:solidFill>
          <a:ln w="25400">
            <a:solidFill>
              <a:srgbClr val="FFFFFF"/>
            </a:solidFill>
            <a:prstDash val="solid"/>
          </a:ln>
        </p:spPr>
      </p:sp>
      <p:sp>
        <p:nvSpPr>
          <p:cNvPr id="49" name="role-chip"/>
          <p:cNvSpPr/>
          <p:nvPr/>
        </p:nvSpPr>
        <p:spPr>
          <a:xfrm>
            <a:off x="1828800" y="5532120"/>
            <a:ext cx="876361" cy="329184"/>
          </a:xfrm>
          <a:prstGeom prst="roundRect">
            <a:avLst>
              <a:gd name="adj" fmla="val 50000"/>
            </a:avLst>
          </a:prstGeom>
          <a:solidFill>
            <a:srgbClr val="13A89E"/>
          </a:solidFill>
          <a:ln w="12700">
            <a:solidFill>
              <a:srgbClr val="13A89E"/>
            </a:solidFill>
            <a:prstDash val="solid"/>
          </a:ln>
        </p:spPr>
      </p:sp>
      <p:sp>
        <p:nvSpPr>
          <p:cNvPr id="50" name="Text 48"/>
          <p:cNvSpPr txBox="1"/>
          <p:nvPr/>
        </p:nvSpPr>
        <p:spPr>
          <a:xfrm>
            <a:off x="1828800" y="5532120"/>
            <a:ext cx="876361"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Resident</a:t>
            </a:r>
            <a:endParaRPr lang="en-US" sz="1100" dirty="0"/>
          </a:p>
        </p:txBody>
      </p:sp>
      <p:sp>
        <p:nvSpPr>
          <p:cNvPr id="51" name="Text 49"/>
          <p:cNvSpPr txBox="1"/>
          <p:nvPr/>
        </p:nvSpPr>
        <p:spPr>
          <a:xfrm>
            <a:off x="3063240" y="5440680"/>
            <a:ext cx="6675120" cy="502920"/>
          </a:xfrm>
          <a:prstGeom prst="rect">
            <a:avLst/>
          </a:prstGeom>
          <a:noFill/>
          <a:ln/>
        </p:spPr>
        <p:txBody>
          <a:bodyPr wrap="square" lIns="0" tIns="0" rIns="0" bIns="0" rtlCol="0" anchor="ctr"/>
          <a:lstStyle/>
          <a:p>
            <a:pPr indent="0" marL="0">
              <a:buNone/>
            </a:pPr>
            <a:r>
              <a:rPr lang="en-US" sz="1300" dirty="0">
                <a:solidFill>
                  <a:srgbClr val="0B2135"/>
                </a:solidFill>
                <a:latin typeface="Calibri" pitchFamily="34" charset="0"/>
                <a:ea typeface="Calibri" pitchFamily="34" charset="-122"/>
                <a:cs typeface="Calibri" pitchFamily="34" charset="-120"/>
              </a:rPr>
              <a:t>Residents open the dashboard: issue resolved, money spent, notice received.</a:t>
            </a:r>
            <a:endParaRPr lang="en-US" sz="1300" dirty="0"/>
          </a:p>
        </p:txBody>
      </p:sp>
      <p:sp>
        <p:nvSpPr>
          <p:cNvPr id="52" name="module-chip"/>
          <p:cNvSpPr/>
          <p:nvPr/>
        </p:nvSpPr>
        <p:spPr>
          <a:xfrm>
            <a:off x="9921240" y="5532120"/>
            <a:ext cx="1737360" cy="329184"/>
          </a:xfrm>
          <a:prstGeom prst="roundRect">
            <a:avLst>
              <a:gd name="adj" fmla="val 50000"/>
            </a:avLst>
          </a:prstGeom>
          <a:solidFill>
            <a:srgbClr val="F1F7F7"/>
          </a:solidFill>
          <a:ln w="12700">
            <a:solidFill>
              <a:srgbClr val="13A89E"/>
            </a:solidFill>
            <a:prstDash val="solid"/>
          </a:ln>
        </p:spPr>
      </p:sp>
      <p:sp>
        <p:nvSpPr>
          <p:cNvPr id="53" name="Text 51"/>
          <p:cNvSpPr txBox="1"/>
          <p:nvPr/>
        </p:nvSpPr>
        <p:spPr>
          <a:xfrm>
            <a:off x="9921240" y="5532120"/>
            <a:ext cx="1737360" cy="329184"/>
          </a:xfrm>
          <a:prstGeom prst="rect">
            <a:avLst/>
          </a:prstGeom>
          <a:noFill/>
          <a:ln/>
        </p:spPr>
        <p:txBody>
          <a:bodyPr wrap="square" lIns="0" tIns="0" rIns="0" bIns="0" rtlCol="0" anchor="ctr"/>
          <a:lstStyle/>
          <a:p>
            <a:pPr algn="ctr" indent="0" marL="0">
              <a:buNone/>
            </a:pPr>
            <a:r>
              <a:rPr lang="en-US" sz="1100" b="1" dirty="0">
                <a:solidFill>
                  <a:srgbClr val="0E7C76"/>
                </a:solidFill>
                <a:latin typeface="Calibri" pitchFamily="34" charset="0"/>
                <a:ea typeface="Calibri" pitchFamily="34" charset="-122"/>
                <a:cs typeface="Calibri" pitchFamily="34" charset="-120"/>
              </a:rPr>
              <a:t>Dashboard</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hero-panel"/>
          <p:cNvSpPr/>
          <p:nvPr/>
        </p:nvSpPr>
        <p:spPr>
          <a:xfrm>
            <a:off x="6400800" y="0"/>
            <a:ext cx="5790895" cy="6858000"/>
          </a:xfrm>
          <a:prstGeom prst="rect">
            <a:avLst/>
          </a:prstGeom>
          <a:solidFill>
            <a:srgbClr val="E6F4F2"/>
          </a:solidFill>
          <a:ln w="12700">
            <a:solidFill>
              <a:srgbClr val="E6F4F2"/>
            </a:solidFill>
            <a:prstDash val="solid"/>
          </a:ln>
        </p:spPr>
      </p:sp>
      <p:pic>
        <p:nvPicPr>
          <p:cNvPr id="3" name="hero" descr="img/hero.png">    </p:cNvPr>
          <p:cNvPicPr>
            <a:picLocks noChangeAspect="1"/>
          </p:cNvPicPr>
          <p:nvPr/>
        </p:nvPicPr>
        <p:blipFill>
          <a:blip r:embed="rId1"/>
          <a:stretch>
            <a:fillRect/>
          </a:stretch>
        </p:blipFill>
        <p:spPr>
          <a:xfrm>
            <a:off x="6583680" y="1691640"/>
            <a:ext cx="5440680" cy="4760595"/>
          </a:xfrm>
          <a:prstGeom prst="rect">
            <a:avLst/>
          </a:prstGeom>
        </p:spPr>
      </p:pic>
      <p:sp>
        <p:nvSpPr>
          <p:cNvPr id="4" name="Text 1"/>
          <p:cNvSpPr txBox="1"/>
          <p:nvPr/>
        </p:nvSpPr>
        <p:spPr>
          <a:xfrm>
            <a:off x="640080" y="1737360"/>
            <a:ext cx="5486400" cy="1645920"/>
          </a:xfrm>
          <a:prstGeom prst="rect">
            <a:avLst/>
          </a:prstGeom>
          <a:noFill/>
          <a:ln/>
        </p:spPr>
        <p:txBody>
          <a:bodyPr wrap="square" lIns="0" tIns="0" rIns="0" bIns="0" rtlCol="0" anchor="b"/>
          <a:lstStyle/>
          <a:p>
            <a:pPr indent="0" marL="0">
              <a:buNone/>
            </a:pPr>
            <a:r>
              <a:rPr lang="en-US" sz="4200" b="1" dirty="0">
                <a:solidFill>
                  <a:srgbClr val="FFFFFF"/>
                </a:solidFill>
                <a:latin typeface="Arial" pitchFamily="34" charset="0"/>
                <a:ea typeface="Arial" pitchFamily="34" charset="-122"/>
                <a:cs typeface="Arial" pitchFamily="34" charset="-120"/>
              </a:rPr>
              <a:t>Transparency builds trust.</a:t>
            </a:r>
            <a:endParaRPr lang="en-US" sz="4200" dirty="0"/>
          </a:p>
        </p:txBody>
      </p:sp>
      <p:sp>
        <p:nvSpPr>
          <p:cNvPr id="5" name="Text 2"/>
          <p:cNvSpPr txBox="1"/>
          <p:nvPr/>
        </p:nvSpPr>
        <p:spPr>
          <a:xfrm>
            <a:off x="640080" y="3566160"/>
            <a:ext cx="5303520" cy="1097280"/>
          </a:xfrm>
          <a:prstGeom prst="rect">
            <a:avLst/>
          </a:prstGeom>
          <a:noFill/>
          <a:ln/>
        </p:spPr>
        <p:txBody>
          <a:bodyPr wrap="square" lIns="0" tIns="0" rIns="0" bIns="0" rtlCol="0" anchor="t"/>
          <a:lstStyle/>
          <a:p>
            <a:pPr indent="0" marL="0">
              <a:buNone/>
            </a:pPr>
            <a:r>
              <a:rPr lang="en-US" sz="1600" dirty="0">
                <a:solidFill>
                  <a:srgbClr val="C5D6DF"/>
                </a:solidFill>
                <a:latin typeface="Calibri" pitchFamily="34" charset="0"/>
                <a:ea typeface="Calibri" pitchFamily="34" charset="-122"/>
                <a:cs typeface="Calibri" pitchFamily="34" charset="-120"/>
              </a:rPr>
              <a:t>15 modules, 4 roles, one shared record. When residents, volunteers, guards and admins all see the same facts, communities run safer and fairer.</a:t>
            </a:r>
            <a:endParaRPr lang="en-US" sz="1600" dirty="0"/>
          </a:p>
        </p:txBody>
      </p:sp>
      <p:sp>
        <p:nvSpPr>
          <p:cNvPr id="6" name="Text 3"/>
          <p:cNvSpPr txBox="1"/>
          <p:nvPr/>
        </p:nvSpPr>
        <p:spPr>
          <a:xfrm>
            <a:off x="640080" y="5120640"/>
            <a:ext cx="5486400" cy="457200"/>
          </a:xfrm>
          <a:prstGeom prst="rect">
            <a:avLst/>
          </a:prstGeom>
          <a:noFill/>
          <a:ln/>
        </p:spPr>
        <p:txBody>
          <a:bodyPr wrap="square" lIns="0" tIns="0" rIns="0" bIns="0" rtlCol="0" anchor="t"/>
          <a:lstStyle/>
          <a:p>
            <a:pPr indent="0" marL="0">
              <a:buNone/>
            </a:pPr>
            <a:r>
              <a:rPr lang="en-US" sz="2000" b="1" dirty="0">
                <a:solidFill>
                  <a:srgbClr val="F4B942"/>
                </a:solidFill>
                <a:latin typeface="Calibri" pitchFamily="34" charset="0"/>
                <a:ea typeface="Calibri" pitchFamily="34" charset="-122"/>
                <a:cs typeface="Calibri" pitchFamily="34" charset="-120"/>
              </a:rPr>
              <a:t>Thank you  ·  Questions?</a:t>
            </a:r>
            <a:endParaRPr lang="en-US" sz="2000" dirty="0"/>
          </a:p>
        </p:txBody>
      </p:sp>
    </p:spTree>
  </p:cSld>
  <p:clrMapOvr>
    <a:masterClrMapping/>
  </p:clrMapOvr>
</p:sld>
</file>

<file path=ppt/theme/theme1.xml><?xml version="1.0" encoding="utf-8"?>
<a:theme xmlns:a="http://schemas.openxmlformats.org/drawingml/2006/main" name="SecureComm">
  <a:themeElements>
    <a:clrScheme name="SecureComm">
      <a:dk1>
        <a:srgbClr val="0B2135"/>
      </a:dk1>
      <a:lt1>
        <a:srgbClr val="FFFFFF"/>
      </a:lt1>
      <a:dk2>
        <a:srgbClr val="16384F"/>
      </a:dk2>
      <a:lt2>
        <a:srgbClr val="F1F7F7"/>
      </a:lt2>
      <a:accent1>
        <a:srgbClr val="13A89E"/>
      </a:accent1>
      <a:accent2>
        <a:srgbClr val="F4B942"/>
      </a:accent2>
      <a:accent3>
        <a:srgbClr val="0E7C76"/>
      </a:accent3>
      <a:accent4>
        <a:srgbClr val="F0605D"/>
      </a:accent4>
      <a:accent5>
        <a:srgbClr val="5B8DEF"/>
      </a:accent5>
      <a:accent6>
        <a:srgbClr val="7FE0D3"/>
      </a:accent6>
      <a:hlink>
        <a:srgbClr val="13A89E"/>
      </a:hlink>
      <a:folHlink>
        <a:srgbClr val="0E7C76"/>
      </a:folHlink>
    </a:clrScheme>
    <a:fontScheme name="SecureCom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GWC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SecureComm — Module-by-module walkthrough</dc:title>
  <dc:subject>PptxGenJS Presentation</dc:subject>
  <dc:creator>Sudeep</dc:creator>
  <cp:lastModifiedBy>Sudeep</cp:lastModifiedBy>
  <cp:revision>1</cp:revision>
  <dcterms:created xsi:type="dcterms:W3CDTF">2026-10-02T09:57:19Z</dcterms:created>
  <dcterms:modified xsi:type="dcterms:W3CDTF">2026-10-02T09:57:19Z</dcterms:modified>
</cp:coreProperties>
</file>