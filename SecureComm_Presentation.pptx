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4c15fb34-8b55-7d3a-8a07-c60d9d29624c}">
          <p14:sldIdLst>
            <p14:sldId id="256"/>
          </p14:sldIdLst>
        </p14:section>
        <p14:section name="Problem &amp; solution" id="{9943e7eb-2143-63f3-410b-291be9dc10b1}">
          <p14:sldIdLst>
            <p14:sldId id="257"/>
            <p14:sldId id="258"/>
          </p14:sldIdLst>
        </p14:section>
        <p14:section name="Roles" id="{42700874-9a68-be28-43f0-e21d7c7a93a3}">
          <p14:sldIdLst>
            <p14:sldId id="259"/>
            <p14:sldId id="260"/>
          </p14:sldIdLst>
        </p14:section>
        <p14:section name="Modules" id="{63761d04-9407-b7d5-9643-2a5fbaa5a722}">
          <p14:sldIdLst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Technology &amp; roadmap" id="{e7d8c66a-6323-2422-5569-cb0976a50017}">
          <p14:sldIdLst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2135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B2135"/>
                </a:solidFill>
                <a:latin typeface="+mn-lt"/>
              </a:rPr>
              <a:t>Expenses by item (demo data, ₹)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Expenses (₹)</c:v>
                </c:pt>
              </c:strCache>
            </c:strRef>
          </c:tx>
          <c:spPr>
            <a:solidFill>
              <a:srgbClr val="13A89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B213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Staff bonus</c:v>
                  </c:pt>
                  <c:pt idx="1">
                    <c:v>Gardening</c:v>
                  </c:pt>
                  <c:pt idx="2">
                    <c:v>Gate repair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25000</c:v>
                </c:pt>
                <c:pt idx="1">
                  <c:v>15000</c:v>
                </c:pt>
                <c:pt idx="2">
                  <c:v>4500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B213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B213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2135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B2135"/>
                </a:solidFill>
                <a:latin typeface="+mn-lt"/>
              </a:rPr>
              <a:t>Sample layout in the prototype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Houses</c:v>
                </c:pt>
              </c:strCache>
            </c:strRef>
          </c:tx>
          <c:spPr>
            <a:solidFill>
              <a:srgbClr val="1638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13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Phase 1</c:v>
                  </c:pt>
                  <c:pt idx="1">
                    <c:v>Phase 2</c:v>
                  </c:pt>
                  <c:pt idx="2">
                    <c:v>Phase 3</c:v>
                  </c:pt>
                  <c:pt idx="3">
                    <c:v>Phase 4</c:v>
                  </c:pt>
                  <c:pt idx="4">
                    <c:v>Phase 5</c:v>
                  </c:pt>
                  <c:pt idx="5">
                    <c:v>Phase 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120</c:v>
                </c:pt>
                <c:pt idx="1">
                  <c:v>85</c:v>
                </c:pt>
                <c:pt idx="2">
                  <c:v>200</c:v>
                </c:pt>
                <c:pt idx="3">
                  <c:v>150</c:v>
                </c:pt>
                <c:pt idx="4">
                  <c:v>110</c:v>
                </c:pt>
                <c:pt idx="5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Residents</c:v>
                </c:pt>
              </c:strCache>
            </c:strRef>
          </c:tx>
          <c:spPr>
            <a:solidFill>
              <a:srgbClr val="13A89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13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Phase 1</c:v>
                  </c:pt>
                  <c:pt idx="1">
                    <c:v>Phase 2</c:v>
                  </c:pt>
                  <c:pt idx="2">
                    <c:v>Phase 3</c:v>
                  </c:pt>
                  <c:pt idx="3">
                    <c:v>Phase 4</c:v>
                  </c:pt>
                  <c:pt idx="4">
                    <c:v>Phase 5</c:v>
                  </c:pt>
                  <c:pt idx="5">
                    <c:v>Phase 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340</c:v>
                </c:pt>
                <c:pt idx="1">
                  <c:v>210</c:v>
                </c:pt>
                <c:pt idx="2">
                  <c:v>600</c:v>
                </c:pt>
                <c:pt idx="3">
                  <c:v>450</c:v>
                </c:pt>
                <c:pt idx="4">
                  <c:v>320</c:v>
                </c:pt>
                <c:pt idx="5">
                  <c:v>250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B213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B213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0B213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SecureComm: a prototype web platform built to make everything happening in a residential community visible to the people who live there, not only to the committee.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everyday questions residents ask that today have no clear answer. The common root cause: information is held by a few people and shared informally.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ideas drive the product: make information visible, make every action accountable, and let residents participate directly.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app has four roles defined in AuthContext. In the prototype a 'Demo' switcher in the header lets you change role live to see how the sidebar and permissions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matrix comes straight from the role list on each sidebar item. Residents still see the important numbers, so transparency is kept while control stays with the right people.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dashboard pulls from the same data store as every module. Savings is calculated automatically as total collection minus total expenses.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Security is the core of SecureComm. Faulty cameras and lights are no longer hidden; they show up on the dashboard for everyone.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visitor lifecycle in the prototype: Pre-approved, Inside, Exited, or Denied. Guards and volunteers handle the gate; residents can pre-approve their guests.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are prototype demo data. The point is that residents see the same collection, dues and expense numbers that the committee sees.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Communication modules replace scattered WhatsApp forwards with a searchable noticeboard and trusted directories.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phase data from the prototype's mock data. The design supports gated layouts with many phases, each with its own volunteers and guards.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prototype the report download buttons and the profile activity are front-end only; they show the intended experience.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 the app is a pure front-end prototype; data lives in localStorage. The service layer is already separated, so it can be swapped for real API calls without rewriting pages. The right panel is a proposal, not built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next steps to move from a clickable prototype to a product a real society can run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core message and open for questions. Offer a live demo using the role switcher.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SecureComm  ·  Community transparency platform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21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B8"/>
                </a:solidFill>
              </a:rPr>
              <a:t>SecureComm  ·  Community transparency platform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8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B21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9-1.png"/><Relationship Id="rId3" Type="http://schemas.openxmlformats.org/officeDocument/2006/relationships/image" Target="../media/image-9-2.png"/><Relationship Id="rId4" Type="http://schemas.openxmlformats.org/officeDocument/2006/relationships/image" Target="../media/image-9-3.png"/><Relationship Id="rId5" Type="http://schemas.openxmlformats.org/officeDocument/2006/relationships/image" Target="../media/image-9-4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panel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</p:sp>
      <p:pic>
        <p:nvPicPr>
          <p:cNvPr id="3" name="hero" descr="img/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691640"/>
            <a:ext cx="5440680" cy="4760595"/>
          </a:xfrm>
          <a:prstGeom prst="rect">
            <a:avLst/>
          </a:prstGeom>
        </p:spPr>
      </p:pic>
      <p:sp>
        <p:nvSpPr>
          <p:cNvPr id="4" name="icon-bg"/>
          <p:cNvSpPr/>
          <p:nvPr/>
        </p:nvSpPr>
        <p:spPr>
          <a:xfrm>
            <a:off x="640080" y="685800"/>
            <a:ext cx="548640" cy="548640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754" y="817474"/>
            <a:ext cx="285293" cy="285293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325880" y="7498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SecureComm</a:t>
            </a:r>
            <a:endParaRPr lang="en-US" sz="20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1828800"/>
            <a:ext cx="5486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transparent window into your residential community</a:t>
            </a:r>
            <a:endParaRPr lang="en-US" sz="38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411480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5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role-based platform that keeps residents, volunteers, security guards and the super admin on the same page — security, gate, money and notices.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6035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walkthrough  ·  Sudeep  ·  October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Residents are often the last to know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548640" y="146304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5E3E3"/>
            </a:solidFill>
            <a:prstDash val="solid"/>
          </a:ln>
          <a:effectLst>
            <a:outerShdw sx="100000" sy="100000" kx="0" ky="0" algn="bl" rotWithShape="0" blurRad="152400" dist="38100" dir="5400000">
              <a:srgbClr val="0B2135">
                <a:alpha val="18000"/>
              </a:srgbClr>
            </a:outerShdw>
          </a:effectLst>
        </p:spPr>
      </p:sp>
      <p:sp>
        <p:nvSpPr>
          <p:cNvPr id="5" name="icon-bg"/>
          <p:cNvSpPr/>
          <p:nvPr/>
        </p:nvSpPr>
        <p:spPr>
          <a:xfrm>
            <a:off x="822960" y="1737360"/>
            <a:ext cx="594360" cy="594360"/>
          </a:xfrm>
          <a:prstGeom prst="ellipse">
            <a:avLst/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1880006"/>
            <a:ext cx="309067" cy="30906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468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my maintenance money go?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9260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and expenses are shared once a year, if at all.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4343400" y="146304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5E3E3"/>
            </a:solidFill>
            <a:prstDash val="solid"/>
          </a:ln>
          <a:effectLst>
            <a:outerShdw sx="100000" sy="100000" kx="0" ky="0" algn="bl" rotWithShape="0" blurRad="152400" dist="38100" dir="5400000">
              <a:srgbClr val="0B2135">
                <a:alpha val="18000"/>
              </a:srgbClr>
            </a:outerShdw>
          </a:effectLst>
        </p:spPr>
      </p:sp>
      <p:sp>
        <p:nvSpPr>
          <p:cNvPr id="10" name="icon-bg"/>
          <p:cNvSpPr/>
          <p:nvPr/>
        </p:nvSpPr>
        <p:spPr>
          <a:xfrm>
            <a:off x="4617720" y="1737360"/>
            <a:ext cx="594360" cy="594360"/>
          </a:xfrm>
          <a:prstGeom prst="ellipse">
            <a:avLst/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0366" y="1880006"/>
            <a:ext cx="309067" cy="30906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7720" y="2468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anyone act on my complaint?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29260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get lost in WhatsApp groups with no owner or status.</a:t>
            </a:r>
            <a:endParaRPr lang="en-US" sz="1300" dirty="0"/>
          </a:p>
        </p:txBody>
      </p:sp>
      <p:sp>
        <p:nvSpPr>
          <p:cNvPr id="14" name="card"/>
          <p:cNvSpPr/>
          <p:nvPr/>
        </p:nvSpPr>
        <p:spPr>
          <a:xfrm>
            <a:off x="548640" y="384048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5E3E3"/>
            </a:solidFill>
            <a:prstDash val="solid"/>
          </a:ln>
          <a:effectLst>
            <a:outerShdw sx="100000" sy="100000" kx="0" ky="0" algn="bl" rotWithShape="0" blurRad="152400" dist="38100" dir="5400000">
              <a:srgbClr val="0B2135">
                <a:alpha val="18000"/>
              </a:srgbClr>
            </a:outerShdw>
          </a:effectLst>
        </p:spPr>
      </p:sp>
      <p:sp>
        <p:nvSpPr>
          <p:cNvPr id="15" name="icon-bg"/>
          <p:cNvSpPr/>
          <p:nvPr/>
        </p:nvSpPr>
        <p:spPr>
          <a:xfrm>
            <a:off x="822960" y="4114800"/>
            <a:ext cx="594360" cy="594360"/>
          </a:xfrm>
          <a:prstGeom prst="ellipse">
            <a:avLst/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pic>
        <p:nvPicPr>
          <p:cNvPr id="16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4257446"/>
            <a:ext cx="309067" cy="30906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2960" y="4846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cameras and lights working?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22960" y="53035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knows how many CCTVs or street lights are faulty.</a:t>
            </a:r>
            <a:endParaRPr lang="en-US" sz="1300" dirty="0"/>
          </a:p>
        </p:txBody>
      </p:sp>
      <p:sp>
        <p:nvSpPr>
          <p:cNvPr id="19" name="card"/>
          <p:cNvSpPr/>
          <p:nvPr/>
        </p:nvSpPr>
        <p:spPr>
          <a:xfrm>
            <a:off x="4343400" y="384048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5E3E3"/>
            </a:solidFill>
            <a:prstDash val="solid"/>
          </a:ln>
          <a:effectLst>
            <a:outerShdw sx="100000" sy="100000" kx="0" ky="0" algn="bl" rotWithShape="0" blurRad="152400" dist="38100" dir="5400000">
              <a:srgbClr val="0B2135">
                <a:alpha val="18000"/>
              </a:srgbClr>
            </a:outerShdw>
          </a:effectLst>
        </p:spPr>
      </p:sp>
      <p:sp>
        <p:nvSpPr>
          <p:cNvPr id="20" name="icon-bg"/>
          <p:cNvSpPr/>
          <p:nvPr/>
        </p:nvSpPr>
        <p:spPr>
          <a:xfrm>
            <a:off x="4617720" y="4114800"/>
            <a:ext cx="594360" cy="594360"/>
          </a:xfrm>
          <a:prstGeom prst="ellipse">
            <a:avLst/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pic>
        <p:nvPicPr>
          <p:cNvPr id="21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0366" y="4257446"/>
            <a:ext cx="309067" cy="30906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4617720" y="4846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came through the gate today?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4617720" y="53035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registers at the gate are hard to check or audit.</a:t>
            </a:r>
            <a:endParaRPr lang="en-US" sz="1300" dirty="0"/>
          </a:p>
        </p:txBody>
      </p:sp>
      <p:sp>
        <p:nvSpPr>
          <p:cNvPr id="24" name="quote-panel"/>
          <p:cNvSpPr/>
          <p:nvPr/>
        </p:nvSpPr>
        <p:spPr>
          <a:xfrm>
            <a:off x="8229600" y="1463040"/>
            <a:ext cx="3410712" cy="4480560"/>
          </a:xfrm>
          <a:prstGeom prst="roundRect">
            <a:avLst>
              <a:gd name="adj" fmla="val 4021"/>
            </a:avLst>
          </a:prstGeom>
          <a:solidFill>
            <a:srgbClr val="0B2135"/>
          </a:solidFill>
          <a:ln w="12700">
            <a:solidFill>
              <a:srgbClr val="0B2135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8549640" y="1600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7200" dirty="0"/>
          </a:p>
        </p:txBody>
      </p:sp>
      <p:sp>
        <p:nvSpPr>
          <p:cNvPr id="26" name="Text 20"/>
          <p:cNvSpPr txBox="1"/>
          <p:nvPr/>
        </p:nvSpPr>
        <p:spPr>
          <a:xfrm>
            <a:off x="8549640" y="2560320"/>
            <a:ext cx="2834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breaks down when information sits with only a few people.</a:t>
            </a:r>
            <a:endParaRPr lang="en-US" sz="2200" dirty="0"/>
          </a:p>
        </p:txBody>
      </p:sp>
      <p:sp>
        <p:nvSpPr>
          <p:cNvPr id="27" name="Text 21"/>
          <p:cNvSpPr txBox="1"/>
          <p:nvPr/>
        </p:nvSpPr>
        <p:spPr>
          <a:xfrm>
            <a:off x="8549640" y="48463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5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SecureComm puts the same facts in front of every role.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shared source of truth</a:t>
            </a:r>
            <a:endParaRPr lang="en-US" sz="3200" dirty="0"/>
          </a:p>
        </p:txBody>
      </p:sp>
      <p:sp>
        <p:nvSpPr>
          <p:cNvPr id="4" name="icon-bg"/>
          <p:cNvSpPr/>
          <p:nvPr/>
        </p:nvSpPr>
        <p:spPr>
          <a:xfrm>
            <a:off x="548640" y="1508760"/>
            <a:ext cx="731520" cy="731520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205" y="1684325"/>
            <a:ext cx="380390" cy="38039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49047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it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192024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status of security issues, CCTV, street lights, finances and notices — for every role.</a:t>
            </a:r>
            <a:endParaRPr lang="en-US" sz="1350" dirty="0"/>
          </a:p>
        </p:txBody>
      </p:sp>
      <p:sp>
        <p:nvSpPr>
          <p:cNvPr id="8" name="icon-bg"/>
          <p:cNvSpPr/>
          <p:nvPr/>
        </p:nvSpPr>
        <p:spPr>
          <a:xfrm>
            <a:off x="548640" y="3017520"/>
            <a:ext cx="731520" cy="731520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pic>
        <p:nvPicPr>
          <p:cNvPr id="9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205" y="3193085"/>
            <a:ext cx="380390" cy="38039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08760" y="299923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it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1508760" y="342900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issue, patrol round, payment and expense is logged with status, date and who recorded it.</a:t>
            </a:r>
            <a:endParaRPr lang="en-US" sz="1350" dirty="0"/>
          </a:p>
        </p:txBody>
      </p:sp>
      <p:sp>
        <p:nvSpPr>
          <p:cNvPr id="12" name="icon-bg"/>
          <p:cNvSpPr/>
          <p:nvPr/>
        </p:nvSpPr>
        <p:spPr>
          <a:xfrm>
            <a:off x="548640" y="4526280"/>
            <a:ext cx="731520" cy="731520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205" y="4701845"/>
            <a:ext cx="380390" cy="38039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08760" y="450799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on it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1508760" y="493776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report issues, check dues and find verified service providers themselves.</a:t>
            </a:r>
            <a:endParaRPr lang="en-US" sz="1350" dirty="0"/>
          </a:p>
        </p:txBody>
      </p:sp>
      <p:pic>
        <p:nvPicPr>
          <p:cNvPr id="16" name="screenshot" descr="img/dash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1600200"/>
            <a:ext cx="6400800" cy="3451098"/>
          </a:xfrm>
          <a:prstGeom prst="rect">
            <a:avLst/>
          </a:prstGeom>
          <a:effectLst>
            <a:outerShdw sx="100000" sy="100000" kx="0" ky="0" algn="bl" rotWithShape="0" blurRad="228600" dist="50800" dir="5400000">
              <a:srgbClr val="0B2135">
                <a:alpha val="25000"/>
              </a:srgbClr>
            </a:outerShdw>
          </a:effectLst>
        </p:spPr>
      </p:pic>
      <p:sp>
        <p:nvSpPr>
          <p:cNvPr id="17" name="Text 11"/>
          <p:cNvSpPr txBox="1"/>
          <p:nvPr/>
        </p:nvSpPr>
        <p:spPr>
          <a:xfrm>
            <a:off x="5257800" y="51663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community dashboard, as seen by the Super Admin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IT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roles, one platform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548640" y="1463040"/>
            <a:ext cx="2606040" cy="46634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5E3E3"/>
            </a:solidFill>
            <a:prstDash val="solid"/>
          </a:ln>
          <a:effectLst>
            <a:outerShdw sx="100000" sy="100000" kx="0" ky="0" algn="bl" rotWithShape="0" blurRad="152400" dist="38100" dir="5400000">
              <a:srgbClr val="0B2135">
                <a:alpha val="18000"/>
              </a:srgbClr>
            </a:outerShdw>
          </a:effectLst>
        </p:spPr>
      </p:sp>
      <p:sp>
        <p:nvSpPr>
          <p:cNvPr id="5" name="icon-bg"/>
          <p:cNvSpPr/>
          <p:nvPr/>
        </p:nvSpPr>
        <p:spPr>
          <a:xfrm>
            <a:off x="822960" y="1737360"/>
            <a:ext cx="685800" cy="685800"/>
          </a:xfrm>
          <a:prstGeom prst="ellipse">
            <a:avLst/>
          </a:prstGeom>
          <a:solidFill>
            <a:srgbClr val="0B2135"/>
          </a:solidFill>
          <a:ln w="12700">
            <a:solidFill>
              <a:srgbClr val="0B2135"/>
            </a:solidFill>
            <a:prstDash val="solid"/>
          </a:ln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901952"/>
            <a:ext cx="356616" cy="356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60604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Admin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3375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0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whole community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840480"/>
            <a:ext cx="2148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Configures community settings and gate access rules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volunteers, guards and residents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all 6 phases and 2 sectors</a:t>
            </a:r>
            <a:endParaRPr lang="en-US" sz="1300" dirty="0"/>
          </a:p>
        </p:txBody>
      </p:sp>
      <p:sp>
        <p:nvSpPr>
          <p:cNvPr id="10" name="card"/>
          <p:cNvSpPr/>
          <p:nvPr/>
        </p:nvSpPr>
        <p:spPr>
          <a:xfrm>
            <a:off x="3364992" y="1463040"/>
            <a:ext cx="2606040" cy="46634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5E3E3"/>
            </a:solidFill>
            <a:prstDash val="solid"/>
          </a:ln>
          <a:effectLst>
            <a:outerShdw sx="100000" sy="100000" kx="0" ky="0" algn="bl" rotWithShape="0" blurRad="152400" dist="38100" dir="5400000">
              <a:srgbClr val="0B2135">
                <a:alpha val="18000"/>
              </a:srgbClr>
            </a:outerShdw>
          </a:effectLst>
        </p:spPr>
      </p:sp>
      <p:sp>
        <p:nvSpPr>
          <p:cNvPr id="11" name="icon-bg"/>
          <p:cNvSpPr/>
          <p:nvPr/>
        </p:nvSpPr>
        <p:spPr>
          <a:xfrm>
            <a:off x="3639312" y="1737360"/>
            <a:ext cx="685800" cy="685800"/>
          </a:xfrm>
          <a:prstGeom prst="ellipse">
            <a:avLst/>
          </a:prstGeom>
          <a:solidFill>
            <a:srgbClr val="0E7C76"/>
          </a:solidFill>
          <a:ln w="12700">
            <a:solidFill>
              <a:srgbClr val="0E7C76"/>
            </a:solidFill>
            <a:prstDash val="solid"/>
          </a:ln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3904" y="1901952"/>
            <a:ext cx="356616" cy="35661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39312" y="260604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Volunteer / Superintendent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3639312" y="33375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0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day-to-day operations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3639312" y="3840480"/>
            <a:ext cx="2148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payments and logs expenses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Broadcasts announcements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CCTV, street lights and committee</a:t>
            </a:r>
            <a:endParaRPr lang="en-US" sz="1300" dirty="0"/>
          </a:p>
        </p:txBody>
      </p:sp>
      <p:sp>
        <p:nvSpPr>
          <p:cNvPr id="16" name="card"/>
          <p:cNvSpPr/>
          <p:nvPr/>
        </p:nvSpPr>
        <p:spPr>
          <a:xfrm>
            <a:off x="6181344" y="1463040"/>
            <a:ext cx="2606040" cy="46634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5E3E3"/>
            </a:solidFill>
            <a:prstDash val="solid"/>
          </a:ln>
          <a:effectLst>
            <a:outerShdw sx="100000" sy="100000" kx="0" ky="0" algn="bl" rotWithShape="0" blurRad="152400" dist="38100" dir="5400000">
              <a:srgbClr val="0B2135">
                <a:alpha val="18000"/>
              </a:srgbClr>
            </a:outerShdw>
          </a:effectLst>
        </p:spPr>
      </p:sp>
      <p:sp>
        <p:nvSpPr>
          <p:cNvPr id="17" name="icon-bg"/>
          <p:cNvSpPr/>
          <p:nvPr/>
        </p:nvSpPr>
        <p:spPr>
          <a:xfrm>
            <a:off x="6455664" y="1737360"/>
            <a:ext cx="685800" cy="685800"/>
          </a:xfrm>
          <a:prstGeom prst="ellipse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</p:sp>
      <p:pic>
        <p:nvPicPr>
          <p:cNvPr id="18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256" y="1901952"/>
            <a:ext cx="356616" cy="35661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55664" y="260604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Guard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6455664" y="33375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C98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after the gate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6455664" y="3840480"/>
            <a:ext cx="2148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visitor entry and exit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vehicles at the gate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patrol rounds on Day or Night shift</a:t>
            </a:r>
            <a:endParaRPr lang="en-US" sz="1300" dirty="0"/>
          </a:p>
        </p:txBody>
      </p:sp>
      <p:sp>
        <p:nvSpPr>
          <p:cNvPr id="22" name="card"/>
          <p:cNvSpPr/>
          <p:nvPr/>
        </p:nvSpPr>
        <p:spPr>
          <a:xfrm>
            <a:off x="8997696" y="1463040"/>
            <a:ext cx="2606040" cy="46634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5E3E3"/>
            </a:solidFill>
            <a:prstDash val="solid"/>
          </a:ln>
          <a:effectLst>
            <a:outerShdw sx="100000" sy="100000" kx="0" ky="0" algn="bl" rotWithShape="0" blurRad="152400" dist="38100" dir="5400000">
              <a:srgbClr val="0B2135">
                <a:alpha val="18000"/>
              </a:srgbClr>
            </a:outerShdw>
          </a:effectLst>
        </p:spPr>
      </p:sp>
      <p:sp>
        <p:nvSpPr>
          <p:cNvPr id="23" name="icon-bg"/>
          <p:cNvSpPr/>
          <p:nvPr/>
        </p:nvSpPr>
        <p:spPr>
          <a:xfrm>
            <a:off x="9272016" y="1737360"/>
            <a:ext cx="685800" cy="685800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pic>
        <p:nvPicPr>
          <p:cNvPr id="24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08" y="1901952"/>
            <a:ext cx="356616" cy="356616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272016" y="260604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Member</a:t>
            </a:r>
            <a:endParaRPr lang="en-US" sz="1700" dirty="0"/>
          </a:p>
        </p:txBody>
      </p:sp>
      <p:sp>
        <p:nvSpPr>
          <p:cNvPr id="26" name="Text 20"/>
          <p:cNvSpPr txBox="1"/>
          <p:nvPr/>
        </p:nvSpPr>
        <p:spPr>
          <a:xfrm>
            <a:off x="9272016" y="33375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everything that matters</a:t>
            </a:r>
            <a:endParaRPr lang="en-US" sz="1250" dirty="0"/>
          </a:p>
        </p:txBody>
      </p:sp>
      <p:sp>
        <p:nvSpPr>
          <p:cNvPr id="27" name="Text 21"/>
          <p:cNvSpPr txBox="1"/>
          <p:nvPr/>
        </p:nvSpPr>
        <p:spPr>
          <a:xfrm>
            <a:off x="9272016" y="3840480"/>
            <a:ext cx="2148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security issues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CCTV health and payment status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notices and finds service providers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role sees exactly what it needs</a:t>
            </a:r>
            <a:endParaRPr lang="en-US" sz="3200" dirty="0"/>
          </a:p>
        </p:txBody>
      </p:sp>
      <p:graphicFrame>
        <p:nvGraphicFramePr>
          <p:cNvPr id="6" name="access-matrix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69494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188720"/>
                <a:gridCol w="1188720"/>
                <a:gridCol w="1188720"/>
                <a:gridCol w="1188720"/>
              </a:tblGrid>
              <a:tr h="2944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18288" marB="18288" anchor="ctr">
                    <a:lnL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1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 Admin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18288" marB="18288" anchor="ctr">
                    <a:lnL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1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Volunteer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18288" marB="18288" anchor="ctr">
                    <a:lnL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1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18288" marB="18288" anchor="ctr">
                    <a:lnL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1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18288" marB="18288" anchor="ctr">
                    <a:lnL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135"/>
                    </a:solidFill>
                  </a:tcPr>
                </a:tc>
              </a:tr>
              <a:tr h="2944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18288" marB="18288" anchor="ctr">
                    <a:lnL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7C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18288" marB="18288" anchor="ctr">
                    <a:lnL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7C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18288" marB="18288" anchor="ctr">
                    <a:lnL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7C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18288" marB="18288" anchor="ctr">
                    <a:lnL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7C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18288" marB="18288" anchor="ctr">
                    <a:lnL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7"/>
                    </a:solidFill>
                  </a:tcPr>
                </a:tc>
              </a:tr>
              <a:tr h="2944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Issues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18288" marB="18288" anchor="ctr">
                    <a:lnL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7C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18288" marB="18288" anchor="ctr">
                    <a:lnL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7C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18288" marB="18288" anchor="ctr">
                    <a:lnL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7C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18288" marB="18288" anchor="ctr">
                    <a:lnL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7C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18288" marB="18288" anchor="ctr">
                    <a:lnL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44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CCTV Cameras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18288" marB="18288" anchor="ctr">
                    <a:lnL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7C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18288" marB="18288" anchor="ctr">
                    <a:lnL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7C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18288" marB="18288" anchor="ctr">
                    <a:lnL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5C2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18288" marB="18288" anchor="ctr">
                    <a:lnL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7C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18288" marB="18288" anchor="ctr">
                    <a:lnL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7"/>
                    </a:solidFill>
                  </a:tcPr>
                </a:tc>
              </a:tr>
              <a:tr h="2944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Street Lights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18288" marB="18288" anchor="ctr">
                    <a:lnL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7C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18288" marB="18288" anchor="ctr">
                    <a:lnL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7C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18288" marB="18288" anchor="ctr">
                    <a:lnL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5C2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18288" marB="18288" anchor="ctr">
                    <a:lnL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5C2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18288" marB="18288" anchor="ctr">
                    <a:lnL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44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Visitors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18288" marB="18288" anchor="ctr">
                    <a:lnL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7C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18288" marB="18288" anchor="ctr">
                    <a:lnL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7C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18288" marB="18288" anchor="ctr">
                    <a:lnL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7C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18288" marB="18288" anchor="ctr">
                    <a:lnL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5C2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18288" marB="18288" anchor="ctr">
                    <a:lnL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7"/>
                    </a:solidFill>
                  </a:tcPr>
                </a:tc>
              </a:tr>
              <a:tr h="2944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18288" marB="18288" anchor="ctr">
                    <a:lnL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7C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18288" marB="18288" anchor="ctr">
                    <a:lnL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7C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18288" marB="18288" anchor="ctr">
                    <a:lnL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7C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18288" marB="18288" anchor="ctr">
                    <a:lnL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5C2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18288" marB="18288" anchor="ctr">
                    <a:lnL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44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 Rounds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18288" marB="18288" anchor="ctr">
                    <a:lnL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7C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18288" marB="18288" anchor="ctr">
                    <a:lnL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7C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18288" marB="18288" anchor="ctr">
                    <a:lnL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7C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18288" marB="18288" anchor="ctr">
                    <a:lnL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5C2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18288" marB="18288" anchor="ctr">
                    <a:lnL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7"/>
                    </a:solidFill>
                  </a:tcPr>
                </a:tc>
              </a:tr>
              <a:tr h="2944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Association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18288" marB="18288" anchor="ctr">
                    <a:lnL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7C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18288" marB="18288" anchor="ctr">
                    <a:lnL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7C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18288" marB="18288" anchor="ctr">
                    <a:lnL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5C2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18288" marB="18288" anchor="ctr">
                    <a:lnL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5C2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18288" marB="18288" anchor="ctr">
                    <a:lnL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44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18288" marB="18288" anchor="ctr">
                    <a:lnL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7C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18288" marB="18288" anchor="ctr">
                    <a:lnL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7C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18288" marB="18288" anchor="ctr">
                    <a:lnL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5C2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18288" marB="18288" anchor="ctr">
                    <a:lnL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7C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18288" marB="18288" anchor="ctr">
                    <a:lnL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7"/>
                    </a:solidFill>
                  </a:tcPr>
                </a:tc>
              </a:tr>
              <a:tr h="2944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Expenses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18288" marB="18288" anchor="ctr">
                    <a:lnL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7C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18288" marB="18288" anchor="ctr">
                    <a:lnL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7C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18288" marB="18288" anchor="ctr">
                    <a:lnL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5C2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18288" marB="18288" anchor="ctr">
                    <a:lnL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5C2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18288" marB="18288" anchor="ctr">
                    <a:lnL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44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18288" marB="18288" anchor="ctr">
                    <a:lnL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7C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18288" marB="18288" anchor="ctr">
                    <a:lnL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7C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18288" marB="18288" anchor="ctr">
                    <a:lnL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7C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18288" marB="18288" anchor="ctr">
                    <a:lnL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7C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18288" marB="18288" anchor="ctr">
                    <a:lnL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7"/>
                    </a:solidFill>
                  </a:tcPr>
                </a:tc>
              </a:tr>
              <a:tr h="2944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Announcements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18288" marB="18288" anchor="ctr">
                    <a:lnL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7C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18288" marB="18288" anchor="ctr">
                    <a:lnL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7C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18288" marB="18288" anchor="ctr">
                    <a:lnL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7C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18288" marB="18288" anchor="ctr">
                    <a:lnL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7C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18288" marB="18288" anchor="ctr">
                    <a:lnL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44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18288" marB="18288" anchor="ctr">
                    <a:lnL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7C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18288" marB="18288" anchor="ctr">
                    <a:lnL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7C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18288" marB="18288" anchor="ctr">
                    <a:lnL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5C2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18288" marB="18288" anchor="ctr">
                    <a:lnL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5C2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18288" marB="18288" anchor="ctr">
                    <a:lnL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7"/>
                    </a:solidFill>
                  </a:tcPr>
                </a:tc>
              </a:tr>
              <a:tr h="2944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18288" marB="18288" anchor="ctr">
                    <a:lnL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7C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18288" marB="18288" anchor="ctr">
                    <a:lnL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5C2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18288" marB="18288" anchor="ctr">
                    <a:lnL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5C2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18288" marB="18288" anchor="ctr">
                    <a:lnL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5C2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18288" marB="18288" anchor="ctr">
                    <a:lnL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44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18288" marB="18288" anchor="ctr">
                    <a:lnL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7C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18288" marB="18288" anchor="ctr">
                    <a:lnL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5C2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18288" marB="18288" anchor="ctr">
                    <a:lnL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5C2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18288" marB="18288" anchor="ctr">
                    <a:lnL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5C2C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18288" marB="18288" anchor="ctr">
                    <a:lnL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00100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visible in the sidebar</a:t>
            </a:r>
            <a:endParaRPr lang="en-US" sz="1400" dirty="0"/>
          </a:p>
        </p:txBody>
      </p:sp>
      <p:sp>
        <p:nvSpPr>
          <p:cNvPr id="6" name="count-card"/>
          <p:cNvSpPr/>
          <p:nvPr/>
        </p:nvSpPr>
        <p:spPr>
          <a:xfrm>
            <a:off x="8001000" y="1783080"/>
            <a:ext cx="1691640" cy="1234440"/>
          </a:xfrm>
          <a:prstGeom prst="roundRect">
            <a:avLst>
              <a:gd name="adj" fmla="val 8889"/>
            </a:avLst>
          </a:prstGeom>
          <a:solidFill>
            <a:srgbClr val="0B2135"/>
          </a:solidFill>
          <a:ln w="9525">
            <a:solidFill>
              <a:srgbClr val="0B213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183880" y="189280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8183880" y="2560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</a:t>
            </a:r>
            <a:endParaRPr lang="en-US" sz="1200" dirty="0"/>
          </a:p>
        </p:txBody>
      </p:sp>
      <p:sp>
        <p:nvSpPr>
          <p:cNvPr id="9" name="count-card"/>
          <p:cNvSpPr/>
          <p:nvPr/>
        </p:nvSpPr>
        <p:spPr>
          <a:xfrm>
            <a:off x="9875520" y="1783080"/>
            <a:ext cx="1691640" cy="1234440"/>
          </a:xfrm>
          <a:prstGeom prst="roundRect">
            <a:avLst>
              <a:gd name="adj" fmla="val 8889"/>
            </a:avLst>
          </a:prstGeom>
          <a:solidFill>
            <a:srgbClr val="E6F4F2"/>
          </a:solidFill>
          <a:ln w="9525">
            <a:solidFill>
              <a:srgbClr val="E6F4F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058400" y="189280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E7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36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0" y="2560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</a:t>
            </a:r>
            <a:endParaRPr lang="en-US" sz="1200" dirty="0"/>
          </a:p>
        </p:txBody>
      </p:sp>
      <p:sp>
        <p:nvSpPr>
          <p:cNvPr id="12" name="count-card"/>
          <p:cNvSpPr/>
          <p:nvPr/>
        </p:nvSpPr>
        <p:spPr>
          <a:xfrm>
            <a:off x="8001000" y="3200400"/>
            <a:ext cx="1691640" cy="1234440"/>
          </a:xfrm>
          <a:prstGeom prst="roundRect">
            <a:avLst>
              <a:gd name="adj" fmla="val 8889"/>
            </a:avLst>
          </a:prstGeom>
          <a:solidFill>
            <a:srgbClr val="E6F4F2"/>
          </a:solidFill>
          <a:ln w="9525">
            <a:solidFill>
              <a:srgbClr val="E6F4F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183880" y="331012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E7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3600" dirty="0"/>
          </a:p>
        </p:txBody>
      </p:sp>
      <p:sp>
        <p:nvSpPr>
          <p:cNvPr id="14" name="Text 11"/>
          <p:cNvSpPr txBox="1"/>
          <p:nvPr/>
        </p:nvSpPr>
        <p:spPr>
          <a:xfrm>
            <a:off x="8183880" y="39776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Guard</a:t>
            </a:r>
            <a:endParaRPr lang="en-US" sz="1200" dirty="0"/>
          </a:p>
        </p:txBody>
      </p:sp>
      <p:sp>
        <p:nvSpPr>
          <p:cNvPr id="15" name="count-card"/>
          <p:cNvSpPr/>
          <p:nvPr/>
        </p:nvSpPr>
        <p:spPr>
          <a:xfrm>
            <a:off x="9875520" y="3200400"/>
            <a:ext cx="1691640" cy="1234440"/>
          </a:xfrm>
          <a:prstGeom prst="roundRect">
            <a:avLst>
              <a:gd name="adj" fmla="val 8889"/>
            </a:avLst>
          </a:prstGeom>
          <a:solidFill>
            <a:srgbClr val="E6F4F2"/>
          </a:solidFill>
          <a:ln w="9525">
            <a:solidFill>
              <a:srgbClr val="E6F4F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058400" y="331012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E7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600" dirty="0"/>
          </a:p>
        </p:txBody>
      </p:sp>
      <p:sp>
        <p:nvSpPr>
          <p:cNvPr id="17" name="Text 14"/>
          <p:cNvSpPr txBox="1"/>
          <p:nvPr/>
        </p:nvSpPr>
        <p:spPr>
          <a:xfrm>
            <a:off x="10058400" y="39776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</a:t>
            </a:r>
            <a:endParaRPr lang="en-US" sz="1200" dirty="0"/>
          </a:p>
        </p:txBody>
      </p:sp>
      <p:sp>
        <p:nvSpPr>
          <p:cNvPr id="18" name="note"/>
          <p:cNvSpPr/>
          <p:nvPr/>
        </p:nvSpPr>
        <p:spPr>
          <a:xfrm>
            <a:off x="8001000" y="4709160"/>
            <a:ext cx="3611880" cy="1371600"/>
          </a:xfrm>
          <a:prstGeom prst="roundRect">
            <a:avLst>
              <a:gd name="adj" fmla="val 8000"/>
            </a:avLst>
          </a:prstGeom>
          <a:solidFill>
            <a:srgbClr val="F1F7F7"/>
          </a:solidFill>
          <a:ln w="9525">
            <a:solidFill>
              <a:srgbClr val="F1F7F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183880" y="4846320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get read-only views. </a:t>
            </a:r>
            <a:pPr indent="0" marL="0">
              <a:buNone/>
            </a:pPr>
            <a:r>
              <a:rPr lang="en-US" sz="1250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can see CCTV health, security issues and finances, but edit and delete actions are hidden for them.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DASHBOARD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pulse of the community at a glance</a:t>
            </a:r>
            <a:endParaRPr lang="en-US" sz="3200" dirty="0"/>
          </a:p>
        </p:txBody>
      </p:sp>
      <p:pic>
        <p:nvPicPr>
          <p:cNvPr id="4" name="screenshot" descr="img/resid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7315200" cy="3944112"/>
          </a:xfrm>
          <a:prstGeom prst="rect">
            <a:avLst/>
          </a:prstGeom>
          <a:effectLst>
            <a:outerShdw sx="100000" sy="100000" kx="0" ky="0" algn="bl" rotWithShape="0" blurRad="228600" dist="50800" dir="5400000">
              <a:srgbClr val="0B2135">
                <a:alpha val="25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548640" y="5532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numbers for everyone — shown here in the Community Member view</a:t>
            </a:r>
            <a:endParaRPr lang="en-US" sz="1100" dirty="0"/>
          </a:p>
        </p:txBody>
      </p:sp>
      <p:sp>
        <p:nvSpPr>
          <p:cNvPr id="6" name="icon-bg"/>
          <p:cNvSpPr/>
          <p:nvPr/>
        </p:nvSpPr>
        <p:spPr>
          <a:xfrm>
            <a:off x="8229600" y="1463040"/>
            <a:ext cx="502920" cy="502920"/>
          </a:xfrm>
          <a:prstGeom prst="ellipse">
            <a:avLst/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0301" y="1583741"/>
            <a:ext cx="261518" cy="26151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869680" y="144475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live KPI tiles</a:t>
            </a:r>
            <a:endParaRPr lang="en-US" sz="1450" dirty="0"/>
          </a:p>
        </p:txBody>
      </p:sp>
      <p:sp>
        <p:nvSpPr>
          <p:cNvPr id="9" name="Text 5"/>
          <p:cNvSpPr txBox="1"/>
          <p:nvPr/>
        </p:nvSpPr>
        <p:spPr>
          <a:xfrm>
            <a:off x="8869680" y="1764792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Visitors, vehicles, active issues, CCTV faults, collection, expenses, savings, street lights</a:t>
            </a:r>
            <a:endParaRPr lang="en-US" sz="1150" dirty="0"/>
          </a:p>
        </p:txBody>
      </p:sp>
      <p:sp>
        <p:nvSpPr>
          <p:cNvPr id="10" name="icon-bg"/>
          <p:cNvSpPr/>
          <p:nvPr/>
        </p:nvSpPr>
        <p:spPr>
          <a:xfrm>
            <a:off x="8229600" y="2560320"/>
            <a:ext cx="502920" cy="502920"/>
          </a:xfrm>
          <a:prstGeom prst="ellipse">
            <a:avLst/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301" y="2681021"/>
            <a:ext cx="261518" cy="26151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869680" y="254203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&amp; health</a:t>
            </a:r>
            <a:endParaRPr lang="en-US" sz="1450" dirty="0"/>
          </a:p>
        </p:txBody>
      </p:sp>
      <p:sp>
        <p:nvSpPr>
          <p:cNvPr id="13" name="Text 8"/>
          <p:cNvSpPr txBox="1"/>
          <p:nvPr/>
        </p:nvSpPr>
        <p:spPr>
          <a:xfrm>
            <a:off x="8869680" y="2862072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visitor trend and a CCTV working-vs-faulty donut</a:t>
            </a:r>
            <a:endParaRPr lang="en-US" sz="1150" dirty="0"/>
          </a:p>
        </p:txBody>
      </p:sp>
      <p:sp>
        <p:nvSpPr>
          <p:cNvPr id="14" name="icon-bg"/>
          <p:cNvSpPr/>
          <p:nvPr/>
        </p:nvSpPr>
        <p:spPr>
          <a:xfrm>
            <a:off x="8229600" y="3657600"/>
            <a:ext cx="502920" cy="502920"/>
          </a:xfrm>
          <a:prstGeom prst="ellipse">
            <a:avLst/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0301" y="3778301"/>
            <a:ext cx="261518" cy="26151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869680" y="36393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needs attention</a:t>
            </a:r>
            <a:endParaRPr lang="en-US" sz="1450" dirty="0"/>
          </a:p>
        </p:txBody>
      </p:sp>
      <p:sp>
        <p:nvSpPr>
          <p:cNvPr id="17" name="Text 11"/>
          <p:cNvSpPr txBox="1"/>
          <p:nvPr/>
        </p:nvSpPr>
        <p:spPr>
          <a:xfrm>
            <a:off x="8869680" y="3959352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security issues and important announcements</a:t>
            </a:r>
            <a:endParaRPr lang="en-US" sz="1150" dirty="0"/>
          </a:p>
        </p:txBody>
      </p:sp>
      <p:sp>
        <p:nvSpPr>
          <p:cNvPr id="18" name="icon-bg"/>
          <p:cNvSpPr/>
          <p:nvPr/>
        </p:nvSpPr>
        <p:spPr>
          <a:xfrm>
            <a:off x="8229600" y="4754880"/>
            <a:ext cx="502920" cy="502920"/>
          </a:xfrm>
          <a:prstGeom prst="ellipse">
            <a:avLst/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</p:sp>
      <p:pic>
        <p:nvPicPr>
          <p:cNvPr id="19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0301" y="4875581"/>
            <a:ext cx="261518" cy="261518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8869680" y="473659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filter</a:t>
            </a:r>
            <a:endParaRPr lang="en-US" sz="1450" dirty="0"/>
          </a:p>
        </p:txBody>
      </p:sp>
      <p:sp>
        <p:nvSpPr>
          <p:cNvPr id="21" name="Text 14"/>
          <p:cNvSpPr txBox="1"/>
          <p:nvPr/>
        </p:nvSpPr>
        <p:spPr>
          <a:xfrm>
            <a:off x="8869680" y="5056632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and volunteers can drill into any phase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INFRASTRUCTURE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you can check for yourself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548640" y="1463040"/>
            <a:ext cx="242316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9525">
            <a:solidFill>
              <a:srgbClr val="D5E3E3"/>
            </a:solidFill>
            <a:prstDash val="solid"/>
          </a:ln>
          <a:effectLst>
            <a:outerShdw sx="100000" sy="100000" kx="0" ky="0" algn="bl" rotWithShape="0" blurRad="152400" dist="38100" dir="5400000">
              <a:srgbClr val="0B2135">
                <a:alpha val="18000"/>
              </a:srgbClr>
            </a:outerShdw>
          </a:effectLst>
        </p:spPr>
      </p:sp>
      <p:sp>
        <p:nvSpPr>
          <p:cNvPr id="5" name="icon-bg"/>
          <p:cNvSpPr/>
          <p:nvPr/>
        </p:nvSpPr>
        <p:spPr>
          <a:xfrm>
            <a:off x="777240" y="1691640"/>
            <a:ext cx="548640" cy="548640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182331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331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issues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670048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trespassing, vandalism or suspicious activity with High, Medium or Low priority; track Open → In Progress → Resolved.</a:t>
            </a:r>
            <a:endParaRPr lang="en-US" sz="1100" dirty="0"/>
          </a:p>
        </p:txBody>
      </p:sp>
      <p:sp>
        <p:nvSpPr>
          <p:cNvPr id="9" name="card"/>
          <p:cNvSpPr/>
          <p:nvPr/>
        </p:nvSpPr>
        <p:spPr>
          <a:xfrm>
            <a:off x="3154680" y="1463040"/>
            <a:ext cx="242316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9525">
            <a:solidFill>
              <a:srgbClr val="D5E3E3"/>
            </a:solidFill>
            <a:prstDash val="solid"/>
          </a:ln>
          <a:effectLst>
            <a:outerShdw sx="100000" sy="100000" kx="0" ky="0" algn="bl" rotWithShape="0" blurRad="152400" dist="38100" dir="5400000">
              <a:srgbClr val="0B2135">
                <a:alpha val="18000"/>
              </a:srgbClr>
            </a:outerShdw>
          </a:effectLst>
        </p:spPr>
      </p:sp>
      <p:sp>
        <p:nvSpPr>
          <p:cNvPr id="10" name="icon-bg"/>
          <p:cNvSpPr/>
          <p:nvPr/>
        </p:nvSpPr>
        <p:spPr>
          <a:xfrm>
            <a:off x="3383280" y="1691640"/>
            <a:ext cx="548640" cy="548640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4954" y="182331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383280" y="2331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 cameras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3383280" y="2670048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directory with Working, Faulty and Maintenance status for Bullet, Dome and PTZ cameras.</a:t>
            </a:r>
            <a:endParaRPr lang="en-US" sz="1100" dirty="0"/>
          </a:p>
        </p:txBody>
      </p:sp>
      <p:sp>
        <p:nvSpPr>
          <p:cNvPr id="14" name="card"/>
          <p:cNvSpPr/>
          <p:nvPr/>
        </p:nvSpPr>
        <p:spPr>
          <a:xfrm>
            <a:off x="548640" y="3794760"/>
            <a:ext cx="242316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9525">
            <a:solidFill>
              <a:srgbClr val="D5E3E3"/>
            </a:solidFill>
            <a:prstDash val="solid"/>
          </a:ln>
          <a:effectLst>
            <a:outerShdw sx="100000" sy="100000" kx="0" ky="0" algn="bl" rotWithShape="0" blurRad="152400" dist="38100" dir="5400000">
              <a:srgbClr val="0B2135">
                <a:alpha val="18000"/>
              </a:srgbClr>
            </a:outerShdw>
          </a:effectLst>
        </p:spPr>
      </p:sp>
      <p:sp>
        <p:nvSpPr>
          <p:cNvPr id="15" name="icon-bg"/>
          <p:cNvSpPr/>
          <p:nvPr/>
        </p:nvSpPr>
        <p:spPr>
          <a:xfrm>
            <a:off x="777240" y="4023360"/>
            <a:ext cx="548640" cy="548640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pic>
        <p:nvPicPr>
          <p:cNvPr id="16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914" y="415503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77240" y="4663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 lights &amp; assets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777240" y="5001768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Streetlights, generators and water pumps, with working or faulty status.</a:t>
            </a:r>
            <a:endParaRPr lang="en-US" sz="1100" dirty="0"/>
          </a:p>
        </p:txBody>
      </p:sp>
      <p:sp>
        <p:nvSpPr>
          <p:cNvPr id="19" name="card"/>
          <p:cNvSpPr/>
          <p:nvPr/>
        </p:nvSpPr>
        <p:spPr>
          <a:xfrm>
            <a:off x="3154680" y="3794760"/>
            <a:ext cx="242316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9525">
            <a:solidFill>
              <a:srgbClr val="D5E3E3"/>
            </a:solidFill>
            <a:prstDash val="solid"/>
          </a:ln>
          <a:effectLst>
            <a:outerShdw sx="100000" sy="100000" kx="0" ky="0" algn="bl" rotWithShape="0" blurRad="152400" dist="38100" dir="5400000">
              <a:srgbClr val="0B2135">
                <a:alpha val="18000"/>
              </a:srgbClr>
            </a:outerShdw>
          </a:effectLst>
        </p:spPr>
      </p:sp>
      <p:sp>
        <p:nvSpPr>
          <p:cNvPr id="20" name="icon-bg"/>
          <p:cNvSpPr/>
          <p:nvPr/>
        </p:nvSpPr>
        <p:spPr>
          <a:xfrm>
            <a:off x="3383280" y="4023360"/>
            <a:ext cx="548640" cy="548640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pic>
        <p:nvPicPr>
          <p:cNvPr id="21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4954" y="415503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3383280" y="4663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rounds</a:t>
            </a:r>
            <a:endParaRPr lang="en-US" sz="1450" dirty="0"/>
          </a:p>
        </p:txBody>
      </p:sp>
      <p:sp>
        <p:nvSpPr>
          <p:cNvPr id="23" name="Text 17"/>
          <p:cNvSpPr txBox="1"/>
          <p:nvPr/>
        </p:nvSpPr>
        <p:spPr>
          <a:xfrm>
            <a:off x="3383280" y="5001768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Patrol log by guard, route and time, marked Completed or Missed.</a:t>
            </a:r>
            <a:endParaRPr lang="en-US" sz="1100" dirty="0"/>
          </a:p>
        </p:txBody>
      </p:sp>
      <p:pic>
        <p:nvPicPr>
          <p:cNvPr id="24" name="screenshot" descr="img/cctv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7880" y="1463040"/>
            <a:ext cx="5760720" cy="3352392"/>
          </a:xfrm>
          <a:prstGeom prst="rect">
            <a:avLst/>
          </a:prstGeom>
          <a:effectLst>
            <a:outerShdw sx="100000" sy="100000" kx="0" ky="0" algn="bl" rotWithShape="0" blurRad="228600" dist="50800" dir="5400000">
              <a:srgbClr val="0B2135">
                <a:alpha val="25000"/>
              </a:srgbClr>
            </a:outerShdw>
          </a:effectLst>
        </p:spPr>
      </p:pic>
      <p:sp>
        <p:nvSpPr>
          <p:cNvPr id="25" name="stat"/>
          <p:cNvSpPr/>
          <p:nvPr/>
        </p:nvSpPr>
        <p:spPr>
          <a:xfrm>
            <a:off x="5897880" y="4983480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0B2135"/>
          </a:solidFill>
          <a:ln w="12700">
            <a:solidFill>
              <a:srgbClr val="0B2135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6172200" y="50749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/ 40</a:t>
            </a:r>
            <a:endParaRPr lang="en-US" sz="3600" dirty="0"/>
          </a:p>
        </p:txBody>
      </p:sp>
      <p:sp>
        <p:nvSpPr>
          <p:cNvPr id="27" name="Text 20"/>
          <p:cNvSpPr txBox="1"/>
          <p:nvPr/>
        </p:nvSpPr>
        <p:spPr>
          <a:xfrm>
            <a:off x="8321040" y="512064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working in the demo data — and every resident can see that number.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MANAGEMENT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smarter gate for visitors and vehicles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548640" y="1417320"/>
            <a:ext cx="2514600" cy="1508760"/>
          </a:xfrm>
          <a:prstGeom prst="roundRect">
            <a:avLst>
              <a:gd name="adj" fmla="val 7273"/>
            </a:avLst>
          </a:prstGeom>
          <a:solidFill>
            <a:srgbClr val="E6F4F2"/>
          </a:solidFill>
          <a:ln w="9525">
            <a:solidFill>
              <a:srgbClr val="E6F4F2"/>
            </a:solidFill>
            <a:prstDash val="solid"/>
          </a:ln>
        </p:spPr>
      </p:sp>
      <p:sp>
        <p:nvSpPr>
          <p:cNvPr id="5" name="icon-bg"/>
          <p:cNvSpPr/>
          <p:nvPr/>
        </p:nvSpPr>
        <p:spPr>
          <a:xfrm>
            <a:off x="749808" y="1645920"/>
            <a:ext cx="502920" cy="502920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509" y="1766621"/>
            <a:ext cx="261518" cy="26151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691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Pre-approve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2258568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creates a pass with expected date and time</a:t>
            </a:r>
            <a:endParaRPr lang="en-US" sz="1150" dirty="0"/>
          </a:p>
        </p:txBody>
      </p:sp>
      <p:pic>
        <p:nvPicPr>
          <p:cNvPr id="9" name="arrow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2011680"/>
            <a:ext cx="274320" cy="274320"/>
          </a:xfrm>
          <a:prstGeom prst="rect">
            <a:avLst/>
          </a:prstGeom>
        </p:spPr>
      </p:pic>
      <p:sp>
        <p:nvSpPr>
          <p:cNvPr id="10" name="card"/>
          <p:cNvSpPr/>
          <p:nvPr/>
        </p:nvSpPr>
        <p:spPr>
          <a:xfrm>
            <a:off x="3383280" y="1417320"/>
            <a:ext cx="251460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5E3E3"/>
            </a:solidFill>
            <a:prstDash val="solid"/>
          </a:ln>
          <a:effectLst>
            <a:outerShdw sx="100000" sy="100000" kx="0" ky="0" algn="bl" rotWithShape="0" blurRad="152400" dist="38100" dir="5400000">
              <a:srgbClr val="0B2135">
                <a:alpha val="18000"/>
              </a:srgbClr>
            </a:outerShdw>
          </a:effectLst>
        </p:spPr>
      </p:sp>
      <p:sp>
        <p:nvSpPr>
          <p:cNvPr id="11" name="icon-bg"/>
          <p:cNvSpPr/>
          <p:nvPr/>
        </p:nvSpPr>
        <p:spPr>
          <a:xfrm>
            <a:off x="3584448" y="1645920"/>
            <a:ext cx="502920" cy="502920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5149" y="1766621"/>
            <a:ext cx="261518" cy="26151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206240" y="1691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Register entry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3584448" y="2258568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logs name, mobile, host house, purpose, vehicle</a:t>
            </a:r>
            <a:endParaRPr lang="en-US" sz="1150" dirty="0"/>
          </a:p>
        </p:txBody>
      </p:sp>
      <p:pic>
        <p:nvPicPr>
          <p:cNvPr id="15" name="arrow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2011680"/>
            <a:ext cx="274320" cy="274320"/>
          </a:xfrm>
          <a:prstGeom prst="rect">
            <a:avLst/>
          </a:prstGeom>
        </p:spPr>
      </p:pic>
      <p:sp>
        <p:nvSpPr>
          <p:cNvPr id="16" name="card"/>
          <p:cNvSpPr/>
          <p:nvPr/>
        </p:nvSpPr>
        <p:spPr>
          <a:xfrm>
            <a:off x="6217920" y="1417320"/>
            <a:ext cx="251460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5E3E3"/>
            </a:solidFill>
            <a:prstDash val="solid"/>
          </a:ln>
          <a:effectLst>
            <a:outerShdw sx="100000" sy="100000" kx="0" ky="0" algn="bl" rotWithShape="0" blurRad="152400" dist="38100" dir="5400000">
              <a:srgbClr val="0B2135">
                <a:alpha val="18000"/>
              </a:srgbClr>
            </a:outerShdw>
          </a:effectLst>
        </p:spPr>
      </p:sp>
      <p:sp>
        <p:nvSpPr>
          <p:cNvPr id="17" name="icon-bg"/>
          <p:cNvSpPr/>
          <p:nvPr/>
        </p:nvSpPr>
        <p:spPr>
          <a:xfrm>
            <a:off x="6419088" y="1645920"/>
            <a:ext cx="502920" cy="502920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pic>
        <p:nvPicPr>
          <p:cNvPr id="18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9789" y="1766621"/>
            <a:ext cx="261518" cy="261518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7040880" y="1691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Currently inside</a:t>
            </a:r>
            <a:endParaRPr lang="en-US" sz="1400" dirty="0"/>
          </a:p>
        </p:txBody>
      </p:sp>
      <p:sp>
        <p:nvSpPr>
          <p:cNvPr id="20" name="Text 13"/>
          <p:cNvSpPr txBox="1"/>
          <p:nvPr/>
        </p:nvSpPr>
        <p:spPr>
          <a:xfrm>
            <a:off x="6419088" y="2258568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count of visitors inside the community</a:t>
            </a:r>
            <a:endParaRPr lang="en-US" sz="1150" dirty="0"/>
          </a:p>
        </p:txBody>
      </p:sp>
      <p:pic>
        <p:nvPicPr>
          <p:cNvPr id="21" name="arrow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8240" y="2011680"/>
            <a:ext cx="274320" cy="274320"/>
          </a:xfrm>
          <a:prstGeom prst="rect">
            <a:avLst/>
          </a:prstGeom>
        </p:spPr>
      </p:pic>
      <p:sp>
        <p:nvSpPr>
          <p:cNvPr id="22" name="card"/>
          <p:cNvSpPr/>
          <p:nvPr/>
        </p:nvSpPr>
        <p:spPr>
          <a:xfrm>
            <a:off x="9052560" y="1417320"/>
            <a:ext cx="251460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5E3E3"/>
            </a:solidFill>
            <a:prstDash val="solid"/>
          </a:ln>
          <a:effectLst>
            <a:outerShdw sx="100000" sy="100000" kx="0" ky="0" algn="bl" rotWithShape="0" blurRad="152400" dist="38100" dir="5400000">
              <a:srgbClr val="0B2135">
                <a:alpha val="18000"/>
              </a:srgbClr>
            </a:outerShdw>
          </a:effectLst>
        </p:spPr>
      </p:sp>
      <p:sp>
        <p:nvSpPr>
          <p:cNvPr id="23" name="icon-bg"/>
          <p:cNvSpPr/>
          <p:nvPr/>
        </p:nvSpPr>
        <p:spPr>
          <a:xfrm>
            <a:off x="9253728" y="1645920"/>
            <a:ext cx="502920" cy="502920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pic>
        <p:nvPicPr>
          <p:cNvPr id="24" name="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4429" y="1766621"/>
            <a:ext cx="261518" cy="261518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9875520" y="1691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Mark exit</a:t>
            </a:r>
            <a:endParaRPr lang="en-US" sz="1400" dirty="0"/>
          </a:p>
        </p:txBody>
      </p:sp>
      <p:sp>
        <p:nvSpPr>
          <p:cNvPr id="26" name="Text 17"/>
          <p:cNvSpPr txBox="1"/>
          <p:nvPr/>
        </p:nvSpPr>
        <p:spPr>
          <a:xfrm>
            <a:off x="9253728" y="2258568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time stamped; OTP check can be required</a:t>
            </a:r>
            <a:endParaRPr lang="en-US" sz="1150" dirty="0"/>
          </a:p>
        </p:txBody>
      </p:sp>
      <p:pic>
        <p:nvPicPr>
          <p:cNvPr id="27" name="screenshot" descr="img/visitor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3291840"/>
            <a:ext cx="6766560" cy="2806199"/>
          </a:xfrm>
          <a:prstGeom prst="rect">
            <a:avLst/>
          </a:prstGeom>
          <a:effectLst>
            <a:outerShdw sx="100000" sy="100000" kx="0" ky="0" algn="bl" rotWithShape="0" blurRad="228600" dist="50800" dir="5400000">
              <a:srgbClr val="0B2135">
                <a:alpha val="25000"/>
              </a:srgbClr>
            </a:outerShdw>
          </a:effectLst>
        </p:spPr>
      </p:pic>
      <p:sp>
        <p:nvSpPr>
          <p:cNvPr id="28" name="card"/>
          <p:cNvSpPr/>
          <p:nvPr/>
        </p:nvSpPr>
        <p:spPr>
          <a:xfrm>
            <a:off x="7680960" y="3291840"/>
            <a:ext cx="3959352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5E3E3"/>
            </a:solidFill>
            <a:prstDash val="solid"/>
          </a:ln>
          <a:effectLst>
            <a:outerShdw sx="100000" sy="100000" kx="0" ky="0" algn="bl" rotWithShape="0" blurRad="152400" dist="38100" dir="5400000">
              <a:srgbClr val="0B2135">
                <a:alpha val="18000"/>
              </a:srgbClr>
            </a:outerShdw>
          </a:effectLst>
        </p:spPr>
      </p:sp>
      <p:sp>
        <p:nvSpPr>
          <p:cNvPr id="29" name="icon-bg"/>
          <p:cNvSpPr/>
          <p:nvPr/>
        </p:nvSpPr>
        <p:spPr>
          <a:xfrm>
            <a:off x="7863840" y="3520440"/>
            <a:ext cx="548640" cy="548640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pic>
        <p:nvPicPr>
          <p:cNvPr id="30" name="icon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95514" y="3652114"/>
            <a:ext cx="285293" cy="285293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8595360" y="3474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registry</a:t>
            </a:r>
            <a:endParaRPr lang="en-US" sz="1450" dirty="0"/>
          </a:p>
        </p:txBody>
      </p:sp>
      <p:sp>
        <p:nvSpPr>
          <p:cNvPr id="32" name="Text 21"/>
          <p:cNvSpPr txBox="1"/>
          <p:nvPr/>
        </p:nvSpPr>
        <p:spPr>
          <a:xfrm>
            <a:off x="8595360" y="37947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Cars, two-wheelers and commercial vehicles linked to a house.</a:t>
            </a:r>
            <a:endParaRPr lang="en-US" sz="1150" dirty="0"/>
          </a:p>
        </p:txBody>
      </p:sp>
      <p:sp>
        <p:nvSpPr>
          <p:cNvPr id="33" name="card"/>
          <p:cNvSpPr/>
          <p:nvPr/>
        </p:nvSpPr>
        <p:spPr>
          <a:xfrm>
            <a:off x="7680960" y="4709160"/>
            <a:ext cx="3959352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5E3E3"/>
            </a:solidFill>
            <a:prstDash val="solid"/>
          </a:ln>
          <a:effectLst>
            <a:outerShdw sx="100000" sy="100000" kx="0" ky="0" algn="bl" rotWithShape="0" blurRad="152400" dist="38100" dir="5400000">
              <a:srgbClr val="0B2135">
                <a:alpha val="18000"/>
              </a:srgbClr>
            </a:outerShdw>
          </a:effectLst>
        </p:spPr>
      </p:sp>
      <p:sp>
        <p:nvSpPr>
          <p:cNvPr id="34" name="icon-bg"/>
          <p:cNvSpPr/>
          <p:nvPr/>
        </p:nvSpPr>
        <p:spPr>
          <a:xfrm>
            <a:off x="7863840" y="4937760"/>
            <a:ext cx="548640" cy="548640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pic>
        <p:nvPicPr>
          <p:cNvPr id="35" name="icon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95514" y="5069434"/>
            <a:ext cx="285293" cy="285293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8595360" y="4892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rules</a:t>
            </a:r>
            <a:endParaRPr lang="en-US" sz="1450" dirty="0"/>
          </a:p>
        </p:txBody>
      </p:sp>
      <p:sp>
        <p:nvSpPr>
          <p:cNvPr id="37" name="Text 25"/>
          <p:cNvSpPr txBox="1"/>
          <p:nvPr/>
        </p:nvSpPr>
        <p:spPr>
          <a:xfrm>
            <a:off x="8595360" y="52120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settings: auto-approve frequent visitors, require OTP for exit.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TRANSPARENCY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rupee, visible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548640" y="1417320"/>
            <a:ext cx="16916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D5E3E3"/>
            </a:solidFill>
            <a:prstDash val="solid"/>
          </a:ln>
          <a:effectLst>
            <a:outerShdw sx="100000" sy="100000" kx="0" ky="0" algn="bl" rotWithShape="0" blurRad="152400" dist="38100" dir="5400000">
              <a:srgbClr val="0B2135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7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₹5,000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031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collected</a:t>
            </a:r>
            <a:endParaRPr lang="en-US" sz="1200" dirty="0"/>
          </a:p>
        </p:txBody>
      </p:sp>
      <p:sp>
        <p:nvSpPr>
          <p:cNvPr id="7" name="card"/>
          <p:cNvSpPr/>
          <p:nvPr/>
        </p:nvSpPr>
        <p:spPr>
          <a:xfrm>
            <a:off x="2423160" y="1417320"/>
            <a:ext cx="16916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D5E3E3"/>
            </a:solidFill>
            <a:prstDash val="solid"/>
          </a:ln>
          <a:effectLst>
            <a:outerShdw sx="100000" sy="100000" kx="0" ky="0" algn="bl" rotWithShape="0" blurRad="152400" dist="38100" dir="5400000">
              <a:srgbClr val="0B2135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606040" y="15087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8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₹3,500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2606040" y="21031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dues</a:t>
            </a:r>
            <a:endParaRPr lang="en-US" sz="1200" dirty="0"/>
          </a:p>
        </p:txBody>
      </p:sp>
      <p:sp>
        <p:nvSpPr>
          <p:cNvPr id="10" name="card"/>
          <p:cNvSpPr/>
          <p:nvPr/>
        </p:nvSpPr>
        <p:spPr>
          <a:xfrm>
            <a:off x="4297680" y="1417320"/>
            <a:ext cx="16916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D5E3E3"/>
            </a:solidFill>
            <a:prstDash val="solid"/>
          </a:ln>
          <a:effectLst>
            <a:outerShdw sx="100000" sy="100000" kx="0" ky="0" algn="bl" rotWithShape="0" blurRad="152400" dist="38100" dir="5400000">
              <a:srgbClr val="0B2135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480560" y="15087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60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₹44,500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21031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expenses</a:t>
            </a:r>
            <a:endParaRPr lang="en-US" sz="1200" dirty="0"/>
          </a:p>
        </p:txBody>
      </p:sp>
      <p:graphicFrame>
        <p:nvGraphicFramePr>
          <p:cNvPr id="13" name="expense-chart" descr=""/>
          <p:cNvGraphicFramePr/>
          <p:nvPr/>
        </p:nvGraphicFramePr>
        <p:xfrm>
          <a:off x="548640" y="2834640"/>
          <a:ext cx="54406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pic>
        <p:nvPicPr>
          <p:cNvPr id="14" name="screenshot" descr="img/paymen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417320"/>
            <a:ext cx="5303520" cy="1895381"/>
          </a:xfrm>
          <a:prstGeom prst="rect">
            <a:avLst/>
          </a:prstGeom>
          <a:effectLst>
            <a:outerShdw sx="100000" sy="100000" kx="0" ky="0" algn="bl" rotWithShape="0" blurRad="228600" dist="50800" dir="5400000">
              <a:srgbClr val="0B2135">
                <a:alpha val="25000"/>
              </a:srgbClr>
            </a:outerShdw>
          </a:effectLst>
        </p:spPr>
      </p:pic>
      <p:sp>
        <p:nvSpPr>
          <p:cNvPr id="15" name="icon-bg"/>
          <p:cNvSpPr/>
          <p:nvPr/>
        </p:nvSpPr>
        <p:spPr>
          <a:xfrm>
            <a:off x="6355080" y="3520440"/>
            <a:ext cx="457200" cy="457200"/>
          </a:xfrm>
          <a:prstGeom prst="ellipse">
            <a:avLst/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</p:sp>
      <p:pic>
        <p:nvPicPr>
          <p:cNvPr id="16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08" y="363016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949440" y="3502152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 </a:t>
            </a:r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fee, sinking fund, event contributions and fines — with payment proof upload and receipts.</a:t>
            </a:r>
            <a:endParaRPr lang="en-US" sz="1200" dirty="0"/>
          </a:p>
        </p:txBody>
      </p:sp>
      <p:sp>
        <p:nvSpPr>
          <p:cNvPr id="18" name="icon-bg"/>
          <p:cNvSpPr/>
          <p:nvPr/>
        </p:nvSpPr>
        <p:spPr>
          <a:xfrm>
            <a:off x="6355080" y="4407408"/>
            <a:ext cx="457200" cy="457200"/>
          </a:xfrm>
          <a:prstGeom prst="ellipse">
            <a:avLst/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</p:sp>
      <p:pic>
        <p:nvPicPr>
          <p:cNvPr id="19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808" y="4517136"/>
            <a:ext cx="237744" cy="23774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949440" y="438912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  </a:t>
            </a:r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vendor payout logged by category, with a Pending Approval stage.</a:t>
            </a:r>
            <a:endParaRPr lang="en-US" sz="1200" dirty="0"/>
          </a:p>
        </p:txBody>
      </p:sp>
      <p:sp>
        <p:nvSpPr>
          <p:cNvPr id="21" name="icon-bg"/>
          <p:cNvSpPr/>
          <p:nvPr/>
        </p:nvSpPr>
        <p:spPr>
          <a:xfrm>
            <a:off x="6355080" y="5294376"/>
            <a:ext cx="457200" cy="457200"/>
          </a:xfrm>
          <a:prstGeom prst="ellipse">
            <a:avLst/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</p:sp>
      <p:pic>
        <p:nvPicPr>
          <p:cNvPr id="22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4808" y="5404104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6949440" y="5276088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 </a:t>
            </a:r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minus expenses, calculated automatically on the dashboard.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&amp; COMMUNICATION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Keeping everyone informed and connected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548640" y="1463040"/>
            <a:ext cx="44805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E3E3"/>
            </a:solidFill>
            <a:prstDash val="solid"/>
          </a:ln>
          <a:effectLst>
            <a:outerShdw sx="100000" sy="100000" kx="0" ky="0" algn="bl" rotWithShape="0" blurRad="152400" dist="38100" dir="5400000">
              <a:srgbClr val="0B2135">
                <a:alpha val="18000"/>
              </a:srgbClr>
            </a:outerShdw>
          </a:effectLst>
        </p:spPr>
      </p:sp>
      <p:sp>
        <p:nvSpPr>
          <p:cNvPr id="5" name="icon-bg"/>
          <p:cNvSpPr/>
          <p:nvPr/>
        </p:nvSpPr>
        <p:spPr>
          <a:xfrm>
            <a:off x="777240" y="1737360"/>
            <a:ext cx="685800" cy="685800"/>
          </a:xfrm>
          <a:prstGeom prst="ellipse">
            <a:avLst/>
          </a:prstGeom>
          <a:solidFill>
            <a:srgbClr val="0E7C76"/>
          </a:solidFill>
          <a:ln w="12700">
            <a:solidFill>
              <a:srgbClr val="0E7C76"/>
            </a:solidFill>
            <a:prstDash val="solid"/>
          </a:ln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901952"/>
            <a:ext cx="356616" cy="356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16642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691640" y="202996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all residents, a single phase or the security team, with High (Emergency) or Normal priority.</a:t>
            </a:r>
            <a:endParaRPr lang="en-US" sz="1150" dirty="0"/>
          </a:p>
        </p:txBody>
      </p:sp>
      <p:sp>
        <p:nvSpPr>
          <p:cNvPr id="9" name="card"/>
          <p:cNvSpPr/>
          <p:nvPr/>
        </p:nvSpPr>
        <p:spPr>
          <a:xfrm>
            <a:off x="548640" y="3017520"/>
            <a:ext cx="44805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E3E3"/>
            </a:solidFill>
            <a:prstDash val="solid"/>
          </a:ln>
          <a:effectLst>
            <a:outerShdw sx="100000" sy="100000" kx="0" ky="0" algn="bl" rotWithShape="0" blurRad="152400" dist="38100" dir="5400000">
              <a:srgbClr val="0B2135">
                <a:alpha val="18000"/>
              </a:srgbClr>
            </a:outerShdw>
          </a:effectLst>
        </p:spPr>
      </p:sp>
      <p:sp>
        <p:nvSpPr>
          <p:cNvPr id="10" name="icon-bg"/>
          <p:cNvSpPr/>
          <p:nvPr/>
        </p:nvSpPr>
        <p:spPr>
          <a:xfrm>
            <a:off x="777240" y="3291840"/>
            <a:ext cx="685800" cy="685800"/>
          </a:xfrm>
          <a:prstGeom prst="ellipse">
            <a:avLst/>
          </a:prstGeom>
          <a:solidFill>
            <a:srgbClr val="0E7C76"/>
          </a:solidFill>
          <a:ln w="12700">
            <a:solidFill>
              <a:srgbClr val="0E7C76"/>
            </a:solidFill>
            <a:prstDash val="solid"/>
          </a:ln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345643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691640" y="32186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committee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1691640" y="358444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of the President, Secretary, Treasurer and members, with contacts.</a:t>
            </a:r>
            <a:endParaRPr lang="en-US" sz="1150" dirty="0"/>
          </a:p>
        </p:txBody>
      </p:sp>
      <p:sp>
        <p:nvSpPr>
          <p:cNvPr id="14" name="card"/>
          <p:cNvSpPr/>
          <p:nvPr/>
        </p:nvSpPr>
        <p:spPr>
          <a:xfrm>
            <a:off x="548640" y="4572000"/>
            <a:ext cx="44805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E3E3"/>
            </a:solidFill>
            <a:prstDash val="solid"/>
          </a:ln>
          <a:effectLst>
            <a:outerShdw sx="100000" sy="100000" kx="0" ky="0" algn="bl" rotWithShape="0" blurRad="152400" dist="38100" dir="5400000">
              <a:srgbClr val="0B2135">
                <a:alpha val="18000"/>
              </a:srgbClr>
            </a:outerShdw>
          </a:effectLst>
        </p:spPr>
      </p:sp>
      <p:sp>
        <p:nvSpPr>
          <p:cNvPr id="15" name="icon-bg"/>
          <p:cNvSpPr/>
          <p:nvPr/>
        </p:nvSpPr>
        <p:spPr>
          <a:xfrm>
            <a:off x="777240" y="4846320"/>
            <a:ext cx="685800" cy="685800"/>
          </a:xfrm>
          <a:prstGeom prst="ellipse">
            <a:avLst/>
          </a:prstGeom>
          <a:solidFill>
            <a:srgbClr val="0E7C76"/>
          </a:solidFill>
          <a:ln w="12700">
            <a:solidFill>
              <a:srgbClr val="0E7C76"/>
            </a:solidFill>
            <a:prstDash val="solid"/>
          </a:ln>
        </p:spPr>
      </p:sp>
      <p:pic>
        <p:nvPicPr>
          <p:cNvPr id="16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5010912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91640" y="47731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service providers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1691640" y="513892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Plumbers, electricians, AC repair, pest control and more — marked verified by the association.</a:t>
            </a:r>
            <a:endParaRPr lang="en-US" sz="1150" dirty="0"/>
          </a:p>
        </p:txBody>
      </p:sp>
      <p:pic>
        <p:nvPicPr>
          <p:cNvPr id="19" name="screenshot" descr="img/announc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1463040"/>
            <a:ext cx="6217920" cy="2222171"/>
          </a:xfrm>
          <a:prstGeom prst="rect">
            <a:avLst/>
          </a:prstGeom>
          <a:effectLst>
            <a:outerShdw sx="100000" sy="100000" kx="0" ky="0" algn="bl" rotWithShape="0" blurRad="228600" dist="50800" dir="5400000">
              <a:srgbClr val="0B2135">
                <a:alpha val="25000"/>
              </a:srgbClr>
            </a:outerShdw>
          </a:effectLst>
        </p:spPr>
      </p:pic>
      <p:pic>
        <p:nvPicPr>
          <p:cNvPr id="20" name="screenshot" descr="img/services_cro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3931920"/>
            <a:ext cx="6217920" cy="1865673"/>
          </a:xfrm>
          <a:prstGeom prst="rect">
            <a:avLst/>
          </a:prstGeom>
          <a:effectLst>
            <a:outerShdw sx="100000" sy="100000" kx="0" ky="0" algn="bl" rotWithShape="0" blurRad="228600" dist="50800" dir="5400000">
              <a:srgbClr val="0B2135">
                <a:alpha val="25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large, multi-phase layouts</a:t>
            </a:r>
            <a:endParaRPr lang="en-US" sz="3200" dirty="0"/>
          </a:p>
        </p:txBody>
      </p:sp>
      <p:graphicFrame>
        <p:nvGraphicFramePr>
          <p:cNvPr id="4" name="phase-chart" descr=""/>
          <p:cNvGraphicFramePr/>
          <p:nvPr/>
        </p:nvGraphicFramePr>
        <p:xfrm>
          <a:off x="548640" y="1371600"/>
          <a:ext cx="69494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001000" y="14173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+ 2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9784080" y="14173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and sectors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001000" y="25146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755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784080" y="25146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36118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C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2,170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9784080" y="36118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</a:t>
            </a:r>
            <a:endParaRPr lang="en-US" sz="1400" dirty="0"/>
          </a:p>
        </p:txBody>
      </p:sp>
      <p:sp>
        <p:nvSpPr>
          <p:cNvPr id="11" name="note"/>
          <p:cNvSpPr/>
          <p:nvPr/>
        </p:nvSpPr>
        <p:spPr>
          <a:xfrm>
            <a:off x="8001000" y="4800600"/>
            <a:ext cx="3639312" cy="1325880"/>
          </a:xfrm>
          <a:prstGeom prst="roundRect">
            <a:avLst>
              <a:gd name="adj" fmla="val 8276"/>
            </a:avLst>
          </a:prstGeom>
          <a:solidFill>
            <a:srgbClr val="E6F4F2"/>
          </a:solidFill>
          <a:ln w="9525">
            <a:solidFill>
              <a:srgbClr val="E6F4F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183880" y="4919472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record carries a phase and optional sector, so the phase switcher filters each module to just that part of the community.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 that stand up to questions</a:t>
            </a:r>
            <a:endParaRPr lang="en-US" sz="3200" dirty="0"/>
          </a:p>
        </p:txBody>
      </p:sp>
      <p:sp>
        <p:nvSpPr>
          <p:cNvPr id="4" name="report-card"/>
          <p:cNvSpPr/>
          <p:nvPr/>
        </p:nvSpPr>
        <p:spPr>
          <a:xfrm>
            <a:off x="548640" y="1463040"/>
            <a:ext cx="3474720" cy="2377440"/>
          </a:xfrm>
          <a:prstGeom prst="roundRect">
            <a:avLst>
              <a:gd name="adj" fmla="val 4615"/>
            </a:avLst>
          </a:prstGeom>
          <a:solidFill>
            <a:srgbClr val="16384F"/>
          </a:solidFill>
          <a:ln w="9525">
            <a:solidFill>
              <a:srgbClr val="24506B"/>
            </a:solidFill>
            <a:prstDash val="solid"/>
          </a:ln>
        </p:spPr>
      </p:sp>
      <p:sp>
        <p:nvSpPr>
          <p:cNvPr id="5" name="icon-bg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189097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514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reports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880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5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Collections, pending dues and expenses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3832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 ·  PDF</a:t>
            </a:r>
            <a:endParaRPr lang="en-US" sz="1100" dirty="0"/>
          </a:p>
        </p:txBody>
      </p:sp>
      <p:sp>
        <p:nvSpPr>
          <p:cNvPr id="10" name="report-card"/>
          <p:cNvSpPr/>
          <p:nvPr/>
        </p:nvSpPr>
        <p:spPr>
          <a:xfrm>
            <a:off x="4297680" y="1463040"/>
            <a:ext cx="3474720" cy="2377440"/>
          </a:xfrm>
          <a:prstGeom prst="roundRect">
            <a:avLst>
              <a:gd name="adj" fmla="val 4615"/>
            </a:avLst>
          </a:prstGeom>
          <a:solidFill>
            <a:srgbClr val="16384F"/>
          </a:solidFill>
          <a:ln w="9525">
            <a:solidFill>
              <a:srgbClr val="24506B"/>
            </a:solidFill>
            <a:prstDash val="solid"/>
          </a:ln>
        </p:spPr>
      </p:sp>
      <p:sp>
        <p:nvSpPr>
          <p:cNvPr id="11" name="icon-bg"/>
          <p:cNvSpPr/>
          <p:nvPr/>
        </p:nvSpPr>
        <p:spPr>
          <a:xfrm>
            <a:off x="4572000" y="1737360"/>
            <a:ext cx="640080" cy="640080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5619" y="1890979"/>
            <a:ext cx="332842" cy="33284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72000" y="2514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incidents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2880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5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raised issues and how they were resolved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4572000" y="33832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 ·  PDF</a:t>
            </a:r>
            <a:endParaRPr lang="en-US" sz="1100" dirty="0"/>
          </a:p>
        </p:txBody>
      </p:sp>
      <p:sp>
        <p:nvSpPr>
          <p:cNvPr id="16" name="report-card"/>
          <p:cNvSpPr/>
          <p:nvPr/>
        </p:nvSpPr>
        <p:spPr>
          <a:xfrm>
            <a:off x="8046720" y="1463040"/>
            <a:ext cx="3474720" cy="2377440"/>
          </a:xfrm>
          <a:prstGeom prst="roundRect">
            <a:avLst>
              <a:gd name="adj" fmla="val 4615"/>
            </a:avLst>
          </a:prstGeom>
          <a:solidFill>
            <a:srgbClr val="16384F"/>
          </a:solidFill>
          <a:ln w="9525">
            <a:solidFill>
              <a:srgbClr val="24506B"/>
            </a:solidFill>
            <a:prstDash val="solid"/>
          </a:ln>
        </p:spPr>
      </p:sp>
      <p:sp>
        <p:nvSpPr>
          <p:cNvPr id="17" name="icon-bg"/>
          <p:cNvSpPr/>
          <p:nvPr/>
        </p:nvSpPr>
        <p:spPr>
          <a:xfrm>
            <a:off x="8321040" y="1737360"/>
            <a:ext cx="640080" cy="640080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pic>
        <p:nvPicPr>
          <p:cNvPr id="18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4659" y="1890979"/>
            <a:ext cx="332842" cy="33284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321040" y="2514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logs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8321040" y="2880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5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visitor and service provider at the gate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8321040" y="33832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 ·  PDF</a:t>
            </a:r>
            <a:endParaRPr lang="en-US" sz="1100" dirty="0"/>
          </a:p>
        </p:txBody>
      </p:sp>
      <p:sp>
        <p:nvSpPr>
          <p:cNvPr id="22" name="icon-bg"/>
          <p:cNvSpPr/>
          <p:nvPr/>
        </p:nvSpPr>
        <p:spPr>
          <a:xfrm>
            <a:off x="548640" y="4343400"/>
            <a:ext cx="822960" cy="822960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pic>
        <p:nvPicPr>
          <p:cNvPr id="23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150" y="4540910"/>
            <a:ext cx="427939" cy="427939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645920" y="42976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activity, on every profile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1645920" y="47548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5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your name in the header to see the issues you reported, the visitors you hosted and the payments you made.</a:t>
            </a:r>
            <a:endParaRPr lang="en-US" sz="1300" dirty="0"/>
          </a:p>
        </p:txBody>
      </p:sp>
      <p:sp>
        <p:nvSpPr>
          <p:cNvPr id="26" name="activity-chip"/>
          <p:cNvSpPr/>
          <p:nvPr/>
        </p:nvSpPr>
        <p:spPr>
          <a:xfrm>
            <a:off x="7223760" y="4343400"/>
            <a:ext cx="13716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dot"/>
          <p:cNvSpPr/>
          <p:nvPr/>
        </p:nvSpPr>
        <p:spPr>
          <a:xfrm>
            <a:off x="7726680" y="4526280"/>
            <a:ext cx="365760" cy="365760"/>
          </a:xfrm>
          <a:prstGeom prst="ellipse">
            <a:avLst/>
          </a:prstGeom>
          <a:solidFill>
            <a:srgbClr val="F0605D"/>
          </a:solidFill>
          <a:ln w="12700">
            <a:solidFill>
              <a:srgbClr val="F0605D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7315200" y="4983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reported</a:t>
            </a:r>
            <a:endParaRPr lang="en-US" sz="1100" dirty="0"/>
          </a:p>
        </p:txBody>
      </p:sp>
      <p:sp>
        <p:nvSpPr>
          <p:cNvPr id="29" name="activity-chip"/>
          <p:cNvSpPr/>
          <p:nvPr/>
        </p:nvSpPr>
        <p:spPr>
          <a:xfrm>
            <a:off x="8732520" y="4343400"/>
            <a:ext cx="13716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dot"/>
          <p:cNvSpPr/>
          <p:nvPr/>
        </p:nvSpPr>
        <p:spPr>
          <a:xfrm>
            <a:off x="9235440" y="4526280"/>
            <a:ext cx="365760" cy="365760"/>
          </a:xfrm>
          <a:prstGeom prst="ellipse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8823960" y="4983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Visitors hosted</a:t>
            </a:r>
            <a:endParaRPr lang="en-US" sz="1100" dirty="0"/>
          </a:p>
        </p:txBody>
      </p:sp>
      <p:sp>
        <p:nvSpPr>
          <p:cNvPr id="32" name="activity-chip"/>
          <p:cNvSpPr/>
          <p:nvPr/>
        </p:nvSpPr>
        <p:spPr>
          <a:xfrm>
            <a:off x="10241280" y="4343400"/>
            <a:ext cx="13716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dot"/>
          <p:cNvSpPr/>
          <p:nvPr/>
        </p:nvSpPr>
        <p:spPr>
          <a:xfrm>
            <a:off x="10744200" y="4526280"/>
            <a:ext cx="365760" cy="365760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10332720" y="4983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made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8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prototype is built</a:t>
            </a:r>
            <a:endParaRPr lang="en-US" sz="3200" dirty="0"/>
          </a:p>
        </p:txBody>
      </p:sp>
      <p:sp>
        <p:nvSpPr>
          <p:cNvPr id="4" name="layer"/>
          <p:cNvSpPr/>
          <p:nvPr/>
        </p:nvSpPr>
        <p:spPr>
          <a:xfrm>
            <a:off x="548640" y="1417320"/>
            <a:ext cx="6583680" cy="1005840"/>
          </a:xfrm>
          <a:prstGeom prst="roundRect">
            <a:avLst>
              <a:gd name="adj" fmla="val 10909"/>
            </a:avLst>
          </a:prstGeom>
          <a:solidFill>
            <a:srgbClr val="0B2135"/>
          </a:solidFill>
          <a:ln w="12700">
            <a:solidFill>
              <a:srgbClr val="0B2135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916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5544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layer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192024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· Vite 8 · Tailwind CSS 4 · Recharts · Lucide icons</a:t>
            </a:r>
            <a:endParaRPr lang="en-US" sz="1200" dirty="0"/>
          </a:p>
        </p:txBody>
      </p:sp>
      <p:sp>
        <p:nvSpPr>
          <p:cNvPr id="8" name="layer"/>
          <p:cNvSpPr/>
          <p:nvPr/>
        </p:nvSpPr>
        <p:spPr>
          <a:xfrm>
            <a:off x="548640" y="2606040"/>
            <a:ext cx="6583680" cy="1005840"/>
          </a:xfrm>
          <a:prstGeom prst="roundRect">
            <a:avLst>
              <a:gd name="adj" fmla="val 10909"/>
            </a:avLst>
          </a:prstGeom>
          <a:solidFill>
            <a:srgbClr val="16384F"/>
          </a:solidFill>
          <a:ln w="12700">
            <a:solidFill>
              <a:srgbClr val="16384F"/>
            </a:solidFill>
            <a:prstDash val="solid"/>
          </a:ln>
        </p:spPr>
      </p:sp>
      <p:pic>
        <p:nvPicPr>
          <p:cNvPr id="9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88036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08760" y="27432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&amp; state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508760" y="310896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7 (15 routes) · AuthContext for role and phase · ToastContext</a:t>
            </a:r>
            <a:endParaRPr lang="en-US" sz="1200" dirty="0"/>
          </a:p>
        </p:txBody>
      </p:sp>
      <p:sp>
        <p:nvSpPr>
          <p:cNvPr id="12" name="layer"/>
          <p:cNvSpPr/>
          <p:nvPr/>
        </p:nvSpPr>
        <p:spPr>
          <a:xfrm>
            <a:off x="548640" y="3794760"/>
            <a:ext cx="6583680" cy="1005840"/>
          </a:xfrm>
          <a:prstGeom prst="roundRect">
            <a:avLst>
              <a:gd name="adj" fmla="val 10909"/>
            </a:avLst>
          </a:prstGeom>
          <a:solidFill>
            <a:srgbClr val="0E7C76"/>
          </a:solidFill>
          <a:ln w="12700">
            <a:solidFill>
              <a:srgbClr val="0E7C76"/>
            </a:solidFill>
            <a:prstDash val="solid"/>
          </a:ln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06908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08760" y="39319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508760" y="429768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dashboardService and localDb with CRUD helpers for each entity</a:t>
            </a:r>
            <a:endParaRPr lang="en-US" sz="1200" dirty="0"/>
          </a:p>
        </p:txBody>
      </p:sp>
      <p:sp>
        <p:nvSpPr>
          <p:cNvPr id="16" name="layer"/>
          <p:cNvSpPr/>
          <p:nvPr/>
        </p:nvSpPr>
        <p:spPr>
          <a:xfrm>
            <a:off x="548640" y="4983480"/>
            <a:ext cx="6583680" cy="1005840"/>
          </a:xfrm>
          <a:prstGeom prst="roundRect">
            <a:avLst>
              <a:gd name="adj" fmla="val 10909"/>
            </a:avLst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25780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08760" y="51206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508760" y="548640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localStorage seeded with demo data (prototype only)</a:t>
            </a:r>
            <a:endParaRPr lang="en-US" sz="1200" dirty="0"/>
          </a:p>
        </p:txBody>
      </p:sp>
      <p:sp>
        <p:nvSpPr>
          <p:cNvPr id="20" name="prod-path"/>
          <p:cNvSpPr/>
          <p:nvPr/>
        </p:nvSpPr>
        <p:spPr>
          <a:xfrm>
            <a:off x="7589520" y="1417320"/>
            <a:ext cx="4050792" cy="4572000"/>
          </a:xfrm>
          <a:prstGeom prst="roundRect">
            <a:avLst>
              <a:gd name="adj" fmla="val 2709"/>
            </a:avLst>
          </a:prstGeom>
          <a:solidFill>
            <a:srgbClr val="F1F7F7"/>
          </a:solidFill>
          <a:ln w="9525">
            <a:solidFill>
              <a:srgbClr val="F1F7F7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786384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PRODUCTION PATH</a:t>
            </a:r>
            <a:endParaRPr lang="en-US" sz="1100" dirty="0"/>
          </a:p>
        </p:txBody>
      </p:sp>
      <p:sp>
        <p:nvSpPr>
          <p:cNvPr id="22" name="icon-bg"/>
          <p:cNvSpPr/>
          <p:nvPr/>
        </p:nvSpPr>
        <p:spPr>
          <a:xfrm>
            <a:off x="7863840" y="210312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3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3568" y="2212848"/>
            <a:ext cx="237744" cy="237744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8458200" y="21031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Express REST API</a:t>
            </a:r>
            <a:endParaRPr lang="en-US" sz="1300" dirty="0"/>
          </a:p>
        </p:txBody>
      </p:sp>
      <p:sp>
        <p:nvSpPr>
          <p:cNvPr id="25" name="icon-bg"/>
          <p:cNvSpPr/>
          <p:nvPr/>
        </p:nvSpPr>
        <p:spPr>
          <a:xfrm>
            <a:off x="7863840" y="2852928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6" name="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3568" y="2962656"/>
            <a:ext cx="237744" cy="237744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8458200" y="285292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for residents, logs and finances</a:t>
            </a:r>
            <a:endParaRPr lang="en-US" sz="1300" dirty="0"/>
          </a:p>
        </p:txBody>
      </p:sp>
      <p:sp>
        <p:nvSpPr>
          <p:cNvPr id="28" name="icon-bg"/>
          <p:cNvSpPr/>
          <p:nvPr/>
        </p:nvSpPr>
        <p:spPr>
          <a:xfrm>
            <a:off x="7863840" y="3602736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9" name="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73568" y="3712464"/>
            <a:ext cx="237744" cy="237744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8458200" y="3602736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+ WebSockets for live alerts</a:t>
            </a:r>
            <a:endParaRPr lang="en-US" sz="1300" dirty="0"/>
          </a:p>
        </p:txBody>
      </p:sp>
      <p:sp>
        <p:nvSpPr>
          <p:cNvPr id="31" name="icon-bg"/>
          <p:cNvSpPr/>
          <p:nvPr/>
        </p:nvSpPr>
        <p:spPr>
          <a:xfrm>
            <a:off x="7863840" y="4352544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2" name="icon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73568" y="4462272"/>
            <a:ext cx="237744" cy="237744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8458200" y="435254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login with role-based auth</a:t>
            </a:r>
            <a:endParaRPr lang="en-US" sz="1300" dirty="0"/>
          </a:p>
        </p:txBody>
      </p:sp>
      <p:sp>
        <p:nvSpPr>
          <p:cNvPr id="34" name="icon-bg"/>
          <p:cNvSpPr/>
          <p:nvPr/>
        </p:nvSpPr>
        <p:spPr>
          <a:xfrm>
            <a:off x="7863840" y="5102352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5" name="icon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73568" y="5212080"/>
            <a:ext cx="237744" cy="237744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8458200" y="510235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React UI, mobile-ready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(PROPOSED)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prototype to production</a:t>
            </a:r>
            <a:endParaRPr lang="en-US" sz="3200" dirty="0"/>
          </a:p>
        </p:txBody>
      </p:sp>
      <p:sp>
        <p:nvSpPr>
          <p:cNvPr id="4" name="timeline"/>
          <p:cNvSpPr/>
          <p:nvPr/>
        </p:nvSpPr>
        <p:spPr>
          <a:xfrm>
            <a:off x="1005840" y="2514600"/>
            <a:ext cx="10149840" cy="0"/>
          </a:xfrm>
          <a:prstGeom prst="line">
            <a:avLst/>
          </a:prstGeom>
          <a:noFill/>
          <a:ln w="38100">
            <a:solidFill>
              <a:srgbClr val="D5E3E3"/>
            </a:solidFill>
            <a:prstDash val="solid"/>
          </a:ln>
        </p:spPr>
      </p:sp>
      <p:sp>
        <p:nvSpPr>
          <p:cNvPr id="5" name="icon-bg"/>
          <p:cNvSpPr/>
          <p:nvPr/>
        </p:nvSpPr>
        <p:spPr>
          <a:xfrm>
            <a:off x="1051560" y="2011680"/>
            <a:ext cx="1005840" cy="1005840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2962" y="2253082"/>
            <a:ext cx="523037" cy="52303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1417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98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100" dirty="0"/>
          </a:p>
        </p:txBody>
      </p:sp>
      <p:sp>
        <p:nvSpPr>
          <p:cNvPr id="8" name="card"/>
          <p:cNvSpPr/>
          <p:nvPr/>
        </p:nvSpPr>
        <p:spPr>
          <a:xfrm>
            <a:off x="548640" y="3337560"/>
            <a:ext cx="2011680" cy="1828800"/>
          </a:xfrm>
          <a:prstGeom prst="roundRect">
            <a:avLst>
              <a:gd name="adj" fmla="val 6000"/>
            </a:avLst>
          </a:prstGeom>
          <a:solidFill>
            <a:srgbClr val="E6F4F2"/>
          </a:solidFill>
          <a:ln w="9525">
            <a:solidFill>
              <a:srgbClr val="E6F4F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35204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425196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modules, 4 roles, live role switcher, demo data</a:t>
            </a:r>
            <a:endParaRPr lang="en-US" sz="1200" dirty="0"/>
          </a:p>
        </p:txBody>
      </p:sp>
      <p:sp>
        <p:nvSpPr>
          <p:cNvPr id="11" name="icon-bg"/>
          <p:cNvSpPr/>
          <p:nvPr/>
        </p:nvSpPr>
        <p:spPr>
          <a:xfrm>
            <a:off x="3319272" y="2011680"/>
            <a:ext cx="1005840" cy="1005840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0674" y="2253082"/>
            <a:ext cx="523037" cy="52303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816352" y="1417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14" name="card"/>
          <p:cNvSpPr/>
          <p:nvPr/>
        </p:nvSpPr>
        <p:spPr>
          <a:xfrm>
            <a:off x="2816352" y="3337560"/>
            <a:ext cx="20116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E3E3"/>
            </a:solidFill>
            <a:prstDash val="solid"/>
          </a:ln>
          <a:effectLst>
            <a:outerShdw sx="100000" sy="100000" kx="0" ky="0" algn="bl" rotWithShape="0" blurRad="152400" dist="38100" dir="5400000">
              <a:srgbClr val="0B2135">
                <a:alpha val="18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2999232" y="35204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real login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2999232" y="425196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API, database, OTP login, per-user data</a:t>
            </a:r>
            <a:endParaRPr lang="en-US" sz="1200" dirty="0"/>
          </a:p>
        </p:txBody>
      </p:sp>
      <p:sp>
        <p:nvSpPr>
          <p:cNvPr id="17" name="icon-bg"/>
          <p:cNvSpPr/>
          <p:nvPr/>
        </p:nvSpPr>
        <p:spPr>
          <a:xfrm>
            <a:off x="5586984" y="2011680"/>
            <a:ext cx="1005840" cy="1005840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pic>
        <p:nvPicPr>
          <p:cNvPr id="18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8386" y="2253082"/>
            <a:ext cx="523037" cy="52303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084064" y="1417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100" dirty="0"/>
          </a:p>
        </p:txBody>
      </p:sp>
      <p:sp>
        <p:nvSpPr>
          <p:cNvPr id="20" name="card"/>
          <p:cNvSpPr/>
          <p:nvPr/>
        </p:nvSpPr>
        <p:spPr>
          <a:xfrm>
            <a:off x="5084064" y="3337560"/>
            <a:ext cx="20116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E3E3"/>
            </a:solidFill>
            <a:prstDash val="solid"/>
          </a:ln>
          <a:effectLst>
            <a:outerShdw sx="100000" sy="100000" kx="0" ky="0" algn="bl" rotWithShape="0" blurRad="152400" dist="38100" dir="5400000">
              <a:srgbClr val="0B2135">
                <a:alpha val="18000"/>
              </a:srgbClr>
            </a:outerShdw>
          </a:effectLst>
        </p:spPr>
      </p:sp>
      <p:sp>
        <p:nvSpPr>
          <p:cNvPr id="21" name="Text 16"/>
          <p:cNvSpPr txBox="1"/>
          <p:nvPr/>
        </p:nvSpPr>
        <p:spPr>
          <a:xfrm>
            <a:off x="5266944" y="35204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alerts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5266944" y="425196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alerts for new issues and visitors at the gate</a:t>
            </a:r>
            <a:endParaRPr lang="en-US" sz="1200" dirty="0"/>
          </a:p>
        </p:txBody>
      </p:sp>
      <p:sp>
        <p:nvSpPr>
          <p:cNvPr id="23" name="icon-bg"/>
          <p:cNvSpPr/>
          <p:nvPr/>
        </p:nvSpPr>
        <p:spPr>
          <a:xfrm>
            <a:off x="7854696" y="2011680"/>
            <a:ext cx="1005840" cy="1005840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pic>
        <p:nvPicPr>
          <p:cNvPr id="24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098" y="2253082"/>
            <a:ext cx="523037" cy="52303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351776" y="1417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100" dirty="0"/>
          </a:p>
        </p:txBody>
      </p:sp>
      <p:sp>
        <p:nvSpPr>
          <p:cNvPr id="26" name="card"/>
          <p:cNvSpPr/>
          <p:nvPr/>
        </p:nvSpPr>
        <p:spPr>
          <a:xfrm>
            <a:off x="7351776" y="3337560"/>
            <a:ext cx="20116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E3E3"/>
            </a:solidFill>
            <a:prstDash val="solid"/>
          </a:ln>
          <a:effectLst>
            <a:outerShdw sx="100000" sy="100000" kx="0" ky="0" algn="bl" rotWithShape="0" blurRad="152400" dist="38100" dir="5400000">
              <a:srgbClr val="0B2135">
                <a:alpha val="18000"/>
              </a:srgbClr>
            </a:outerShdw>
          </a:effectLst>
        </p:spPr>
      </p:sp>
      <p:sp>
        <p:nvSpPr>
          <p:cNvPr id="27" name="Text 21"/>
          <p:cNvSpPr txBox="1"/>
          <p:nvPr/>
        </p:nvSpPr>
        <p:spPr>
          <a:xfrm>
            <a:off x="7534656" y="35204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payments</a:t>
            </a:r>
            <a:endParaRPr lang="en-US" sz="1500" dirty="0"/>
          </a:p>
        </p:txBody>
      </p:sp>
      <p:sp>
        <p:nvSpPr>
          <p:cNvPr id="28" name="Text 22"/>
          <p:cNvSpPr txBox="1"/>
          <p:nvPr/>
        </p:nvSpPr>
        <p:spPr>
          <a:xfrm>
            <a:off x="7534656" y="425196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/ gateway payments with automatic receipts</a:t>
            </a:r>
            <a:endParaRPr lang="en-US" sz="1200" dirty="0"/>
          </a:p>
        </p:txBody>
      </p:sp>
      <p:sp>
        <p:nvSpPr>
          <p:cNvPr id="29" name="icon-bg"/>
          <p:cNvSpPr/>
          <p:nvPr/>
        </p:nvSpPr>
        <p:spPr>
          <a:xfrm>
            <a:off x="10122408" y="2011680"/>
            <a:ext cx="1005840" cy="1005840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pic>
        <p:nvPicPr>
          <p:cNvPr id="30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3810" y="2253082"/>
            <a:ext cx="523037" cy="523037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619488" y="1417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E7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100" dirty="0"/>
          </a:p>
        </p:txBody>
      </p:sp>
      <p:sp>
        <p:nvSpPr>
          <p:cNvPr id="32" name="card"/>
          <p:cNvSpPr/>
          <p:nvPr/>
        </p:nvSpPr>
        <p:spPr>
          <a:xfrm>
            <a:off x="9619488" y="3337560"/>
            <a:ext cx="20116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E3E3"/>
            </a:solidFill>
            <a:prstDash val="solid"/>
          </a:ln>
          <a:effectLst>
            <a:outerShdw sx="100000" sy="100000" kx="0" ky="0" algn="bl" rotWithShape="0" blurRad="152400" dist="38100" dir="5400000">
              <a:srgbClr val="0B2135">
                <a:alpha val="18000"/>
              </a:srgbClr>
            </a:outerShdw>
          </a:effectLst>
        </p:spPr>
      </p:sp>
      <p:sp>
        <p:nvSpPr>
          <p:cNvPr id="33" name="Text 26"/>
          <p:cNvSpPr txBox="1"/>
          <p:nvPr/>
        </p:nvSpPr>
        <p:spPr>
          <a:xfrm>
            <a:off x="9802368" y="35204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apps</a:t>
            </a:r>
            <a:endParaRPr lang="en-US" sz="1500" dirty="0"/>
          </a:p>
        </p:txBody>
      </p:sp>
      <p:sp>
        <p:nvSpPr>
          <p:cNvPr id="34" name="Text 27"/>
          <p:cNvSpPr txBox="1"/>
          <p:nvPr/>
        </p:nvSpPr>
        <p:spPr>
          <a:xfrm>
            <a:off x="9802368" y="425196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 and guard apps, live CCTV feed links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panel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</p:sp>
      <p:pic>
        <p:nvPicPr>
          <p:cNvPr id="3" name="hero" descr="img/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691640"/>
            <a:ext cx="5440680" cy="47605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173736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Transparency builds trust.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56616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5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residents, volunteers, guards and admins all see the same facts, communities run safer and fairer.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120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cureComm">
  <a:themeElements>
    <a:clrScheme name="SecureComm">
      <a:dk1>
        <a:srgbClr val="0B2135"/>
      </a:dk1>
      <a:lt1>
        <a:srgbClr val="FFFFFF"/>
      </a:lt1>
      <a:dk2>
        <a:srgbClr val="16384F"/>
      </a:dk2>
      <a:lt2>
        <a:srgbClr val="F1F7F7"/>
      </a:lt2>
      <a:accent1>
        <a:srgbClr val="13A89E"/>
      </a:accent1>
      <a:accent2>
        <a:srgbClr val="F4B942"/>
      </a:accent2>
      <a:accent3>
        <a:srgbClr val="0E7C76"/>
      </a:accent3>
      <a:accent4>
        <a:srgbClr val="F0605D"/>
      </a:accent4>
      <a:accent5>
        <a:srgbClr val="5B8DEF"/>
      </a:accent5>
      <a:accent6>
        <a:srgbClr val="7FE0D3"/>
      </a:accent6>
      <a:hlink>
        <a:srgbClr val="13A89E"/>
      </a:hlink>
      <a:folHlink>
        <a:srgbClr val="0E7C76"/>
      </a:folHlink>
    </a:clrScheme>
    <a:fontScheme name="SecureComm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GWC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SecureComm — Transparent Community Management</dc:title>
  <dc:subject>PptxGenJS Presentation</dc:subject>
  <dc:creator>Sudeep</dc:creator>
  <cp:lastModifiedBy>Sudeep</cp:lastModifiedBy>
  <cp:revision>1</cp:revision>
  <dcterms:created xsi:type="dcterms:W3CDTF">2026-10-02T09:46:19Z</dcterms:created>
  <dcterms:modified xsi:type="dcterms:W3CDTF">2026-10-02T09:46:19Z</dcterms:modified>
</cp:coreProperties>
</file>